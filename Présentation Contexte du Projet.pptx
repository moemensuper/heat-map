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6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52"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75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57225" y="533400"/>
            <a:ext cx="15841980" cy="476101"/>
          </a:xfrm>
          <a:prstGeom prst="rect">
            <a:avLst/>
          </a:prstGeom>
          <a:noFill/>
          <a:ln/>
        </p:spPr>
        <p:txBody>
          <a:bodyPr vert="horz" wrap="square" lIns="0" tIns="0" rIns="0" bIns="0" rtlCol="0" anchor="ctr"/>
          <a:lstStyle/>
          <a:p>
            <a:pPr marL="0" indent="0">
              <a:lnSpc>
                <a:spcPts val="3749"/>
              </a:lnSpc>
              <a:buNone/>
            </a:pPr>
            <a:r>
              <a:rPr lang="en-US" sz="3150" b="1" dirty="0">
                <a:solidFill>
                  <a:srgbClr val="162046"/>
                </a:solidFill>
                <a:latin typeface="Montserrat Extra" pitchFamily="34" charset="0"/>
                <a:ea typeface="Montserrat Extra" pitchFamily="34" charset="-122"/>
                <a:cs typeface="Montserrat Extra" pitchFamily="34" charset="-120"/>
              </a:rPr>
              <a:t>Présentation &amp; Contexte du Projet</a:t>
            </a:r>
            <a:endParaRPr lang="en-US" sz="3150" dirty="0"/>
          </a:p>
        </p:txBody>
      </p:sp>
      <p:sp>
        <p:nvSpPr>
          <p:cNvPr id="4" name="Text 1"/>
          <p:cNvSpPr/>
          <p:nvPr/>
        </p:nvSpPr>
        <p:spPr>
          <a:xfrm>
            <a:off x="1590675" y="2009775"/>
            <a:ext cx="1843980" cy="544116"/>
          </a:xfrm>
          <a:prstGeom prst="rect">
            <a:avLst/>
          </a:prstGeom>
          <a:noFill/>
          <a:ln/>
        </p:spPr>
        <p:txBody>
          <a:bodyPr vert="horz" wrap="square" lIns="0" tIns="0" rIns="0" bIns="0" rtlCol="0" anchor="ctr"/>
          <a:lstStyle/>
          <a:p>
            <a:pPr marL="0" indent="0">
              <a:lnSpc>
                <a:spcPts val="2142"/>
              </a:lnSpc>
              <a:buNone/>
            </a:pPr>
            <a:r>
              <a:rPr lang="en-US" sz="1800" b="1" dirty="0">
                <a:solidFill>
                  <a:srgbClr val="162046"/>
                </a:solidFill>
                <a:latin typeface="Montserrat" pitchFamily="34" charset="0"/>
                <a:ea typeface="Montserrat" pitchFamily="34" charset="-122"/>
                <a:cs typeface="Montserrat" pitchFamily="34" charset="-120"/>
              </a:rPr>
              <a:t>Notre équipe
GLSLI2</a:t>
            </a:r>
            <a:endParaRPr lang="en-US" sz="1800" dirty="0"/>
          </a:p>
        </p:txBody>
      </p:sp>
      <p:sp>
        <p:nvSpPr>
          <p:cNvPr id="5" name="Text 2"/>
          <p:cNvSpPr/>
          <p:nvPr/>
        </p:nvSpPr>
        <p:spPr>
          <a:xfrm>
            <a:off x="5343525" y="2009775"/>
            <a:ext cx="2200275" cy="521494"/>
          </a:xfrm>
          <a:prstGeom prst="rect">
            <a:avLst/>
          </a:prstGeom>
          <a:noFill/>
          <a:ln/>
        </p:spPr>
        <p:txBody>
          <a:bodyPr vert="horz" wrap="square" lIns="0" tIns="0" rIns="0" bIns="0" rtlCol="0" anchor="ctr"/>
          <a:lstStyle/>
          <a:p>
            <a:pPr marL="0" indent="0">
              <a:lnSpc>
                <a:spcPts val="2053"/>
              </a:lnSpc>
              <a:buNone/>
            </a:pPr>
            <a:r>
              <a:rPr lang="en-US" sz="1725" b="1" dirty="0">
                <a:solidFill>
                  <a:srgbClr val="162046"/>
                </a:solidFill>
                <a:latin typeface="Montserrat" pitchFamily="34" charset="0"/>
                <a:ea typeface="Montserrat" pitchFamily="34" charset="-122"/>
                <a:cs typeface="Montserrat" pitchFamily="34" charset="-120"/>
              </a:rPr>
              <a:t>La naissance de
Heatmap</a:t>
            </a:r>
            <a:endParaRPr lang="en-US" sz="1725" dirty="0"/>
          </a:p>
        </p:txBody>
      </p:sp>
      <p:sp>
        <p:nvSpPr>
          <p:cNvPr id="6" name="Text 3"/>
          <p:cNvSpPr/>
          <p:nvPr/>
        </p:nvSpPr>
        <p:spPr>
          <a:xfrm>
            <a:off x="9144000" y="2009775"/>
            <a:ext cx="2116336" cy="521494"/>
          </a:xfrm>
          <a:prstGeom prst="rect">
            <a:avLst/>
          </a:prstGeom>
          <a:noFill/>
          <a:ln/>
        </p:spPr>
        <p:txBody>
          <a:bodyPr vert="horz" wrap="square" lIns="0" tIns="0" rIns="0" bIns="0" rtlCol="0" anchor="ctr"/>
          <a:lstStyle/>
          <a:p>
            <a:pPr marL="0" indent="0">
              <a:lnSpc>
                <a:spcPts val="2053"/>
              </a:lnSpc>
              <a:buNone/>
            </a:pPr>
            <a:r>
              <a:rPr lang="en-US" sz="1725" b="1" dirty="0">
                <a:solidFill>
                  <a:srgbClr val="162046"/>
                </a:solidFill>
                <a:latin typeface="Montserrat" pitchFamily="34" charset="0"/>
                <a:ea typeface="Montserrat" pitchFamily="34" charset="-122"/>
                <a:cs typeface="Montserrat" pitchFamily="34" charset="-120"/>
              </a:rPr>
              <a:t>Notre approche
de gamification</a:t>
            </a:r>
            <a:endParaRPr lang="en-US" sz="1725" dirty="0"/>
          </a:p>
        </p:txBody>
      </p:sp>
      <p:sp>
        <p:nvSpPr>
          <p:cNvPr id="7" name="Text 4"/>
          <p:cNvSpPr/>
          <p:nvPr/>
        </p:nvSpPr>
        <p:spPr>
          <a:xfrm>
            <a:off x="9144000" y="4514850"/>
            <a:ext cx="3017520" cy="249436"/>
          </a:xfrm>
          <a:prstGeom prst="rect">
            <a:avLst/>
          </a:prstGeom>
          <a:noFill/>
          <a:ln/>
        </p:spPr>
        <p:txBody>
          <a:bodyPr vert="horz" wrap="square" lIns="0" tIns="0" rIns="0" bIns="0" rtlCol="0" anchor="ctr"/>
          <a:lstStyle/>
          <a:p>
            <a:pPr marL="0" indent="0">
              <a:lnSpc>
                <a:spcPts val="1963"/>
              </a:lnSpc>
              <a:buNone/>
            </a:pPr>
            <a:r>
              <a:rPr lang="en-US" sz="1650" b="1" dirty="0">
                <a:solidFill>
                  <a:srgbClr val="162046"/>
                </a:solidFill>
                <a:latin typeface="Montserrat" pitchFamily="34" charset="0"/>
                <a:ea typeface="Montserrat" pitchFamily="34" charset="-122"/>
                <a:cs typeface="Montserrat" pitchFamily="34" charset="-120"/>
              </a:rPr>
              <a:t>Notre vision</a:t>
            </a:r>
            <a:endParaRPr lang="en-US" sz="1650" dirty="0"/>
          </a:p>
        </p:txBody>
      </p:sp>
      <p:sp>
        <p:nvSpPr>
          <p:cNvPr id="8" name="Text 5"/>
          <p:cNvSpPr/>
          <p:nvPr/>
        </p:nvSpPr>
        <p:spPr>
          <a:xfrm>
            <a:off x="895350" y="5029200"/>
            <a:ext cx="7955280" cy="272058"/>
          </a:xfrm>
          <a:prstGeom prst="rect">
            <a:avLst/>
          </a:prstGeom>
          <a:noFill/>
          <a:ln/>
        </p:spPr>
        <p:txBody>
          <a:bodyPr vert="horz" wrap="square" lIns="0" tIns="0" rIns="0" bIns="0" rtlCol="0" anchor="ctr"/>
          <a:lstStyle/>
          <a:p>
            <a:pPr marL="0" indent="0">
              <a:lnSpc>
                <a:spcPts val="2142"/>
              </a:lnSpc>
              <a:buNone/>
            </a:pPr>
            <a:r>
              <a:rPr lang="en-US" sz="1800" b="1" dirty="0">
                <a:solidFill>
                  <a:srgbClr val="162046"/>
                </a:solidFill>
                <a:latin typeface="Montserrat" pitchFamily="34" charset="0"/>
                <a:ea typeface="Montserrat" pitchFamily="34" charset="-122"/>
                <a:cs typeface="Montserrat" pitchFamily="34" charset="-120"/>
              </a:rPr>
              <a:t>Défis techniques autodidactes</a:t>
            </a:r>
            <a:endParaRPr lang="en-US" sz="1800" dirty="0"/>
          </a:p>
        </p:txBody>
      </p:sp>
      <p:sp>
        <p:nvSpPr>
          <p:cNvPr id="9" name="Text 6"/>
          <p:cNvSpPr/>
          <p:nvPr/>
        </p:nvSpPr>
        <p:spPr>
          <a:xfrm>
            <a:off x="857250" y="2800350"/>
            <a:ext cx="3132683" cy="737146"/>
          </a:xfrm>
          <a:prstGeom prst="rect">
            <a:avLst/>
          </a:prstGeom>
          <a:noFill/>
          <a:ln/>
        </p:spPr>
        <p:txBody>
          <a:bodyPr vert="horz" wrap="square" lIns="0" tIns="0" rIns="0" bIns="0" rtlCol="0" anchor="ctr"/>
          <a:lstStyle/>
          <a:p>
            <a:pPr marL="0" indent="0">
              <a:lnSpc>
                <a:spcPts val="1935"/>
              </a:lnSpc>
              <a:buNone/>
            </a:pPr>
            <a:r>
              <a:rPr lang="en-US" sz="1500" dirty="0">
                <a:solidFill>
                  <a:srgbClr val="162046"/>
                </a:solidFill>
                <a:latin typeface="Montserrat" pitchFamily="34" charset="0"/>
                <a:ea typeface="Montserrat" pitchFamily="34" charset="-122"/>
                <a:cs typeface="Montserrat" pitchFamily="34" charset="-120"/>
              </a:rPr>
              <a:t>Groupe de 5 étudiants
passionnés par le sport et la
technologie</a:t>
            </a:r>
            <a:endParaRPr lang="en-US" sz="1500" dirty="0"/>
          </a:p>
        </p:txBody>
      </p:sp>
      <p:sp>
        <p:nvSpPr>
          <p:cNvPr id="10" name="Text 7"/>
          <p:cNvSpPr/>
          <p:nvPr/>
        </p:nvSpPr>
        <p:spPr>
          <a:xfrm>
            <a:off x="4619625" y="2800350"/>
            <a:ext cx="3405188" cy="737146"/>
          </a:xfrm>
          <a:prstGeom prst="rect">
            <a:avLst/>
          </a:prstGeom>
          <a:noFill/>
          <a:ln/>
        </p:spPr>
        <p:txBody>
          <a:bodyPr vert="horz" wrap="square" lIns="0" tIns="0" rIns="0" bIns="0" rtlCol="0" anchor="ctr"/>
          <a:lstStyle/>
          <a:p>
            <a:pPr marL="0" indent="0">
              <a:lnSpc>
                <a:spcPts val="1935"/>
              </a:lnSpc>
              <a:buNone/>
            </a:pPr>
            <a:r>
              <a:rPr lang="en-US" sz="1500" dirty="0">
                <a:solidFill>
                  <a:srgbClr val="162046"/>
                </a:solidFill>
                <a:latin typeface="Montserrat" pitchFamily="34" charset="0"/>
                <a:ea typeface="Montserrat" pitchFamily="34" charset="-122"/>
                <a:cs typeface="Montserrat" pitchFamily="34" charset="-120"/>
              </a:rPr>
              <a:t>Une vision innovante née de
notre passion commune pour le
sport et les jeux</a:t>
            </a:r>
            <a:endParaRPr lang="en-US" sz="1500" dirty="0"/>
          </a:p>
        </p:txBody>
      </p:sp>
      <p:sp>
        <p:nvSpPr>
          <p:cNvPr id="11" name="Text 8"/>
          <p:cNvSpPr/>
          <p:nvPr/>
        </p:nvSpPr>
        <p:spPr>
          <a:xfrm>
            <a:off x="8362950" y="2800350"/>
            <a:ext cx="3426023" cy="453330"/>
          </a:xfrm>
          <a:prstGeom prst="rect">
            <a:avLst/>
          </a:prstGeom>
          <a:noFill/>
          <a:ln/>
        </p:spPr>
        <p:txBody>
          <a:bodyPr vert="horz" wrap="square" lIns="0" tIns="0" rIns="0" bIns="0" rtlCol="0" anchor="ctr"/>
          <a:lstStyle/>
          <a:p>
            <a:pPr marL="0" indent="0">
              <a:lnSpc>
                <a:spcPts val="1785"/>
              </a:lnSpc>
              <a:buNone/>
            </a:pPr>
            <a:r>
              <a:rPr lang="en-US" sz="1500" dirty="0">
                <a:solidFill>
                  <a:srgbClr val="162046"/>
                </a:solidFill>
                <a:latin typeface="Montserrat" pitchFamily="34" charset="0"/>
                <a:ea typeface="Montserrat" pitchFamily="34" charset="-122"/>
                <a:cs typeface="Montserrat" pitchFamily="34" charset="-120"/>
              </a:rPr>
              <a:t>Transformer l'effort physique
en conquête territoriale visuelle</a:t>
            </a:r>
            <a:endParaRPr lang="en-US" sz="1500" dirty="0"/>
          </a:p>
        </p:txBody>
      </p:sp>
      <p:sp>
        <p:nvSpPr>
          <p:cNvPr id="12" name="Text 9"/>
          <p:cNvSpPr/>
          <p:nvPr/>
        </p:nvSpPr>
        <p:spPr>
          <a:xfrm>
            <a:off x="8362950" y="5162550"/>
            <a:ext cx="2546003" cy="737146"/>
          </a:xfrm>
          <a:prstGeom prst="rect">
            <a:avLst/>
          </a:prstGeom>
          <a:noFill/>
          <a:ln/>
        </p:spPr>
        <p:txBody>
          <a:bodyPr vert="horz" wrap="square" lIns="0" tIns="0" rIns="0" bIns="0" rtlCol="0" anchor="ctr"/>
          <a:lstStyle/>
          <a:p>
            <a:pPr marL="0" indent="0">
              <a:lnSpc>
                <a:spcPts val="1935"/>
              </a:lnSpc>
              <a:buNone/>
            </a:pPr>
            <a:r>
              <a:rPr lang="en-US" sz="1500" dirty="0">
                <a:solidFill>
                  <a:srgbClr val="162046"/>
                </a:solidFill>
                <a:latin typeface="Montserrat" pitchFamily="34" charset="0"/>
                <a:ea typeface="Montserrat" pitchFamily="34" charset="-122"/>
                <a:cs typeface="Montserrat" pitchFamily="34" charset="-120"/>
              </a:rPr>
              <a:t>Créer une communauté
sportive motivée par la
visualisation territoriale</a:t>
            </a:r>
            <a:endParaRPr lang="en-US" sz="1500" dirty="0"/>
          </a:p>
        </p:txBody>
      </p:sp>
      <p:sp>
        <p:nvSpPr>
          <p:cNvPr id="13" name="Text 10"/>
          <p:cNvSpPr/>
          <p:nvPr/>
        </p:nvSpPr>
        <p:spPr>
          <a:xfrm>
            <a:off x="895350" y="5410200"/>
            <a:ext cx="5469136" cy="475952"/>
          </a:xfrm>
          <a:prstGeom prst="rect">
            <a:avLst/>
          </a:prstGeom>
          <a:noFill/>
          <a:ln/>
        </p:spPr>
        <p:txBody>
          <a:bodyPr vert="horz" wrap="square" lIns="0" tIns="0" rIns="0" bIns="0" rtlCol="0" anchor="ctr"/>
          <a:lstStyle/>
          <a:p>
            <a:pPr marL="0" indent="0">
              <a:lnSpc>
                <a:spcPts val="1874"/>
              </a:lnSpc>
              <a:buNone/>
            </a:pPr>
            <a:r>
              <a:rPr lang="en-US" sz="1575" dirty="0">
                <a:solidFill>
                  <a:srgbClr val="162046"/>
                </a:solidFill>
                <a:latin typeface="Montserrat" pitchFamily="34" charset="0"/>
                <a:ea typeface="Montserrat" pitchFamily="34" charset="-122"/>
                <a:cs typeface="Montserrat" pitchFamily="34" charset="-120"/>
              </a:rPr>
              <a:t>Apprentissage autonome du GPS, cartographie et
développement mobile</a:t>
            </a:r>
            <a:endParaRPr lang="en-US" sz="15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6717655" y="5184577"/>
            <a:ext cx="463153" cy="486817"/>
          </a:xfrm>
          <a:prstGeom prst="rect">
            <a:avLst/>
          </a:prstGeom>
        </p:spPr>
      </p:pic>
      <p:pic>
        <p:nvPicPr>
          <p:cNvPr id="4" name="Image 2" descr="preencoded.png"/>
          <p:cNvPicPr>
            <a:picLocks noChangeAspect="1"/>
          </p:cNvPicPr>
          <p:nvPr/>
        </p:nvPicPr>
        <p:blipFill>
          <a:blip r:embed="rId5"/>
          <a:stretch>
            <a:fillRect/>
          </a:stretch>
        </p:blipFill>
        <p:spPr>
          <a:xfrm>
            <a:off x="6705600" y="2509986"/>
            <a:ext cx="804565" cy="720030"/>
          </a:xfrm>
          <a:prstGeom prst="rect">
            <a:avLst/>
          </a:prstGeom>
        </p:spPr>
      </p:pic>
      <p:pic>
        <p:nvPicPr>
          <p:cNvPr id="5" name="Image 3" descr="preencoded.png"/>
          <p:cNvPicPr>
            <a:picLocks noChangeAspect="1"/>
          </p:cNvPicPr>
          <p:nvPr/>
        </p:nvPicPr>
        <p:blipFill>
          <a:blip r:embed="rId6"/>
          <a:stretch>
            <a:fillRect/>
          </a:stretch>
        </p:blipFill>
        <p:spPr>
          <a:xfrm>
            <a:off x="1133773" y="5177730"/>
            <a:ext cx="438894" cy="528042"/>
          </a:xfrm>
          <a:prstGeom prst="rect">
            <a:avLst/>
          </a:prstGeom>
        </p:spPr>
      </p:pic>
      <p:pic>
        <p:nvPicPr>
          <p:cNvPr id="6" name="Image 4" descr="preencoded.png"/>
          <p:cNvPicPr>
            <a:picLocks noChangeAspect="1"/>
          </p:cNvPicPr>
          <p:nvPr/>
        </p:nvPicPr>
        <p:blipFill>
          <a:blip r:embed="rId7"/>
          <a:stretch>
            <a:fillRect/>
          </a:stretch>
        </p:blipFill>
        <p:spPr>
          <a:xfrm>
            <a:off x="4962079" y="2516832"/>
            <a:ext cx="560784" cy="617190"/>
          </a:xfrm>
          <a:prstGeom prst="rect">
            <a:avLst/>
          </a:prstGeom>
        </p:spPr>
      </p:pic>
      <p:pic>
        <p:nvPicPr>
          <p:cNvPr id="7" name="Image 5" descr="preencoded.png"/>
          <p:cNvPicPr>
            <a:picLocks noChangeAspect="1"/>
          </p:cNvPicPr>
          <p:nvPr/>
        </p:nvPicPr>
        <p:blipFill>
          <a:blip r:embed="rId8"/>
          <a:stretch>
            <a:fillRect/>
          </a:stretch>
        </p:blipFill>
        <p:spPr>
          <a:xfrm>
            <a:off x="1133773" y="2434530"/>
            <a:ext cx="828973" cy="809179"/>
          </a:xfrm>
          <a:prstGeom prst="rect">
            <a:avLst/>
          </a:prstGeom>
        </p:spPr>
      </p:pic>
      <p:sp>
        <p:nvSpPr>
          <p:cNvPr id="8" name="Text 0"/>
          <p:cNvSpPr/>
          <p:nvPr/>
        </p:nvSpPr>
        <p:spPr>
          <a:xfrm>
            <a:off x="2073116" y="647700"/>
            <a:ext cx="8469630" cy="705743"/>
          </a:xfrm>
          <a:prstGeom prst="rect">
            <a:avLst/>
          </a:prstGeom>
          <a:noFill/>
          <a:ln/>
        </p:spPr>
        <p:txBody>
          <a:bodyPr vert="horz" wrap="square" lIns="0" tIns="0" rIns="0" bIns="0" rtlCol="0" anchor="ctr"/>
          <a:lstStyle/>
          <a:p>
            <a:pPr marL="0" indent="0" algn="ctr">
              <a:lnSpc>
                <a:spcPts val="5558"/>
              </a:lnSpc>
              <a:buNone/>
            </a:pPr>
            <a:r>
              <a:rPr lang="en-US" sz="4275" b="1" dirty="0">
                <a:solidFill>
                  <a:srgbClr val="162046"/>
                </a:solidFill>
                <a:latin typeface="Red Hat Display Variable" pitchFamily="34" charset="0"/>
                <a:ea typeface="Red Hat Display Variable" pitchFamily="34" charset="-122"/>
                <a:cs typeface="Red Hat Display Variable" pitchFamily="34" charset="-120"/>
              </a:rPr>
              <a:t>Problématique</a:t>
            </a:r>
            <a:endParaRPr lang="en-US" sz="4275" dirty="0"/>
          </a:p>
        </p:txBody>
      </p:sp>
      <p:sp>
        <p:nvSpPr>
          <p:cNvPr id="9" name="Text 1"/>
          <p:cNvSpPr/>
          <p:nvPr/>
        </p:nvSpPr>
        <p:spPr>
          <a:xfrm>
            <a:off x="2209800" y="2514600"/>
            <a:ext cx="3038475" cy="682823"/>
          </a:xfrm>
          <a:prstGeom prst="rect">
            <a:avLst/>
          </a:prstGeom>
          <a:noFill/>
          <a:ln/>
        </p:spPr>
        <p:txBody>
          <a:bodyPr vert="horz" wrap="square" lIns="0" tIns="0" rIns="0" bIns="0" rtlCol="0" anchor="ctr"/>
          <a:lstStyle/>
          <a:p>
            <a:pPr marL="0" indent="0">
              <a:lnSpc>
                <a:spcPts val="2688"/>
              </a:lnSpc>
              <a:buNone/>
            </a:pPr>
            <a:r>
              <a:rPr lang="en-US" sz="2100" dirty="0">
                <a:solidFill>
                  <a:srgbClr val="162046"/>
                </a:solidFill>
                <a:latin typeface="Inter" pitchFamily="34" charset="0"/>
                <a:ea typeface="Inter" pitchFamily="34" charset="-122"/>
                <a:cs typeface="Inter" pitchFamily="34" charset="-120"/>
              </a:rPr>
              <a:t>Données abstraites
et motivation</a:t>
            </a:r>
            <a:endParaRPr lang="en-US" sz="2100" dirty="0"/>
          </a:p>
        </p:txBody>
      </p:sp>
      <p:sp>
        <p:nvSpPr>
          <p:cNvPr id="10" name="Text 2"/>
          <p:cNvSpPr/>
          <p:nvPr/>
        </p:nvSpPr>
        <p:spPr>
          <a:xfrm>
            <a:off x="7686675" y="2514600"/>
            <a:ext cx="2944118" cy="682823"/>
          </a:xfrm>
          <a:prstGeom prst="rect">
            <a:avLst/>
          </a:prstGeom>
          <a:noFill/>
          <a:ln/>
        </p:spPr>
        <p:txBody>
          <a:bodyPr vert="horz" wrap="square" lIns="0" tIns="0" rIns="0" bIns="0" rtlCol="0" anchor="ctr"/>
          <a:lstStyle/>
          <a:p>
            <a:pPr marL="0" indent="0">
              <a:lnSpc>
                <a:spcPts val="2688"/>
              </a:lnSpc>
              <a:buNone/>
            </a:pPr>
            <a:r>
              <a:rPr lang="en-US" sz="2100" dirty="0">
                <a:solidFill>
                  <a:srgbClr val="162046"/>
                </a:solidFill>
                <a:latin typeface="Inter" pitchFamily="34" charset="0"/>
                <a:ea typeface="Inter" pitchFamily="34" charset="-122"/>
                <a:cs typeface="Inter" pitchFamily="34" charset="-120"/>
              </a:rPr>
              <a:t>Engagement limité
et motivation</a:t>
            </a:r>
            <a:endParaRPr lang="en-US" sz="2100" dirty="0"/>
          </a:p>
        </p:txBody>
      </p:sp>
      <p:sp>
        <p:nvSpPr>
          <p:cNvPr id="11" name="Text 3"/>
          <p:cNvSpPr/>
          <p:nvPr/>
        </p:nvSpPr>
        <p:spPr>
          <a:xfrm>
            <a:off x="-2441749" y="1371600"/>
            <a:ext cx="17830800" cy="317748"/>
          </a:xfrm>
          <a:prstGeom prst="rect">
            <a:avLst/>
          </a:prstGeom>
          <a:noFill/>
          <a:ln/>
        </p:spPr>
        <p:txBody>
          <a:bodyPr vert="horz" wrap="square" lIns="0" tIns="0" rIns="0" bIns="0" rtlCol="0" anchor="ctr"/>
          <a:lstStyle/>
          <a:p>
            <a:pPr marL="0" indent="0" algn="ctr">
              <a:lnSpc>
                <a:spcPts val="2502"/>
              </a:lnSpc>
              <a:buNone/>
            </a:pPr>
            <a:r>
              <a:rPr lang="en-US" sz="1800" dirty="0">
                <a:solidFill>
                  <a:srgbClr val="162046"/>
                </a:solidFill>
                <a:latin typeface="Inter" pitchFamily="34" charset="0"/>
                <a:ea typeface="Inter" pitchFamily="34" charset="-122"/>
                <a:cs typeface="Inter" pitchFamily="34" charset="-120"/>
              </a:rPr>
              <a:t>Données abstraites, absence de lien spatial et engagement limité.</a:t>
            </a:r>
            <a:endParaRPr lang="en-US" sz="1800" dirty="0"/>
          </a:p>
        </p:txBody>
      </p:sp>
      <p:sp>
        <p:nvSpPr>
          <p:cNvPr id="12" name="Text 4"/>
          <p:cNvSpPr/>
          <p:nvPr/>
        </p:nvSpPr>
        <p:spPr>
          <a:xfrm>
            <a:off x="1143000" y="3476625"/>
            <a:ext cx="4882455" cy="1157883"/>
          </a:xfrm>
          <a:prstGeom prst="rect">
            <a:avLst/>
          </a:prstGeom>
          <a:noFill/>
          <a:ln/>
        </p:spPr>
        <p:txBody>
          <a:bodyPr vert="horz" wrap="square" lIns="0" tIns="0" rIns="0" bIns="0" rtlCol="0" anchor="ctr"/>
          <a:lstStyle/>
          <a:p>
            <a:pPr marL="0" indent="0">
              <a:lnSpc>
                <a:spcPts val="1824"/>
              </a:lnSpc>
              <a:buNone/>
            </a:pPr>
            <a:r>
              <a:rPr lang="en-US" sz="1425" dirty="0">
                <a:solidFill>
                  <a:srgbClr val="000000"/>
                </a:solidFill>
                <a:latin typeface="Inter" pitchFamily="34" charset="0"/>
                <a:ea typeface="Inter" pitchFamily="34" charset="-122"/>
                <a:cs typeface="Inter" pitchFamily="34" charset="-120"/>
              </a:rPr>
              <a:t>Les applications actuelles présentent des
métriques numériques qui manquent d'impact
visuel concret. L'utilisateur ne perçoit pas la
relation entre son effort physique et l'espace
réellement parcouru.</a:t>
            </a:r>
            <a:endParaRPr lang="en-US" sz="1425" dirty="0"/>
          </a:p>
        </p:txBody>
      </p:sp>
      <p:sp>
        <p:nvSpPr>
          <p:cNvPr id="13" name="Text 5"/>
          <p:cNvSpPr/>
          <p:nvPr/>
        </p:nvSpPr>
        <p:spPr>
          <a:xfrm>
            <a:off x="1714500" y="5048250"/>
            <a:ext cx="4389983" cy="716607"/>
          </a:xfrm>
          <a:prstGeom prst="rect">
            <a:avLst/>
          </a:prstGeom>
          <a:noFill/>
          <a:ln/>
        </p:spPr>
        <p:txBody>
          <a:bodyPr vert="horz" wrap="square" lIns="0" tIns="0" rIns="0" bIns="0" rtlCol="0" anchor="ctr"/>
          <a:lstStyle/>
          <a:p>
            <a:pPr marL="0" indent="0">
              <a:lnSpc>
                <a:spcPts val="1881"/>
              </a:lnSpc>
              <a:buNone/>
            </a:pPr>
            <a:r>
              <a:rPr lang="en-US" sz="1425" dirty="0">
                <a:solidFill>
                  <a:srgbClr val="000000"/>
                </a:solidFill>
                <a:latin typeface="Inter" pitchFamily="34" charset="0"/>
                <a:ea typeface="Inter" pitchFamily="34" charset="-122"/>
                <a:cs typeface="Inter" pitchFamily="34" charset="-120"/>
              </a:rPr>
              <a:t>Absence de lien spatial : L'abstraction des
données entraîne une perte d'intérêt
progressive.</a:t>
            </a:r>
            <a:endParaRPr lang="en-US" sz="1425" dirty="0"/>
          </a:p>
        </p:txBody>
      </p:sp>
      <p:sp>
        <p:nvSpPr>
          <p:cNvPr id="14" name="Text 6"/>
          <p:cNvSpPr/>
          <p:nvPr/>
        </p:nvSpPr>
        <p:spPr>
          <a:xfrm>
            <a:off x="6753225" y="3476625"/>
            <a:ext cx="4903440" cy="1157883"/>
          </a:xfrm>
          <a:prstGeom prst="rect">
            <a:avLst/>
          </a:prstGeom>
          <a:noFill/>
          <a:ln/>
        </p:spPr>
        <p:txBody>
          <a:bodyPr vert="horz" wrap="square" lIns="0" tIns="0" rIns="0" bIns="0" rtlCol="0" anchor="ctr"/>
          <a:lstStyle/>
          <a:p>
            <a:pPr marL="0" indent="0">
              <a:lnSpc>
                <a:spcPts val="1824"/>
              </a:lnSpc>
              <a:buNone/>
            </a:pPr>
            <a:r>
              <a:rPr lang="en-US" sz="1425" dirty="0">
                <a:solidFill>
                  <a:srgbClr val="000000"/>
                </a:solidFill>
                <a:latin typeface="Inter" pitchFamily="34" charset="0"/>
                <a:ea typeface="Inter" pitchFamily="34" charset="-122"/>
                <a:cs typeface="Inter" pitchFamily="34" charset="-120"/>
              </a:rPr>
              <a:t>Sans objectif tangible et visuel, l'expérience
devient moins immersive et moins engageante.
Cela provoque une diminution progressive de la
motivation et un manque d'engagement à long
terme.</a:t>
            </a:r>
            <a:endParaRPr lang="en-US" sz="1425" dirty="0"/>
          </a:p>
        </p:txBody>
      </p:sp>
      <p:sp>
        <p:nvSpPr>
          <p:cNvPr id="15" name="Text 7"/>
          <p:cNvSpPr/>
          <p:nvPr/>
        </p:nvSpPr>
        <p:spPr>
          <a:xfrm>
            <a:off x="7324725" y="5048250"/>
            <a:ext cx="4358580" cy="716607"/>
          </a:xfrm>
          <a:prstGeom prst="rect">
            <a:avLst/>
          </a:prstGeom>
          <a:noFill/>
          <a:ln/>
        </p:spPr>
        <p:txBody>
          <a:bodyPr vert="horz" wrap="square" lIns="0" tIns="0" rIns="0" bIns="0" rtlCol="0" anchor="ctr"/>
          <a:lstStyle/>
          <a:p>
            <a:pPr marL="0" indent="0">
              <a:lnSpc>
                <a:spcPts val="1881"/>
              </a:lnSpc>
              <a:buNone/>
            </a:pPr>
            <a:r>
              <a:rPr lang="en-US" sz="1425" dirty="0">
                <a:solidFill>
                  <a:srgbClr val="000000"/>
                </a:solidFill>
                <a:latin typeface="Inter" pitchFamily="34" charset="0"/>
                <a:ea typeface="Inter" pitchFamily="34" charset="-122"/>
                <a:cs typeface="Inter" pitchFamily="34" charset="-120"/>
              </a:rPr>
              <a:t>Il existe un besoin de rendre l'activité
physique plus visible, plus engageante et
plus significative pour l'utilisateur.</a:t>
            </a:r>
            <a:endParaRPr lang="en-US" sz="14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241482" y="2969419"/>
            <a:ext cx="597396" cy="665113"/>
          </a:xfrm>
          <a:prstGeom prst="rect">
            <a:avLst/>
          </a:prstGeom>
        </p:spPr>
      </p:pic>
      <p:pic>
        <p:nvPicPr>
          <p:cNvPr id="4" name="Image 2" descr="preencoded.png"/>
          <p:cNvPicPr>
            <a:picLocks noChangeAspect="1"/>
          </p:cNvPicPr>
          <p:nvPr/>
        </p:nvPicPr>
        <p:blipFill>
          <a:blip r:embed="rId5"/>
          <a:stretch>
            <a:fillRect/>
          </a:stretch>
        </p:blipFill>
        <p:spPr>
          <a:xfrm>
            <a:off x="6486079" y="2969419"/>
            <a:ext cx="560784" cy="665113"/>
          </a:xfrm>
          <a:prstGeom prst="rect">
            <a:avLst/>
          </a:prstGeom>
        </p:spPr>
      </p:pic>
      <p:pic>
        <p:nvPicPr>
          <p:cNvPr id="5" name="Image 3" descr="preencoded.png"/>
          <p:cNvPicPr>
            <a:picLocks noChangeAspect="1"/>
          </p:cNvPicPr>
          <p:nvPr/>
        </p:nvPicPr>
        <p:blipFill>
          <a:blip r:embed="rId6"/>
          <a:stretch>
            <a:fillRect/>
          </a:stretch>
        </p:blipFill>
        <p:spPr>
          <a:xfrm>
            <a:off x="3657600" y="2969419"/>
            <a:ext cx="682675" cy="658267"/>
          </a:xfrm>
          <a:prstGeom prst="rect">
            <a:avLst/>
          </a:prstGeom>
        </p:spPr>
      </p:pic>
      <p:pic>
        <p:nvPicPr>
          <p:cNvPr id="6" name="Image 4" descr="preencoded.png"/>
          <p:cNvPicPr>
            <a:picLocks noChangeAspect="1"/>
          </p:cNvPicPr>
          <p:nvPr/>
        </p:nvPicPr>
        <p:blipFill>
          <a:blip r:embed="rId7"/>
          <a:stretch>
            <a:fillRect/>
          </a:stretch>
        </p:blipFill>
        <p:spPr>
          <a:xfrm>
            <a:off x="877788" y="2955727"/>
            <a:ext cx="670471" cy="678805"/>
          </a:xfrm>
          <a:prstGeom prst="rect">
            <a:avLst/>
          </a:prstGeom>
        </p:spPr>
      </p:pic>
      <p:sp>
        <p:nvSpPr>
          <p:cNvPr id="7" name="Text 0"/>
          <p:cNvSpPr/>
          <p:nvPr/>
        </p:nvSpPr>
        <p:spPr>
          <a:xfrm>
            <a:off x="657225" y="714375"/>
            <a:ext cx="9555480" cy="498723"/>
          </a:xfrm>
          <a:prstGeom prst="rect">
            <a:avLst/>
          </a:prstGeom>
          <a:noFill/>
          <a:ln/>
        </p:spPr>
        <p:txBody>
          <a:bodyPr vert="horz" wrap="square" lIns="0" tIns="0" rIns="0" bIns="0" rtlCol="0" anchor="ctr"/>
          <a:lstStyle/>
          <a:p>
            <a:pPr marL="0" indent="0">
              <a:lnSpc>
                <a:spcPts val="3927"/>
              </a:lnSpc>
              <a:buNone/>
            </a:pPr>
            <a:r>
              <a:rPr lang="en-US" sz="3300" b="1" dirty="0">
                <a:solidFill>
                  <a:srgbClr val="0B1A30"/>
                </a:solidFill>
                <a:latin typeface="Red Hat Display Variable" pitchFamily="34" charset="0"/>
                <a:ea typeface="Red Hat Display Variable" pitchFamily="34" charset="-122"/>
                <a:cs typeface="Red Hat Display Variable" pitchFamily="34" charset="-120"/>
              </a:rPr>
              <a:t>Objectifs du projet</a:t>
            </a:r>
            <a:endParaRPr lang="en-US" sz="3300" dirty="0"/>
          </a:p>
        </p:txBody>
      </p:sp>
      <p:sp>
        <p:nvSpPr>
          <p:cNvPr id="8" name="Text 1"/>
          <p:cNvSpPr/>
          <p:nvPr/>
        </p:nvSpPr>
        <p:spPr>
          <a:xfrm>
            <a:off x="895350" y="3800475"/>
            <a:ext cx="2210693" cy="430709"/>
          </a:xfrm>
          <a:prstGeom prst="rect">
            <a:avLst/>
          </a:prstGeom>
          <a:noFill/>
          <a:ln/>
        </p:spPr>
        <p:txBody>
          <a:bodyPr vert="horz" wrap="square" lIns="0" tIns="0" rIns="0" bIns="0" rtlCol="0" anchor="ctr"/>
          <a:lstStyle/>
          <a:p>
            <a:pPr marL="0" indent="0">
              <a:lnSpc>
                <a:spcPts val="1696"/>
              </a:lnSpc>
              <a:buNone/>
            </a:pPr>
            <a:r>
              <a:rPr lang="en-US" sz="1425" b="1" dirty="0">
                <a:solidFill>
                  <a:srgbClr val="0B1A30"/>
                </a:solidFill>
                <a:latin typeface="Red Hat Display Variable" pitchFamily="34" charset="0"/>
                <a:ea typeface="Red Hat Display Variable" pitchFamily="34" charset="-122"/>
                <a:cs typeface="Red Hat Display Variable" pitchFamily="34" charset="-120"/>
              </a:rPr>
              <a:t>Suivi GPS des
activités sportives</a:t>
            </a:r>
            <a:endParaRPr lang="en-US" sz="1425" dirty="0"/>
          </a:p>
        </p:txBody>
      </p:sp>
      <p:sp>
        <p:nvSpPr>
          <p:cNvPr id="9" name="Text 2"/>
          <p:cNvSpPr/>
          <p:nvPr/>
        </p:nvSpPr>
        <p:spPr>
          <a:xfrm>
            <a:off x="3705225" y="3800475"/>
            <a:ext cx="1540073" cy="453330"/>
          </a:xfrm>
          <a:prstGeom prst="rect">
            <a:avLst/>
          </a:prstGeom>
          <a:noFill/>
          <a:ln/>
        </p:spPr>
        <p:txBody>
          <a:bodyPr vert="horz" wrap="square" lIns="0" tIns="0" rIns="0" bIns="0" rtlCol="0" anchor="ctr"/>
          <a:lstStyle/>
          <a:p>
            <a:pPr marL="0" indent="0">
              <a:lnSpc>
                <a:spcPts val="1785"/>
              </a:lnSpc>
              <a:buNone/>
            </a:pPr>
            <a:r>
              <a:rPr lang="en-US" sz="1500" b="1" dirty="0">
                <a:solidFill>
                  <a:srgbClr val="0B1A30"/>
                </a:solidFill>
                <a:latin typeface="Red Hat Display Variable" pitchFamily="34" charset="0"/>
                <a:ea typeface="Red Hat Display Variable" pitchFamily="34" charset="-122"/>
                <a:cs typeface="Red Hat Display Variable" pitchFamily="34" charset="-120"/>
              </a:rPr>
              <a:t>Visualisation
territoriale</a:t>
            </a:r>
            <a:endParaRPr lang="en-US" sz="1500" dirty="0"/>
          </a:p>
        </p:txBody>
      </p:sp>
      <p:sp>
        <p:nvSpPr>
          <p:cNvPr id="10" name="Text 3"/>
          <p:cNvSpPr/>
          <p:nvPr/>
        </p:nvSpPr>
        <p:spPr>
          <a:xfrm>
            <a:off x="6505575" y="3800475"/>
            <a:ext cx="1927771" cy="430709"/>
          </a:xfrm>
          <a:prstGeom prst="rect">
            <a:avLst/>
          </a:prstGeom>
          <a:noFill/>
          <a:ln/>
        </p:spPr>
        <p:txBody>
          <a:bodyPr vert="horz" wrap="square" lIns="0" tIns="0" rIns="0" bIns="0" rtlCol="0" anchor="ctr"/>
          <a:lstStyle/>
          <a:p>
            <a:pPr marL="0" indent="0">
              <a:lnSpc>
                <a:spcPts val="1696"/>
              </a:lnSpc>
              <a:buNone/>
            </a:pPr>
            <a:r>
              <a:rPr lang="en-US" sz="1425" b="1" dirty="0">
                <a:solidFill>
                  <a:srgbClr val="0B1A30"/>
                </a:solidFill>
                <a:latin typeface="Red Hat Display Variable" pitchFamily="34" charset="0"/>
                <a:ea typeface="Red Hat Display Variable" pitchFamily="34" charset="-122"/>
                <a:cs typeface="Red Hat Display Variable" pitchFamily="34" charset="-120"/>
              </a:rPr>
              <a:t>Gamification de
l'effort physique</a:t>
            </a:r>
            <a:endParaRPr lang="en-US" sz="1425" dirty="0"/>
          </a:p>
        </p:txBody>
      </p:sp>
      <p:sp>
        <p:nvSpPr>
          <p:cNvPr id="11" name="Text 4"/>
          <p:cNvSpPr/>
          <p:nvPr/>
        </p:nvSpPr>
        <p:spPr>
          <a:xfrm>
            <a:off x="9248775" y="3800475"/>
            <a:ext cx="1760190" cy="679996"/>
          </a:xfrm>
          <a:prstGeom prst="rect">
            <a:avLst/>
          </a:prstGeom>
          <a:noFill/>
          <a:ln/>
        </p:spPr>
        <p:txBody>
          <a:bodyPr vert="horz" wrap="square" lIns="0" tIns="0" rIns="0" bIns="0" rtlCol="0" anchor="ctr"/>
          <a:lstStyle/>
          <a:p>
            <a:pPr marL="0" indent="0">
              <a:lnSpc>
                <a:spcPts val="1785"/>
              </a:lnSpc>
              <a:buNone/>
            </a:pPr>
            <a:r>
              <a:rPr lang="en-US" sz="1500" b="1" dirty="0">
                <a:solidFill>
                  <a:srgbClr val="0B1A30"/>
                </a:solidFill>
                <a:latin typeface="Red Hat Display Variable" pitchFamily="34" charset="0"/>
                <a:ea typeface="Red Hat Display Variable" pitchFamily="34" charset="-122"/>
                <a:cs typeface="Red Hat Display Variable" pitchFamily="34" charset="-120"/>
              </a:rPr>
              <a:t>Création d'une
expérience
immersive</a:t>
            </a:r>
            <a:endParaRPr lang="en-US" sz="1500" dirty="0"/>
          </a:p>
        </p:txBody>
      </p:sp>
      <p:sp>
        <p:nvSpPr>
          <p:cNvPr id="12" name="Text 5"/>
          <p:cNvSpPr/>
          <p:nvPr/>
        </p:nvSpPr>
        <p:spPr>
          <a:xfrm>
            <a:off x="714375" y="1562100"/>
            <a:ext cx="11535668" cy="635496"/>
          </a:xfrm>
          <a:prstGeom prst="rect">
            <a:avLst/>
          </a:prstGeom>
          <a:noFill/>
          <a:ln/>
        </p:spPr>
        <p:txBody>
          <a:bodyPr vert="horz" wrap="square" lIns="0" tIns="0" rIns="0" bIns="0" rtlCol="0" anchor="ctr"/>
          <a:lstStyle/>
          <a:p>
            <a:pPr marL="0" indent="0">
              <a:lnSpc>
                <a:spcPts val="2502"/>
              </a:lnSpc>
              <a:buNone/>
            </a:pPr>
            <a:r>
              <a:rPr lang="en-US" sz="1800" dirty="0">
                <a:solidFill>
                  <a:srgbClr val="293545"/>
                </a:solidFill>
                <a:latin typeface="Inter" pitchFamily="34" charset="0"/>
                <a:ea typeface="Inter" pitchFamily="34" charset="-122"/>
                <a:cs typeface="Inter" pitchFamily="34" charset="-120"/>
              </a:rPr>
              <a:t>L'objectif principal du </a:t>
            </a:r>
            <a:r>
              <a:rPr lang="en-US" sz="1800" dirty="0" err="1">
                <a:solidFill>
                  <a:srgbClr val="293545"/>
                </a:solidFill>
                <a:latin typeface="Inter" pitchFamily="34" charset="0"/>
                <a:ea typeface="Inter" pitchFamily="34" charset="-122"/>
                <a:cs typeface="Inter" pitchFamily="34" charset="-120"/>
              </a:rPr>
              <a:t>projet</a:t>
            </a:r>
            <a:r>
              <a:rPr lang="en-US" sz="1800" dirty="0">
                <a:solidFill>
                  <a:srgbClr val="293545"/>
                </a:solidFill>
                <a:latin typeface="Inter" pitchFamily="34" charset="0"/>
                <a:ea typeface="Inter" pitchFamily="34" charset="-122"/>
                <a:cs typeface="Inter" pitchFamily="34" charset="-120"/>
              </a:rPr>
              <a:t> Heatmap est de concevoir une application mobile pour transformer
l'effort physique en une expérience spatiale motivante.</a:t>
            </a:r>
            <a:endParaRPr lang="en-US" sz="1800" dirty="0"/>
          </a:p>
        </p:txBody>
      </p:sp>
      <p:sp>
        <p:nvSpPr>
          <p:cNvPr id="13" name="Text 6"/>
          <p:cNvSpPr/>
          <p:nvPr/>
        </p:nvSpPr>
        <p:spPr>
          <a:xfrm>
            <a:off x="895350" y="4552950"/>
            <a:ext cx="2294483" cy="1200299"/>
          </a:xfrm>
          <a:prstGeom prst="rect">
            <a:avLst/>
          </a:prstGeom>
          <a:noFill/>
          <a:ln/>
        </p:spPr>
        <p:txBody>
          <a:bodyPr vert="horz" wrap="square" lIns="0" tIns="0" rIns="0" bIns="0" rtlCol="0" anchor="ctr"/>
          <a:lstStyle/>
          <a:p>
            <a:pPr marL="0" indent="0">
              <a:lnSpc>
                <a:spcPts val="1890"/>
              </a:lnSpc>
              <a:buNone/>
            </a:pPr>
            <a:r>
              <a:rPr lang="en-US" sz="1575" dirty="0">
                <a:solidFill>
                  <a:srgbClr val="293545"/>
                </a:solidFill>
                <a:latin typeface="Inter" pitchFamily="34" charset="0"/>
                <a:ea typeface="Inter" pitchFamily="34" charset="-122"/>
                <a:cs typeface="Inter" pitchFamily="34" charset="-120"/>
              </a:rPr>
              <a:t>Enregistrement précis
des parcours pour
transformer l'effort en
données spatiales
concrètes.</a:t>
            </a:r>
            <a:endParaRPr lang="en-US" sz="1575" dirty="0"/>
          </a:p>
        </p:txBody>
      </p:sp>
      <p:sp>
        <p:nvSpPr>
          <p:cNvPr id="14" name="Text 7"/>
          <p:cNvSpPr/>
          <p:nvPr/>
        </p:nvSpPr>
        <p:spPr>
          <a:xfrm>
            <a:off x="3705225" y="4552950"/>
            <a:ext cx="2305050" cy="1440359"/>
          </a:xfrm>
          <a:prstGeom prst="rect">
            <a:avLst/>
          </a:prstGeom>
          <a:noFill/>
          <a:ln/>
        </p:spPr>
        <p:txBody>
          <a:bodyPr vert="horz" wrap="square" lIns="0" tIns="0" rIns="0" bIns="0" rtlCol="0" anchor="ctr"/>
          <a:lstStyle/>
          <a:p>
            <a:pPr marL="0" indent="0">
              <a:lnSpc>
                <a:spcPts val="1890"/>
              </a:lnSpc>
              <a:buNone/>
            </a:pPr>
            <a:r>
              <a:rPr lang="en-US" sz="1575" dirty="0">
                <a:solidFill>
                  <a:srgbClr val="293545"/>
                </a:solidFill>
                <a:latin typeface="Inter" pitchFamily="34" charset="0"/>
                <a:ea typeface="Inter" pitchFamily="34" charset="-122"/>
                <a:cs typeface="Inter" pitchFamily="34" charset="-120"/>
              </a:rPr>
              <a:t>Représentation
graphique des zones
parcourues pour
matérialiser les efforts
sur une carte
interactive.</a:t>
            </a:r>
            <a:endParaRPr lang="en-US" sz="1575" dirty="0"/>
          </a:p>
        </p:txBody>
      </p:sp>
      <p:sp>
        <p:nvSpPr>
          <p:cNvPr id="15" name="Text 8"/>
          <p:cNvSpPr/>
          <p:nvPr/>
        </p:nvSpPr>
        <p:spPr>
          <a:xfrm>
            <a:off x="6505575" y="4552950"/>
            <a:ext cx="2053530" cy="1143000"/>
          </a:xfrm>
          <a:prstGeom prst="rect">
            <a:avLst/>
          </a:prstGeom>
          <a:noFill/>
          <a:ln/>
        </p:spPr>
        <p:txBody>
          <a:bodyPr vert="horz" wrap="square" lIns="0" tIns="0" rIns="0" bIns="0" rtlCol="0" anchor="ctr"/>
          <a:lstStyle/>
          <a:p>
            <a:pPr marL="0" indent="0">
              <a:lnSpc>
                <a:spcPts val="1800"/>
              </a:lnSpc>
              <a:buNone/>
            </a:pPr>
            <a:r>
              <a:rPr lang="en-US" sz="1500" dirty="0">
                <a:solidFill>
                  <a:srgbClr val="293545"/>
                </a:solidFill>
                <a:latin typeface="Inter" pitchFamily="34" charset="0"/>
                <a:ea typeface="Inter" pitchFamily="34" charset="-122"/>
                <a:cs typeface="Inter" pitchFamily="34" charset="-120"/>
              </a:rPr>
              <a:t>Transformation de
l'activité sportive en
conquête territoriale
pour maintenir la
motivation.</a:t>
            </a:r>
            <a:endParaRPr lang="en-US" sz="1500" dirty="0"/>
          </a:p>
        </p:txBody>
      </p:sp>
      <p:sp>
        <p:nvSpPr>
          <p:cNvPr id="16" name="Text 9"/>
          <p:cNvSpPr/>
          <p:nvPr/>
        </p:nvSpPr>
        <p:spPr>
          <a:xfrm>
            <a:off x="9248775" y="4552950"/>
            <a:ext cx="2137321" cy="1143000"/>
          </a:xfrm>
          <a:prstGeom prst="rect">
            <a:avLst/>
          </a:prstGeom>
          <a:noFill/>
          <a:ln/>
        </p:spPr>
        <p:txBody>
          <a:bodyPr vert="horz" wrap="square" lIns="0" tIns="0" rIns="0" bIns="0" rtlCol="0" anchor="ctr"/>
          <a:lstStyle/>
          <a:p>
            <a:pPr marL="0" indent="0">
              <a:lnSpc>
                <a:spcPts val="1800"/>
              </a:lnSpc>
              <a:buNone/>
            </a:pPr>
            <a:r>
              <a:rPr lang="en-US" sz="1500" dirty="0">
                <a:solidFill>
                  <a:srgbClr val="293545"/>
                </a:solidFill>
                <a:latin typeface="Inter" pitchFamily="34" charset="0"/>
                <a:ea typeface="Inter" pitchFamily="34" charset="-122"/>
                <a:cs typeface="Inter" pitchFamily="34" charset="-120"/>
              </a:rPr>
              <a:t>Développement d'un
système de
compétition basé sur
la surface territoriale
couverte.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192667" y="3922663"/>
            <a:ext cx="572988" cy="486817"/>
          </a:xfrm>
          <a:prstGeom prst="rect">
            <a:avLst/>
          </a:prstGeom>
        </p:spPr>
      </p:pic>
      <p:pic>
        <p:nvPicPr>
          <p:cNvPr id="4" name="Image 2" descr="preencoded.png"/>
          <p:cNvPicPr>
            <a:picLocks noChangeAspect="1"/>
          </p:cNvPicPr>
          <p:nvPr/>
        </p:nvPicPr>
        <p:blipFill>
          <a:blip r:embed="rId5"/>
          <a:stretch>
            <a:fillRect/>
          </a:stretch>
        </p:blipFill>
        <p:spPr>
          <a:xfrm>
            <a:off x="6425059" y="3922663"/>
            <a:ext cx="548580" cy="486817"/>
          </a:xfrm>
          <a:prstGeom prst="rect">
            <a:avLst/>
          </a:prstGeom>
        </p:spPr>
      </p:pic>
      <p:pic>
        <p:nvPicPr>
          <p:cNvPr id="5" name="Image 3" descr="preencoded.png"/>
          <p:cNvPicPr>
            <a:picLocks noChangeAspect="1"/>
          </p:cNvPicPr>
          <p:nvPr/>
        </p:nvPicPr>
        <p:blipFill>
          <a:blip r:embed="rId6"/>
          <a:stretch>
            <a:fillRect/>
          </a:stretch>
        </p:blipFill>
        <p:spPr>
          <a:xfrm>
            <a:off x="3645396" y="3888432"/>
            <a:ext cx="572988" cy="562273"/>
          </a:xfrm>
          <a:prstGeom prst="rect">
            <a:avLst/>
          </a:prstGeom>
        </p:spPr>
      </p:pic>
      <p:pic>
        <p:nvPicPr>
          <p:cNvPr id="6" name="Image 4" descr="preencoded.png"/>
          <p:cNvPicPr>
            <a:picLocks noChangeAspect="1"/>
          </p:cNvPicPr>
          <p:nvPr/>
        </p:nvPicPr>
        <p:blipFill>
          <a:blip r:embed="rId7"/>
          <a:stretch>
            <a:fillRect/>
          </a:stretch>
        </p:blipFill>
        <p:spPr>
          <a:xfrm>
            <a:off x="914400" y="3888432"/>
            <a:ext cx="499765" cy="569119"/>
          </a:xfrm>
          <a:prstGeom prst="rect">
            <a:avLst/>
          </a:prstGeom>
        </p:spPr>
      </p:pic>
      <p:pic>
        <p:nvPicPr>
          <p:cNvPr id="7" name="Image 5" descr="preencoded.png"/>
          <p:cNvPicPr>
            <a:picLocks noChangeAspect="1"/>
          </p:cNvPicPr>
          <p:nvPr/>
        </p:nvPicPr>
        <p:blipFill>
          <a:blip r:embed="rId8"/>
          <a:stretch>
            <a:fillRect/>
          </a:stretch>
        </p:blipFill>
        <p:spPr>
          <a:xfrm>
            <a:off x="7790557" y="377130"/>
            <a:ext cx="2938165" cy="3284934"/>
          </a:xfrm>
          <a:prstGeom prst="rect">
            <a:avLst/>
          </a:prstGeom>
        </p:spPr>
      </p:pic>
      <p:sp>
        <p:nvSpPr>
          <p:cNvPr id="8" name="Text 0"/>
          <p:cNvSpPr/>
          <p:nvPr/>
        </p:nvSpPr>
        <p:spPr>
          <a:xfrm>
            <a:off x="657225" y="600075"/>
            <a:ext cx="5154811" cy="1211461"/>
          </a:xfrm>
          <a:prstGeom prst="rect">
            <a:avLst/>
          </a:prstGeom>
          <a:noFill/>
          <a:ln/>
        </p:spPr>
        <p:txBody>
          <a:bodyPr vert="horz" wrap="square" lIns="0" tIns="0" rIns="0" bIns="0" rtlCol="0" anchor="ctr"/>
          <a:lstStyle/>
          <a:p>
            <a:pPr marL="0" indent="0">
              <a:lnSpc>
                <a:spcPts val="4770"/>
              </a:lnSpc>
              <a:buNone/>
            </a:pPr>
            <a:r>
              <a:rPr lang="en-US" sz="3975" b="1" dirty="0">
                <a:solidFill>
                  <a:srgbClr val="0B1A30"/>
                </a:solidFill>
                <a:latin typeface="Hubot Sans" pitchFamily="34" charset="0"/>
                <a:ea typeface="Hubot Sans" pitchFamily="34" charset="-122"/>
                <a:cs typeface="Hubot Sans" pitchFamily="34" charset="-120"/>
              </a:rPr>
              <a:t>Solution proposée
et concept clé</a:t>
            </a:r>
            <a:endParaRPr lang="en-US" sz="3975" dirty="0"/>
          </a:p>
        </p:txBody>
      </p:sp>
      <p:sp>
        <p:nvSpPr>
          <p:cNvPr id="9" name="Text 1"/>
          <p:cNvSpPr/>
          <p:nvPr/>
        </p:nvSpPr>
        <p:spPr>
          <a:xfrm>
            <a:off x="895350" y="4600575"/>
            <a:ext cx="1288703" cy="552152"/>
          </a:xfrm>
          <a:prstGeom prst="rect">
            <a:avLst/>
          </a:prstGeom>
          <a:noFill/>
          <a:ln/>
        </p:spPr>
        <p:txBody>
          <a:bodyPr vert="horz" wrap="square" lIns="0" tIns="0" rIns="0" bIns="0" rtlCol="0" anchor="ctr"/>
          <a:lstStyle/>
          <a:p>
            <a:pPr marL="0" indent="0">
              <a:lnSpc>
                <a:spcPts val="2174"/>
              </a:lnSpc>
              <a:buNone/>
            </a:pPr>
            <a:r>
              <a:rPr lang="en-US" sz="1725" b="1" dirty="0">
                <a:solidFill>
                  <a:srgbClr val="0B1A30"/>
                </a:solidFill>
                <a:latin typeface="Hubot Sans" pitchFamily="34" charset="0"/>
                <a:ea typeface="Hubot Sans" pitchFamily="34" charset="-122"/>
                <a:cs typeface="Hubot Sans" pitchFamily="34" charset="-120"/>
              </a:rPr>
              <a:t>Suivi en
temps réel</a:t>
            </a:r>
            <a:endParaRPr lang="en-US" sz="1725" dirty="0"/>
          </a:p>
        </p:txBody>
      </p:sp>
      <p:sp>
        <p:nvSpPr>
          <p:cNvPr id="10" name="Text 2"/>
          <p:cNvSpPr/>
          <p:nvPr/>
        </p:nvSpPr>
        <p:spPr>
          <a:xfrm>
            <a:off x="3705225" y="4600575"/>
            <a:ext cx="1267718" cy="480120"/>
          </a:xfrm>
          <a:prstGeom prst="rect">
            <a:avLst/>
          </a:prstGeom>
          <a:noFill/>
          <a:ln/>
        </p:spPr>
        <p:txBody>
          <a:bodyPr vert="horz" wrap="square" lIns="0" tIns="0" rIns="0" bIns="0" rtlCol="0" anchor="ctr"/>
          <a:lstStyle/>
          <a:p>
            <a:pPr marL="0" indent="0">
              <a:lnSpc>
                <a:spcPts val="1890"/>
              </a:lnSpc>
              <a:buNone/>
            </a:pPr>
            <a:r>
              <a:rPr lang="en-US" sz="1500" b="1" dirty="0">
                <a:solidFill>
                  <a:srgbClr val="0B1A30"/>
                </a:solidFill>
                <a:latin typeface="Hubot Sans" pitchFamily="34" charset="0"/>
                <a:ea typeface="Hubot Sans" pitchFamily="34" charset="-122"/>
                <a:cs typeface="Hubot Sans" pitchFamily="34" charset="-120"/>
              </a:rPr>
              <a:t>Création de
territoire</a:t>
            </a:r>
            <a:endParaRPr lang="en-US" sz="1500" dirty="0"/>
          </a:p>
        </p:txBody>
      </p:sp>
      <p:sp>
        <p:nvSpPr>
          <p:cNvPr id="11" name="Text 3"/>
          <p:cNvSpPr/>
          <p:nvPr/>
        </p:nvSpPr>
        <p:spPr>
          <a:xfrm>
            <a:off x="6505575" y="4600575"/>
            <a:ext cx="1403896" cy="480120"/>
          </a:xfrm>
          <a:prstGeom prst="rect">
            <a:avLst/>
          </a:prstGeom>
          <a:noFill/>
          <a:ln/>
        </p:spPr>
        <p:txBody>
          <a:bodyPr vert="horz" wrap="square" lIns="0" tIns="0" rIns="0" bIns="0" rtlCol="0" anchor="ctr"/>
          <a:lstStyle/>
          <a:p>
            <a:pPr marL="0" indent="0">
              <a:lnSpc>
                <a:spcPts val="1890"/>
              </a:lnSpc>
              <a:buNone/>
            </a:pPr>
            <a:r>
              <a:rPr lang="en-US" sz="1500" b="1" dirty="0">
                <a:solidFill>
                  <a:srgbClr val="0B1A30"/>
                </a:solidFill>
                <a:latin typeface="Hubot Sans" pitchFamily="34" charset="0"/>
                <a:ea typeface="Hubot Sans" pitchFamily="34" charset="-122"/>
                <a:cs typeface="Hubot Sans" pitchFamily="34" charset="-120"/>
              </a:rPr>
              <a:t>Construction
progressive</a:t>
            </a:r>
            <a:endParaRPr lang="en-US" sz="1500" dirty="0"/>
          </a:p>
        </p:txBody>
      </p:sp>
      <p:sp>
        <p:nvSpPr>
          <p:cNvPr id="12" name="Text 4"/>
          <p:cNvSpPr/>
          <p:nvPr/>
        </p:nvSpPr>
        <p:spPr>
          <a:xfrm>
            <a:off x="9248775" y="4600575"/>
            <a:ext cx="1770608" cy="503932"/>
          </a:xfrm>
          <a:prstGeom prst="rect">
            <a:avLst/>
          </a:prstGeom>
          <a:noFill/>
          <a:ln/>
        </p:spPr>
        <p:txBody>
          <a:bodyPr vert="horz" wrap="square" lIns="0" tIns="0" rIns="0" bIns="0" rtlCol="0" anchor="ctr"/>
          <a:lstStyle/>
          <a:p>
            <a:pPr marL="0" indent="0">
              <a:lnSpc>
                <a:spcPts val="1985"/>
              </a:lnSpc>
              <a:buNone/>
            </a:pPr>
            <a:r>
              <a:rPr lang="en-US" sz="1575" b="1" dirty="0">
                <a:solidFill>
                  <a:srgbClr val="0B1A30"/>
                </a:solidFill>
                <a:latin typeface="Hubot Sans" pitchFamily="34" charset="0"/>
                <a:ea typeface="Hubot Sans" pitchFamily="34" charset="-122"/>
                <a:cs typeface="Hubot Sans" pitchFamily="34" charset="-120"/>
              </a:rPr>
              <a:t>Représentation
directe</a:t>
            </a:r>
            <a:endParaRPr lang="en-US" sz="1575" dirty="0"/>
          </a:p>
        </p:txBody>
      </p:sp>
      <p:sp>
        <p:nvSpPr>
          <p:cNvPr id="13" name="Text 5"/>
          <p:cNvSpPr/>
          <p:nvPr/>
        </p:nvSpPr>
        <p:spPr>
          <a:xfrm>
            <a:off x="714375" y="1905000"/>
            <a:ext cx="5898803" cy="1028700"/>
          </a:xfrm>
          <a:prstGeom prst="rect">
            <a:avLst/>
          </a:prstGeom>
          <a:noFill/>
          <a:ln/>
        </p:spPr>
        <p:txBody>
          <a:bodyPr vert="horz" wrap="square" lIns="0" tIns="0" rIns="0" bIns="0" rtlCol="0" anchor="ctr"/>
          <a:lstStyle/>
          <a:p>
            <a:pPr marL="0" indent="0">
              <a:lnSpc>
                <a:spcPts val="2700"/>
              </a:lnSpc>
              <a:buNone/>
            </a:pPr>
            <a:r>
              <a:rPr lang="en-US" sz="1800" dirty="0">
                <a:solidFill>
                  <a:srgbClr val="444444"/>
                </a:solidFill>
                <a:latin typeface="Noto Sans" pitchFamily="34" charset="0"/>
                <a:ea typeface="Noto Sans" pitchFamily="34" charset="-122"/>
                <a:cs typeface="Noto Sans" pitchFamily="34" charset="-120"/>
              </a:rPr>
              <a:t>Notre solution consiste en une application
mobile utilisant la géolocalisation en
temps réel.</a:t>
            </a:r>
            <a:endParaRPr lang="en-US" sz="1800" dirty="0"/>
          </a:p>
        </p:txBody>
      </p:sp>
      <p:sp>
        <p:nvSpPr>
          <p:cNvPr id="14" name="Text 6"/>
          <p:cNvSpPr/>
          <p:nvPr/>
        </p:nvSpPr>
        <p:spPr>
          <a:xfrm>
            <a:off x="895350" y="5257800"/>
            <a:ext cx="2451646" cy="874514"/>
          </a:xfrm>
          <a:prstGeom prst="rect">
            <a:avLst/>
          </a:prstGeom>
          <a:noFill/>
          <a:ln/>
        </p:spPr>
        <p:txBody>
          <a:bodyPr vert="horz" wrap="square" lIns="0" tIns="0" rIns="0" bIns="0" rtlCol="0" anchor="ctr"/>
          <a:lstStyle/>
          <a:p>
            <a:pPr marL="0" indent="0">
              <a:lnSpc>
                <a:spcPts val="1721"/>
              </a:lnSpc>
              <a:buNone/>
            </a:pPr>
            <a:r>
              <a:rPr lang="en-US" sz="1275" dirty="0">
                <a:solidFill>
                  <a:srgbClr val="0B1A30"/>
                </a:solidFill>
                <a:latin typeface="Noto Sans" pitchFamily="34" charset="0"/>
                <a:ea typeface="Noto Sans" pitchFamily="34" charset="-122"/>
                <a:cs typeface="Noto Sans" pitchFamily="34" charset="-120"/>
              </a:rPr>
              <a:t>Position suivie via GPS et
parcours enregistré,
générant une trace sur la
carte.</a:t>
            </a:r>
            <a:endParaRPr lang="en-US" sz="1275" dirty="0"/>
          </a:p>
        </p:txBody>
      </p:sp>
      <p:sp>
        <p:nvSpPr>
          <p:cNvPr id="15" name="Text 7"/>
          <p:cNvSpPr/>
          <p:nvPr/>
        </p:nvSpPr>
        <p:spPr>
          <a:xfrm>
            <a:off x="3705225" y="5257800"/>
            <a:ext cx="2493615" cy="874514"/>
          </a:xfrm>
          <a:prstGeom prst="rect">
            <a:avLst/>
          </a:prstGeom>
          <a:noFill/>
          <a:ln/>
        </p:spPr>
        <p:txBody>
          <a:bodyPr vert="horz" wrap="square" lIns="0" tIns="0" rIns="0" bIns="0" rtlCol="0" anchor="ctr"/>
          <a:lstStyle/>
          <a:p>
            <a:pPr marL="0" indent="0">
              <a:lnSpc>
                <a:spcPts val="1721"/>
              </a:lnSpc>
              <a:buNone/>
            </a:pPr>
            <a:r>
              <a:rPr lang="en-US" sz="1275" dirty="0">
                <a:solidFill>
                  <a:srgbClr val="0B1A30"/>
                </a:solidFill>
                <a:latin typeface="Noto Sans" pitchFamily="34" charset="0"/>
                <a:ea typeface="Noto Sans" pitchFamily="34" charset="-122"/>
                <a:cs typeface="Noto Sans" pitchFamily="34" charset="-120"/>
              </a:rPr>
              <a:t>Si l'utilisateur complète
une zone fermée, celle-ci
devient un territoire
associé à son profil.</a:t>
            </a:r>
            <a:endParaRPr lang="en-US" sz="1275" dirty="0"/>
          </a:p>
        </p:txBody>
      </p:sp>
      <p:sp>
        <p:nvSpPr>
          <p:cNvPr id="16" name="Text 8"/>
          <p:cNvSpPr/>
          <p:nvPr/>
        </p:nvSpPr>
        <p:spPr>
          <a:xfrm>
            <a:off x="6505575" y="5257800"/>
            <a:ext cx="2566988" cy="874514"/>
          </a:xfrm>
          <a:prstGeom prst="rect">
            <a:avLst/>
          </a:prstGeom>
          <a:noFill/>
          <a:ln/>
        </p:spPr>
        <p:txBody>
          <a:bodyPr vert="horz" wrap="square" lIns="0" tIns="0" rIns="0" bIns="0" rtlCol="0" anchor="ctr"/>
          <a:lstStyle/>
          <a:p>
            <a:pPr marL="0" indent="0">
              <a:lnSpc>
                <a:spcPts val="1721"/>
              </a:lnSpc>
              <a:buNone/>
            </a:pPr>
            <a:r>
              <a:rPr lang="en-US" sz="1275" dirty="0">
                <a:solidFill>
                  <a:srgbClr val="0B1A30"/>
                </a:solidFill>
                <a:latin typeface="Noto Sans" pitchFamily="34" charset="0"/>
                <a:ea typeface="Noto Sans" pitchFamily="34" charset="-122"/>
                <a:cs typeface="Noto Sans" pitchFamily="34" charset="-120"/>
              </a:rPr>
              <a:t>Chaque activité
contribue à construire
progressivement un
territoire personnel visible.</a:t>
            </a:r>
            <a:endParaRPr lang="en-US" sz="1275" dirty="0"/>
          </a:p>
        </p:txBody>
      </p:sp>
      <p:sp>
        <p:nvSpPr>
          <p:cNvPr id="17" name="Text 9"/>
          <p:cNvSpPr/>
          <p:nvPr/>
        </p:nvSpPr>
        <p:spPr>
          <a:xfrm>
            <a:off x="9248775" y="5257800"/>
            <a:ext cx="2336453" cy="874514"/>
          </a:xfrm>
          <a:prstGeom prst="rect">
            <a:avLst/>
          </a:prstGeom>
          <a:noFill/>
          <a:ln/>
        </p:spPr>
        <p:txBody>
          <a:bodyPr vert="horz" wrap="square" lIns="0" tIns="0" rIns="0" bIns="0" rtlCol="0" anchor="ctr"/>
          <a:lstStyle/>
          <a:p>
            <a:pPr marL="0" indent="0">
              <a:lnSpc>
                <a:spcPts val="1721"/>
              </a:lnSpc>
              <a:buNone/>
            </a:pPr>
            <a:r>
              <a:rPr lang="en-US" sz="1275" dirty="0">
                <a:solidFill>
                  <a:srgbClr val="0B1A30"/>
                </a:solidFill>
                <a:latin typeface="Noto Sans" pitchFamily="34" charset="0"/>
                <a:ea typeface="Noto Sans" pitchFamily="34" charset="-122"/>
                <a:cs typeface="Noto Sans" pitchFamily="34" charset="-120"/>
              </a:rPr>
              <a:t>La carte devient une
représentation directe
de l'activité physique de
l'utilisateur.</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6437263" y="4142184"/>
            <a:ext cx="560784" cy="541734"/>
          </a:xfrm>
          <a:prstGeom prst="rect">
            <a:avLst/>
          </a:prstGeom>
        </p:spPr>
      </p:pic>
      <p:pic>
        <p:nvPicPr>
          <p:cNvPr id="4" name="Image 2" descr="preencoded.png"/>
          <p:cNvPicPr>
            <a:picLocks noChangeAspect="1"/>
          </p:cNvPicPr>
          <p:nvPr/>
        </p:nvPicPr>
        <p:blipFill>
          <a:blip r:embed="rId5"/>
          <a:stretch>
            <a:fillRect/>
          </a:stretch>
        </p:blipFill>
        <p:spPr>
          <a:xfrm>
            <a:off x="2743200" y="4128492"/>
            <a:ext cx="560784" cy="562273"/>
          </a:xfrm>
          <a:prstGeom prst="rect">
            <a:avLst/>
          </a:prstGeom>
        </p:spPr>
      </p:pic>
      <p:pic>
        <p:nvPicPr>
          <p:cNvPr id="5" name="Image 3" descr="preencoded.png"/>
          <p:cNvPicPr>
            <a:picLocks noChangeAspect="1"/>
          </p:cNvPicPr>
          <p:nvPr/>
        </p:nvPicPr>
        <p:blipFill>
          <a:blip r:embed="rId6"/>
          <a:stretch>
            <a:fillRect/>
          </a:stretch>
        </p:blipFill>
        <p:spPr>
          <a:xfrm>
            <a:off x="8278267" y="1611511"/>
            <a:ext cx="572988" cy="555427"/>
          </a:xfrm>
          <a:prstGeom prst="rect">
            <a:avLst/>
          </a:prstGeom>
        </p:spPr>
      </p:pic>
      <p:pic>
        <p:nvPicPr>
          <p:cNvPr id="6" name="Image 4" descr="preencoded.png"/>
          <p:cNvPicPr>
            <a:picLocks noChangeAspect="1"/>
          </p:cNvPicPr>
          <p:nvPr/>
        </p:nvPicPr>
        <p:blipFill>
          <a:blip r:embed="rId7"/>
          <a:stretch>
            <a:fillRect/>
          </a:stretch>
        </p:blipFill>
        <p:spPr>
          <a:xfrm>
            <a:off x="4596259" y="1625203"/>
            <a:ext cx="548580" cy="528042"/>
          </a:xfrm>
          <a:prstGeom prst="rect">
            <a:avLst/>
          </a:prstGeom>
        </p:spPr>
      </p:pic>
      <p:pic>
        <p:nvPicPr>
          <p:cNvPr id="7" name="Image 5" descr="preencoded.png"/>
          <p:cNvPicPr>
            <a:picLocks noChangeAspect="1"/>
          </p:cNvPicPr>
          <p:nvPr/>
        </p:nvPicPr>
        <p:blipFill>
          <a:blip r:embed="rId8"/>
          <a:stretch>
            <a:fillRect/>
          </a:stretch>
        </p:blipFill>
        <p:spPr>
          <a:xfrm>
            <a:off x="902196" y="1618357"/>
            <a:ext cx="560784" cy="541734"/>
          </a:xfrm>
          <a:prstGeom prst="rect">
            <a:avLst/>
          </a:prstGeom>
        </p:spPr>
      </p:pic>
      <p:pic>
        <p:nvPicPr>
          <p:cNvPr id="8" name="Image 6" descr="preencoded.png"/>
          <p:cNvPicPr>
            <a:picLocks noChangeAspect="1"/>
          </p:cNvPicPr>
          <p:nvPr/>
        </p:nvPicPr>
        <p:blipFill>
          <a:blip r:embed="rId9"/>
          <a:stretch>
            <a:fillRect/>
          </a:stretch>
        </p:blipFill>
        <p:spPr>
          <a:xfrm>
            <a:off x="191829" y="295969"/>
            <a:ext cx="304800" cy="301675"/>
          </a:xfrm>
          <a:prstGeom prst="rect">
            <a:avLst/>
          </a:prstGeom>
        </p:spPr>
      </p:pic>
      <p:sp>
        <p:nvSpPr>
          <p:cNvPr id="9" name="Text 0"/>
          <p:cNvSpPr/>
          <p:nvPr/>
        </p:nvSpPr>
        <p:spPr>
          <a:xfrm>
            <a:off x="572988" y="235447"/>
            <a:ext cx="11418570" cy="422969"/>
          </a:xfrm>
          <a:prstGeom prst="rect">
            <a:avLst/>
          </a:prstGeom>
          <a:noFill/>
          <a:ln/>
        </p:spPr>
        <p:txBody>
          <a:bodyPr vert="horz" wrap="square" lIns="0" tIns="0" rIns="0" bIns="0" rtlCol="0" anchor="ctr"/>
          <a:lstStyle/>
          <a:p>
            <a:pPr marL="0" indent="0">
              <a:lnSpc>
                <a:spcPts val="3330"/>
              </a:lnSpc>
              <a:buNone/>
            </a:pPr>
            <a:r>
              <a:rPr lang="en-US" sz="2775" b="1" dirty="0">
                <a:solidFill>
                  <a:srgbClr val="0B1A30"/>
                </a:solidFill>
                <a:latin typeface="Poppins" pitchFamily="34" charset="0"/>
                <a:ea typeface="Poppins" pitchFamily="34" charset="-122"/>
                <a:cs typeface="Poppins" pitchFamily="34" charset="-120"/>
              </a:rPr>
              <a:t>Fonctionnalités principales</a:t>
            </a:r>
            <a:endParaRPr lang="en-US" sz="2775" dirty="0"/>
          </a:p>
        </p:txBody>
      </p:sp>
      <p:sp>
        <p:nvSpPr>
          <p:cNvPr id="10" name="Text 1"/>
          <p:cNvSpPr/>
          <p:nvPr/>
        </p:nvSpPr>
        <p:spPr>
          <a:xfrm>
            <a:off x="962025" y="2314575"/>
            <a:ext cx="4994910" cy="217140"/>
          </a:xfrm>
          <a:prstGeom prst="rect">
            <a:avLst/>
          </a:prstGeom>
          <a:noFill/>
          <a:ln/>
        </p:spPr>
        <p:txBody>
          <a:bodyPr vert="horz" wrap="square" lIns="0" tIns="0" rIns="0" bIns="0" rtlCol="0" anchor="ctr"/>
          <a:lstStyle/>
          <a:p>
            <a:pPr marL="0" indent="0">
              <a:lnSpc>
                <a:spcPts val="1710"/>
              </a:lnSpc>
              <a:buNone/>
            </a:pPr>
            <a:r>
              <a:rPr lang="en-US" sz="1425" b="1" dirty="0">
                <a:solidFill>
                  <a:srgbClr val="0B1A30"/>
                </a:solidFill>
                <a:latin typeface="Poppins" pitchFamily="34" charset="0"/>
                <a:ea typeface="Poppins" pitchFamily="34" charset="-122"/>
                <a:cs typeface="Poppins" pitchFamily="34" charset="-120"/>
              </a:rPr>
              <a:t>Suivi GPS en temps réel</a:t>
            </a:r>
            <a:endParaRPr lang="en-US" sz="1425" dirty="0"/>
          </a:p>
        </p:txBody>
      </p:sp>
      <p:sp>
        <p:nvSpPr>
          <p:cNvPr id="11" name="Text 2"/>
          <p:cNvSpPr/>
          <p:nvPr/>
        </p:nvSpPr>
        <p:spPr>
          <a:xfrm>
            <a:off x="4619625" y="2314575"/>
            <a:ext cx="1980158" cy="434280"/>
          </a:xfrm>
          <a:prstGeom prst="rect">
            <a:avLst/>
          </a:prstGeom>
          <a:noFill/>
          <a:ln/>
        </p:spPr>
        <p:txBody>
          <a:bodyPr vert="horz" wrap="square" lIns="0" tIns="0" rIns="0" bIns="0" rtlCol="0" anchor="ctr"/>
          <a:lstStyle/>
          <a:p>
            <a:pPr marL="0" indent="0">
              <a:lnSpc>
                <a:spcPts val="1710"/>
              </a:lnSpc>
              <a:buNone/>
            </a:pPr>
            <a:r>
              <a:rPr lang="en-US" sz="1425" b="1" dirty="0">
                <a:solidFill>
                  <a:srgbClr val="0B1A30"/>
                </a:solidFill>
                <a:latin typeface="Poppins" pitchFamily="34" charset="0"/>
                <a:ea typeface="Poppins" pitchFamily="34" charset="-122"/>
                <a:cs typeface="Poppins" pitchFamily="34" charset="-120"/>
              </a:rPr>
              <a:t>Carte interactive
personnalisée</a:t>
            </a:r>
            <a:endParaRPr lang="en-US" sz="1425" dirty="0"/>
          </a:p>
        </p:txBody>
      </p:sp>
      <p:sp>
        <p:nvSpPr>
          <p:cNvPr id="12" name="Text 3"/>
          <p:cNvSpPr/>
          <p:nvPr/>
        </p:nvSpPr>
        <p:spPr>
          <a:xfrm>
            <a:off x="8334375" y="2314575"/>
            <a:ext cx="5212080" cy="217140"/>
          </a:xfrm>
          <a:prstGeom prst="rect">
            <a:avLst/>
          </a:prstGeom>
          <a:noFill/>
          <a:ln/>
        </p:spPr>
        <p:txBody>
          <a:bodyPr vert="horz" wrap="square" lIns="0" tIns="0" rIns="0" bIns="0" rtlCol="0" anchor="ctr"/>
          <a:lstStyle/>
          <a:p>
            <a:pPr marL="0" indent="0">
              <a:lnSpc>
                <a:spcPts val="1710"/>
              </a:lnSpc>
              <a:buNone/>
            </a:pPr>
            <a:r>
              <a:rPr lang="en-US" sz="1425" b="1" dirty="0">
                <a:solidFill>
                  <a:srgbClr val="0B1A30"/>
                </a:solidFill>
                <a:latin typeface="Poppins" pitchFamily="34" charset="0"/>
                <a:ea typeface="Poppins" pitchFamily="34" charset="-122"/>
                <a:cs typeface="Poppins" pitchFamily="34" charset="-120"/>
              </a:rPr>
              <a:t>Historique des activités</a:t>
            </a:r>
            <a:endParaRPr lang="en-US" sz="1425" dirty="0"/>
          </a:p>
        </p:txBody>
      </p:sp>
      <p:sp>
        <p:nvSpPr>
          <p:cNvPr id="13" name="Text 4"/>
          <p:cNvSpPr/>
          <p:nvPr/>
        </p:nvSpPr>
        <p:spPr>
          <a:xfrm>
            <a:off x="2790825" y="4857750"/>
            <a:ext cx="2881313" cy="457200"/>
          </a:xfrm>
          <a:prstGeom prst="rect">
            <a:avLst/>
          </a:prstGeom>
          <a:noFill/>
          <a:ln/>
        </p:spPr>
        <p:txBody>
          <a:bodyPr vert="horz" wrap="square" lIns="0" tIns="0" rIns="0" bIns="0" rtlCol="0" anchor="ctr"/>
          <a:lstStyle/>
          <a:p>
            <a:pPr marL="0" indent="0">
              <a:lnSpc>
                <a:spcPts val="1800"/>
              </a:lnSpc>
              <a:buNone/>
            </a:pPr>
            <a:r>
              <a:rPr lang="en-US" sz="1500" b="1" dirty="0">
                <a:solidFill>
                  <a:srgbClr val="0B1A30"/>
                </a:solidFill>
                <a:latin typeface="Poppins" pitchFamily="34" charset="0"/>
                <a:ea typeface="Poppins" pitchFamily="34" charset="-122"/>
                <a:cs typeface="Poppins" pitchFamily="34" charset="-120"/>
              </a:rPr>
              <a:t>Système de classement
territorial</a:t>
            </a:r>
            <a:endParaRPr lang="en-US" sz="1500" dirty="0"/>
          </a:p>
        </p:txBody>
      </p:sp>
      <p:sp>
        <p:nvSpPr>
          <p:cNvPr id="14" name="Text 5"/>
          <p:cNvSpPr/>
          <p:nvPr/>
        </p:nvSpPr>
        <p:spPr>
          <a:xfrm>
            <a:off x="6505575" y="4857750"/>
            <a:ext cx="4800600" cy="228600"/>
          </a:xfrm>
          <a:prstGeom prst="rect">
            <a:avLst/>
          </a:prstGeom>
          <a:noFill/>
          <a:ln/>
        </p:spPr>
        <p:txBody>
          <a:bodyPr vert="horz" wrap="square" lIns="0" tIns="0" rIns="0" bIns="0" rtlCol="0" anchor="ctr"/>
          <a:lstStyle/>
          <a:p>
            <a:pPr marL="0" indent="0">
              <a:lnSpc>
                <a:spcPts val="1800"/>
              </a:lnSpc>
              <a:buNone/>
            </a:pPr>
            <a:r>
              <a:rPr lang="en-US" sz="1500" b="1" dirty="0">
                <a:solidFill>
                  <a:srgbClr val="0B1A30"/>
                </a:solidFill>
                <a:latin typeface="Poppins" pitchFamily="34" charset="0"/>
                <a:ea typeface="Poppins" pitchFamily="34" charset="-122"/>
                <a:cs typeface="Poppins" pitchFamily="34" charset="-120"/>
              </a:rPr>
              <a:t>Mécanisme de conquête</a:t>
            </a:r>
            <a:endParaRPr lang="en-US" sz="1500" dirty="0"/>
          </a:p>
        </p:txBody>
      </p:sp>
      <p:sp>
        <p:nvSpPr>
          <p:cNvPr id="15" name="Text 6"/>
          <p:cNvSpPr/>
          <p:nvPr/>
        </p:nvSpPr>
        <p:spPr>
          <a:xfrm>
            <a:off x="962025" y="2705100"/>
            <a:ext cx="3143250" cy="583109"/>
          </a:xfrm>
          <a:prstGeom prst="rect">
            <a:avLst/>
          </a:prstGeom>
          <a:noFill/>
          <a:ln/>
        </p:spPr>
        <p:txBody>
          <a:bodyPr vert="horz" wrap="square" lIns="0" tIns="0" rIns="0" bIns="0" rtlCol="0" anchor="ctr"/>
          <a:lstStyle/>
          <a:p>
            <a:pPr marL="0" indent="0">
              <a:lnSpc>
                <a:spcPts val="1530"/>
              </a:lnSpc>
              <a:buNone/>
            </a:pPr>
            <a:r>
              <a:rPr lang="en-US" sz="1275" dirty="0">
                <a:solidFill>
                  <a:srgbClr val="0B1A30"/>
                </a:solidFill>
                <a:latin typeface="Poppins" pitchFamily="34" charset="0"/>
                <a:ea typeface="Poppins" pitchFamily="34" charset="-122"/>
                <a:cs typeface="Poppins" pitchFamily="34" charset="-120"/>
              </a:rPr>
              <a:t>Visualisation instantanée de votre
parcours avec précision
géographique.</a:t>
            </a:r>
            <a:endParaRPr lang="en-US" sz="1275" dirty="0"/>
          </a:p>
        </p:txBody>
      </p:sp>
      <p:sp>
        <p:nvSpPr>
          <p:cNvPr id="16" name="Text 7"/>
          <p:cNvSpPr/>
          <p:nvPr/>
        </p:nvSpPr>
        <p:spPr>
          <a:xfrm>
            <a:off x="4619625" y="2962275"/>
            <a:ext cx="2975521" cy="411361"/>
          </a:xfrm>
          <a:prstGeom prst="rect">
            <a:avLst/>
          </a:prstGeom>
          <a:noFill/>
          <a:ln/>
        </p:spPr>
        <p:txBody>
          <a:bodyPr vert="horz" wrap="square" lIns="0" tIns="0" rIns="0" bIns="0" rtlCol="0" anchor="ctr"/>
          <a:lstStyle/>
          <a:p>
            <a:pPr marL="0" indent="0">
              <a:lnSpc>
                <a:spcPts val="1620"/>
              </a:lnSpc>
              <a:buNone/>
            </a:pPr>
            <a:r>
              <a:rPr lang="en-US" sz="1350" dirty="0">
                <a:solidFill>
                  <a:srgbClr val="0B1A30"/>
                </a:solidFill>
                <a:latin typeface="Poppins" pitchFamily="34" charset="0"/>
                <a:ea typeface="Poppins" pitchFamily="34" charset="-122"/>
                <a:cs typeface="Poppins" pitchFamily="34" charset="-120"/>
              </a:rPr>
              <a:t>Affichage coloré des territoires
conquis et zones à explorer.</a:t>
            </a:r>
            <a:endParaRPr lang="en-US" sz="1350" dirty="0"/>
          </a:p>
        </p:txBody>
      </p:sp>
      <p:sp>
        <p:nvSpPr>
          <p:cNvPr id="17" name="Text 8"/>
          <p:cNvSpPr/>
          <p:nvPr/>
        </p:nvSpPr>
        <p:spPr>
          <a:xfrm>
            <a:off x="8334375" y="2705100"/>
            <a:ext cx="3195638" cy="388739"/>
          </a:xfrm>
          <a:prstGeom prst="rect">
            <a:avLst/>
          </a:prstGeom>
          <a:noFill/>
          <a:ln/>
        </p:spPr>
        <p:txBody>
          <a:bodyPr vert="horz" wrap="square" lIns="0" tIns="0" rIns="0" bIns="0" rtlCol="0" anchor="ctr"/>
          <a:lstStyle/>
          <a:p>
            <a:pPr marL="0" indent="0">
              <a:lnSpc>
                <a:spcPts val="1530"/>
              </a:lnSpc>
              <a:buNone/>
            </a:pPr>
            <a:r>
              <a:rPr lang="en-US" sz="1275" dirty="0">
                <a:solidFill>
                  <a:srgbClr val="0B1A30"/>
                </a:solidFill>
                <a:latin typeface="Poppins" pitchFamily="34" charset="0"/>
                <a:ea typeface="Poppins" pitchFamily="34" charset="-122"/>
                <a:cs typeface="Poppins" pitchFamily="34" charset="-120"/>
              </a:rPr>
              <a:t>Consultation de vos performances
passées et territoires accumulés.</a:t>
            </a:r>
            <a:endParaRPr lang="en-US" sz="1275" dirty="0"/>
          </a:p>
        </p:txBody>
      </p:sp>
      <p:sp>
        <p:nvSpPr>
          <p:cNvPr id="18" name="Text 9"/>
          <p:cNvSpPr/>
          <p:nvPr/>
        </p:nvSpPr>
        <p:spPr>
          <a:xfrm>
            <a:off x="2790825" y="5467350"/>
            <a:ext cx="2640211" cy="411361"/>
          </a:xfrm>
          <a:prstGeom prst="rect">
            <a:avLst/>
          </a:prstGeom>
          <a:noFill/>
          <a:ln/>
        </p:spPr>
        <p:txBody>
          <a:bodyPr vert="horz" wrap="square" lIns="0" tIns="0" rIns="0" bIns="0" rtlCol="0" anchor="ctr"/>
          <a:lstStyle/>
          <a:p>
            <a:pPr marL="0" indent="0">
              <a:lnSpc>
                <a:spcPts val="1620"/>
              </a:lnSpc>
              <a:buNone/>
            </a:pPr>
            <a:r>
              <a:rPr lang="en-US" sz="1350" dirty="0">
                <a:solidFill>
                  <a:srgbClr val="0B1A30"/>
                </a:solidFill>
                <a:latin typeface="Poppins" pitchFamily="34" charset="0"/>
                <a:ea typeface="Poppins" pitchFamily="34" charset="-122"/>
                <a:cs typeface="Poppins" pitchFamily="34" charset="-120"/>
              </a:rPr>
              <a:t>Comparaison des surfaces
conquises entre utilisateurs.</a:t>
            </a:r>
            <a:endParaRPr lang="en-US" sz="1350" dirty="0"/>
          </a:p>
        </p:txBody>
      </p:sp>
      <p:sp>
        <p:nvSpPr>
          <p:cNvPr id="19" name="Text 10"/>
          <p:cNvSpPr/>
          <p:nvPr/>
        </p:nvSpPr>
        <p:spPr>
          <a:xfrm>
            <a:off x="6505575" y="5191125"/>
            <a:ext cx="3111698" cy="388739"/>
          </a:xfrm>
          <a:prstGeom prst="rect">
            <a:avLst/>
          </a:prstGeom>
          <a:noFill/>
          <a:ln/>
        </p:spPr>
        <p:txBody>
          <a:bodyPr vert="horz" wrap="square" lIns="0" tIns="0" rIns="0" bIns="0" rtlCol="0" anchor="ctr"/>
          <a:lstStyle/>
          <a:p>
            <a:pPr marL="0" indent="0">
              <a:lnSpc>
                <a:spcPts val="1530"/>
              </a:lnSpc>
              <a:buNone/>
            </a:pPr>
            <a:r>
              <a:rPr lang="en-US" sz="1275" dirty="0">
                <a:solidFill>
                  <a:srgbClr val="0B1A30"/>
                </a:solidFill>
                <a:latin typeface="Poppins" pitchFamily="34" charset="0"/>
                <a:ea typeface="Poppins" pitchFamily="34" charset="-122"/>
                <a:cs typeface="Poppins" pitchFamily="34" charset="-120"/>
              </a:rPr>
              <a:t>Possibilité d'encercler et capturer
les territoires d'autres joueurs.</a:t>
            </a:r>
            <a:endParaRPr lang="en-US" sz="1275" dirty="0"/>
          </a:p>
        </p:txBody>
      </p:sp>
      <p:sp>
        <p:nvSpPr>
          <p:cNvPr id="20" name="Text 11"/>
          <p:cNvSpPr/>
          <p:nvPr/>
        </p:nvSpPr>
        <p:spPr>
          <a:xfrm>
            <a:off x="11573768" y="6467475"/>
            <a:ext cx="342900" cy="171450"/>
          </a:xfrm>
          <a:prstGeom prst="rect">
            <a:avLst/>
          </a:prstGeom>
          <a:noFill/>
          <a:ln/>
        </p:spPr>
        <p:txBody>
          <a:bodyPr vert="horz" wrap="square" lIns="0" tIns="0" rIns="0" bIns="0" rtlCol="0" anchor="ctr"/>
          <a:lstStyle/>
          <a:p>
            <a:pPr marL="0" indent="0" algn="r">
              <a:lnSpc>
                <a:spcPts val="1350"/>
              </a:lnSpc>
              <a:buNone/>
            </a:pPr>
            <a:r>
              <a:rPr lang="en-US" sz="1350" dirty="0">
                <a:solidFill>
                  <a:srgbClr val="555555"/>
                </a:solidFill>
                <a:latin typeface="Poppins" pitchFamily="34" charset="0"/>
                <a:ea typeface="Poppins" pitchFamily="34" charset="-122"/>
                <a:cs typeface="Poppins" pitchFamily="34" charset="-120"/>
              </a:rPr>
              <a:t>5</a:t>
            </a:r>
            <a:endParaRPr lang="en-US" sz="1350" dirty="0"/>
          </a:p>
        </p:txBody>
      </p:sp>
      <p:sp>
        <p:nvSpPr>
          <p:cNvPr id="21" name="Text 12"/>
          <p:cNvSpPr/>
          <p:nvPr/>
        </p:nvSpPr>
        <p:spPr>
          <a:xfrm>
            <a:off x="477098" y="687563"/>
            <a:ext cx="11123116" cy="342900"/>
          </a:xfrm>
          <a:prstGeom prst="rect">
            <a:avLst/>
          </a:prstGeom>
          <a:noFill/>
          <a:ln/>
        </p:spPr>
        <p:txBody>
          <a:bodyPr vert="horz" wrap="square" lIns="0" tIns="0" rIns="0" bIns="0" rtlCol="0" anchor="ctr"/>
          <a:lstStyle/>
          <a:p>
            <a:pPr marL="0" indent="0">
              <a:buNone/>
            </a:pPr>
            <a:endParaRPr lang="en-US" sz="1200" b="1" dirty="0">
              <a:solidFill>
                <a:srgbClr val="000000"/>
              </a:solidFill>
              <a:ea typeface="Times New Roman" pitchFamily="34" charset="-122"/>
              <a:cs typeface="Times New Roman" pitchFamily="34" charset="-120"/>
            </a:endParaRPr>
          </a:p>
          <a:p>
            <a:pPr marL="0" indent="0">
              <a:buNone/>
            </a:pPr>
            <a:r>
              <a:rPr lang="en-US" sz="1200" b="1" dirty="0" err="1">
                <a:solidFill>
                  <a:srgbClr val="000000"/>
                </a:solidFill>
                <a:ea typeface="Times New Roman" pitchFamily="34" charset="-122"/>
                <a:cs typeface="Times New Roman" pitchFamily="34" charset="-120"/>
              </a:rPr>
              <a:t>Lorsque</a:t>
            </a:r>
            <a:r>
              <a:rPr lang="en-US" sz="1200" b="1" dirty="0">
                <a:solidFill>
                  <a:srgbClr val="000000"/>
                </a:solidFill>
                <a:ea typeface="Times New Roman" pitchFamily="34" charset="-122"/>
                <a:cs typeface="Times New Roman" pitchFamily="34" charset="-120"/>
              </a:rPr>
              <a:t> l'utilisateur démarre une activité : Sa position est suivie via GPS Son parcours est enregistré Une trace est générée sur la carte Si l'utilisateur complète une zone fermée, celle-ci devient un territoire associé à son profil. Chaque activité contribue ainsi à construire progressivement un territoire personnel visible.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59796" y="4471392"/>
            <a:ext cx="1060698" cy="781794"/>
          </a:xfrm>
          <a:prstGeom prst="rect">
            <a:avLst/>
          </a:prstGeom>
        </p:spPr>
      </p:pic>
      <p:pic>
        <p:nvPicPr>
          <p:cNvPr id="4" name="Image 2" descr="preencoded.png"/>
          <p:cNvPicPr>
            <a:picLocks noChangeAspect="1"/>
          </p:cNvPicPr>
          <p:nvPr/>
        </p:nvPicPr>
        <p:blipFill>
          <a:blip r:embed="rId5"/>
          <a:stretch>
            <a:fillRect/>
          </a:stretch>
        </p:blipFill>
        <p:spPr>
          <a:xfrm>
            <a:off x="853380" y="4464546"/>
            <a:ext cx="865584" cy="864096"/>
          </a:xfrm>
          <a:prstGeom prst="rect">
            <a:avLst/>
          </a:prstGeom>
        </p:spPr>
      </p:pic>
      <p:pic>
        <p:nvPicPr>
          <p:cNvPr id="5" name="Image 3" descr="preencoded.png"/>
          <p:cNvPicPr>
            <a:picLocks noChangeAspect="1"/>
          </p:cNvPicPr>
          <p:nvPr/>
        </p:nvPicPr>
        <p:blipFill>
          <a:blip r:embed="rId6"/>
          <a:stretch>
            <a:fillRect/>
          </a:stretch>
        </p:blipFill>
        <p:spPr>
          <a:xfrm>
            <a:off x="8387953" y="2029867"/>
            <a:ext cx="792361" cy="822871"/>
          </a:xfrm>
          <a:prstGeom prst="rect">
            <a:avLst/>
          </a:prstGeom>
        </p:spPr>
      </p:pic>
      <p:pic>
        <p:nvPicPr>
          <p:cNvPr id="6" name="Image 4" descr="preencoded.png"/>
          <p:cNvPicPr>
            <a:picLocks noChangeAspect="1"/>
          </p:cNvPicPr>
          <p:nvPr/>
        </p:nvPicPr>
        <p:blipFill>
          <a:blip r:embed="rId7"/>
          <a:stretch>
            <a:fillRect/>
          </a:stretch>
        </p:blipFill>
        <p:spPr>
          <a:xfrm>
            <a:off x="4559796" y="2043559"/>
            <a:ext cx="902196" cy="795486"/>
          </a:xfrm>
          <a:prstGeom prst="rect">
            <a:avLst/>
          </a:prstGeom>
        </p:spPr>
      </p:pic>
      <p:pic>
        <p:nvPicPr>
          <p:cNvPr id="7" name="Image 5" descr="preencoded.png"/>
          <p:cNvPicPr>
            <a:picLocks noChangeAspect="1"/>
          </p:cNvPicPr>
          <p:nvPr/>
        </p:nvPicPr>
        <p:blipFill>
          <a:blip r:embed="rId8"/>
          <a:stretch>
            <a:fillRect/>
          </a:stretch>
        </p:blipFill>
        <p:spPr>
          <a:xfrm>
            <a:off x="865584" y="2043559"/>
            <a:ext cx="853380" cy="795486"/>
          </a:xfrm>
          <a:prstGeom prst="rect">
            <a:avLst/>
          </a:prstGeom>
        </p:spPr>
      </p:pic>
      <p:sp>
        <p:nvSpPr>
          <p:cNvPr id="8" name="Text 0"/>
          <p:cNvSpPr/>
          <p:nvPr/>
        </p:nvSpPr>
        <p:spPr>
          <a:xfrm>
            <a:off x="619125" y="552450"/>
            <a:ext cx="14584680" cy="498723"/>
          </a:xfrm>
          <a:prstGeom prst="rect">
            <a:avLst/>
          </a:prstGeom>
          <a:noFill/>
          <a:ln/>
        </p:spPr>
        <p:txBody>
          <a:bodyPr vert="horz" wrap="square" lIns="0" tIns="0" rIns="0" bIns="0" rtlCol="0" anchor="ctr"/>
          <a:lstStyle/>
          <a:p>
            <a:pPr marL="0" indent="0">
              <a:lnSpc>
                <a:spcPts val="3927"/>
              </a:lnSpc>
              <a:buNone/>
            </a:pPr>
            <a:r>
              <a:rPr lang="en-US" sz="3300" b="1" dirty="0">
                <a:solidFill>
                  <a:srgbClr val="03071E"/>
                </a:solidFill>
                <a:latin typeface="Plus Jakarta Sans" pitchFamily="34" charset="0"/>
                <a:ea typeface="Plus Jakarta Sans" pitchFamily="34" charset="-122"/>
                <a:cs typeface="Plus Jakarta Sans" pitchFamily="34" charset="-120"/>
              </a:rPr>
              <a:t>Clients cibles / Utilisateurs</a:t>
            </a:r>
            <a:endParaRPr lang="en-US" sz="3300" dirty="0"/>
          </a:p>
        </p:txBody>
      </p:sp>
      <p:sp>
        <p:nvSpPr>
          <p:cNvPr id="9" name="Text 1"/>
          <p:cNvSpPr/>
          <p:nvPr/>
        </p:nvSpPr>
        <p:spPr>
          <a:xfrm>
            <a:off x="895350" y="2981325"/>
            <a:ext cx="3909060" cy="202704"/>
          </a:xfrm>
          <a:prstGeom prst="rect">
            <a:avLst/>
          </a:prstGeom>
          <a:noFill/>
          <a:ln/>
        </p:spPr>
        <p:txBody>
          <a:bodyPr vert="horz" wrap="square" lIns="0" tIns="0" rIns="0" bIns="0" rtlCol="0" anchor="ctr"/>
          <a:lstStyle/>
          <a:p>
            <a:pPr marL="0" indent="0">
              <a:lnSpc>
                <a:spcPts val="1596"/>
              </a:lnSpc>
              <a:buNone/>
            </a:pPr>
            <a:r>
              <a:rPr lang="en-US" sz="1425" b="1" dirty="0">
                <a:solidFill>
                  <a:srgbClr val="03071E"/>
                </a:solidFill>
                <a:latin typeface="Plus Jakarta Sans" pitchFamily="34" charset="0"/>
                <a:ea typeface="Plus Jakarta Sans" pitchFamily="34" charset="-122"/>
                <a:cs typeface="Plus Jakarta Sans" pitchFamily="34" charset="-120"/>
              </a:rPr>
              <a:t>Étudiants sportifs</a:t>
            </a:r>
            <a:endParaRPr lang="en-US" sz="1425" dirty="0"/>
          </a:p>
        </p:txBody>
      </p:sp>
      <p:sp>
        <p:nvSpPr>
          <p:cNvPr id="10" name="Text 2"/>
          <p:cNvSpPr/>
          <p:nvPr/>
        </p:nvSpPr>
        <p:spPr>
          <a:xfrm>
            <a:off x="4572000" y="2981325"/>
            <a:ext cx="3691890" cy="202704"/>
          </a:xfrm>
          <a:prstGeom prst="rect">
            <a:avLst/>
          </a:prstGeom>
          <a:noFill/>
          <a:ln/>
        </p:spPr>
        <p:txBody>
          <a:bodyPr vert="horz" wrap="square" lIns="0" tIns="0" rIns="0" bIns="0" rtlCol="0" anchor="ctr"/>
          <a:lstStyle/>
          <a:p>
            <a:pPr marL="0" indent="0">
              <a:lnSpc>
                <a:spcPts val="1596"/>
              </a:lnSpc>
              <a:buNone/>
            </a:pPr>
            <a:r>
              <a:rPr lang="en-US" sz="1425" b="1" dirty="0">
                <a:solidFill>
                  <a:srgbClr val="03071E"/>
                </a:solidFill>
                <a:latin typeface="Plus Jakarta Sans" pitchFamily="34" charset="0"/>
                <a:ea typeface="Plus Jakarta Sans" pitchFamily="34" charset="-122"/>
                <a:cs typeface="Plus Jakarta Sans" pitchFamily="34" charset="-120"/>
              </a:rPr>
              <a:t>Athlètes amateurs</a:t>
            </a:r>
            <a:endParaRPr lang="en-US" sz="1425" dirty="0"/>
          </a:p>
        </p:txBody>
      </p:sp>
      <p:sp>
        <p:nvSpPr>
          <p:cNvPr id="11" name="Text 3"/>
          <p:cNvSpPr/>
          <p:nvPr/>
        </p:nvSpPr>
        <p:spPr>
          <a:xfrm>
            <a:off x="8372475" y="2981325"/>
            <a:ext cx="4572000" cy="213420"/>
          </a:xfrm>
          <a:prstGeom prst="rect">
            <a:avLst/>
          </a:prstGeom>
          <a:noFill/>
          <a:ln/>
        </p:spPr>
        <p:txBody>
          <a:bodyPr vert="horz" wrap="square" lIns="0" tIns="0" rIns="0" bIns="0" rtlCol="0" anchor="ctr"/>
          <a:lstStyle/>
          <a:p>
            <a:pPr marL="0" indent="0">
              <a:lnSpc>
                <a:spcPts val="1680"/>
              </a:lnSpc>
              <a:buNone/>
            </a:pPr>
            <a:r>
              <a:rPr lang="en-US" sz="1500" b="1" dirty="0">
                <a:solidFill>
                  <a:srgbClr val="03071E"/>
                </a:solidFill>
                <a:latin typeface="Plus Jakarta Sans" pitchFamily="34" charset="0"/>
                <a:ea typeface="Plus Jakarta Sans" pitchFamily="34" charset="-122"/>
                <a:cs typeface="Plus Jakarta Sans" pitchFamily="34" charset="-120"/>
              </a:rPr>
              <a:t>Compétiteurs sociaux</a:t>
            </a:r>
            <a:endParaRPr lang="en-US" sz="1500" dirty="0"/>
          </a:p>
        </p:txBody>
      </p:sp>
      <p:sp>
        <p:nvSpPr>
          <p:cNvPr id="12" name="Text 4"/>
          <p:cNvSpPr/>
          <p:nvPr/>
        </p:nvSpPr>
        <p:spPr>
          <a:xfrm>
            <a:off x="895350" y="5419725"/>
            <a:ext cx="4343400" cy="202704"/>
          </a:xfrm>
          <a:prstGeom prst="rect">
            <a:avLst/>
          </a:prstGeom>
          <a:noFill/>
          <a:ln/>
        </p:spPr>
        <p:txBody>
          <a:bodyPr vert="horz" wrap="square" lIns="0" tIns="0" rIns="0" bIns="0" rtlCol="0" anchor="ctr"/>
          <a:lstStyle/>
          <a:p>
            <a:pPr marL="0" indent="0">
              <a:lnSpc>
                <a:spcPts val="1596"/>
              </a:lnSpc>
              <a:buNone/>
            </a:pPr>
            <a:r>
              <a:rPr lang="en-US" sz="1425" b="1" dirty="0">
                <a:solidFill>
                  <a:srgbClr val="03071E"/>
                </a:solidFill>
                <a:latin typeface="Plus Jakarta Sans" pitchFamily="34" charset="0"/>
                <a:ea typeface="Plus Jakarta Sans" pitchFamily="34" charset="-122"/>
                <a:cs typeface="Plus Jakarta Sans" pitchFamily="34" charset="-120"/>
              </a:rPr>
              <a:t>Explorateurs urbains</a:t>
            </a:r>
            <a:endParaRPr lang="en-US" sz="1425" dirty="0"/>
          </a:p>
        </p:txBody>
      </p:sp>
      <p:sp>
        <p:nvSpPr>
          <p:cNvPr id="13" name="Text 5"/>
          <p:cNvSpPr/>
          <p:nvPr/>
        </p:nvSpPr>
        <p:spPr>
          <a:xfrm>
            <a:off x="4572000" y="5419725"/>
            <a:ext cx="5715000" cy="213420"/>
          </a:xfrm>
          <a:prstGeom prst="rect">
            <a:avLst/>
          </a:prstGeom>
          <a:noFill/>
          <a:ln/>
        </p:spPr>
        <p:txBody>
          <a:bodyPr vert="horz" wrap="square" lIns="0" tIns="0" rIns="0" bIns="0" rtlCol="0" anchor="ctr"/>
          <a:lstStyle/>
          <a:p>
            <a:pPr marL="0" indent="0">
              <a:lnSpc>
                <a:spcPts val="1680"/>
              </a:lnSpc>
              <a:buNone/>
            </a:pPr>
            <a:r>
              <a:rPr lang="en-US" sz="1500" b="1" dirty="0">
                <a:solidFill>
                  <a:srgbClr val="03071E"/>
                </a:solidFill>
                <a:latin typeface="Plus Jakarta Sans" pitchFamily="34" charset="0"/>
                <a:ea typeface="Plus Jakarta Sans" pitchFamily="34" charset="-122"/>
                <a:cs typeface="Plus Jakarta Sans" pitchFamily="34" charset="-120"/>
              </a:rPr>
              <a:t>Adeptes de la progression</a:t>
            </a:r>
            <a:endParaRPr lang="en-US" sz="1500" dirty="0"/>
          </a:p>
        </p:txBody>
      </p:sp>
      <p:sp>
        <p:nvSpPr>
          <p:cNvPr id="14" name="Text 6"/>
          <p:cNvSpPr/>
          <p:nvPr/>
        </p:nvSpPr>
        <p:spPr>
          <a:xfrm>
            <a:off x="657225" y="1257300"/>
            <a:ext cx="18002250" cy="330994"/>
          </a:xfrm>
          <a:prstGeom prst="rect">
            <a:avLst/>
          </a:prstGeom>
          <a:noFill/>
          <a:ln/>
        </p:spPr>
        <p:txBody>
          <a:bodyPr vert="horz" wrap="square" lIns="0" tIns="0" rIns="0" bIns="0" rtlCol="0" anchor="ctr"/>
          <a:lstStyle/>
          <a:p>
            <a:pPr marL="0" indent="0">
              <a:lnSpc>
                <a:spcPts val="2606"/>
              </a:lnSpc>
              <a:buNone/>
            </a:pPr>
            <a:r>
              <a:rPr lang="en-US" sz="1875" dirty="0">
                <a:solidFill>
                  <a:srgbClr val="47566B"/>
                </a:solidFill>
                <a:latin typeface="Plus Jakarta Sans" pitchFamily="34" charset="0"/>
                <a:ea typeface="Plus Jakarta Sans" pitchFamily="34" charset="-122"/>
                <a:cs typeface="Plus Jakarta Sans" pitchFamily="34" charset="-120"/>
              </a:rPr>
              <a:t>L'application s'adresse à plusieurs catégories d'utilisateurs :</a:t>
            </a:r>
            <a:endParaRPr lang="en-US" sz="1875" dirty="0"/>
          </a:p>
        </p:txBody>
      </p:sp>
      <p:sp>
        <p:nvSpPr>
          <p:cNvPr id="15" name="Text 7"/>
          <p:cNvSpPr/>
          <p:nvPr/>
        </p:nvSpPr>
        <p:spPr>
          <a:xfrm>
            <a:off x="857250" y="3343275"/>
            <a:ext cx="3394621" cy="578197"/>
          </a:xfrm>
          <a:prstGeom prst="rect">
            <a:avLst/>
          </a:prstGeom>
          <a:noFill/>
          <a:ln/>
        </p:spPr>
        <p:txBody>
          <a:bodyPr vert="horz" wrap="square" lIns="0" tIns="0" rIns="0" bIns="0" rtlCol="0" anchor="ctr"/>
          <a:lstStyle/>
          <a:p>
            <a:pPr marL="0" indent="0">
              <a:lnSpc>
                <a:spcPts val="1517"/>
              </a:lnSpc>
              <a:buNone/>
            </a:pPr>
            <a:r>
              <a:rPr lang="en-US" sz="1275" dirty="0">
                <a:solidFill>
                  <a:srgbClr val="03071E"/>
                </a:solidFill>
                <a:latin typeface="Plus Jakarta Sans" pitchFamily="34" charset="0"/>
                <a:ea typeface="Plus Jakarta Sans" pitchFamily="34" charset="-122"/>
                <a:cs typeface="Plus Jakarta Sans" pitchFamily="34" charset="-120"/>
              </a:rPr>
              <a:t>Utilisateurs cherchant à gamifier leur
activité physique sur le campus
universitaire.</a:t>
            </a:r>
            <a:endParaRPr lang="en-US" sz="1275" dirty="0"/>
          </a:p>
        </p:txBody>
      </p:sp>
      <p:sp>
        <p:nvSpPr>
          <p:cNvPr id="16" name="Text 8"/>
          <p:cNvSpPr/>
          <p:nvPr/>
        </p:nvSpPr>
        <p:spPr>
          <a:xfrm>
            <a:off x="4533900" y="3343275"/>
            <a:ext cx="3331815" cy="356295"/>
          </a:xfrm>
          <a:prstGeom prst="rect">
            <a:avLst/>
          </a:prstGeom>
          <a:noFill/>
          <a:ln/>
        </p:spPr>
        <p:txBody>
          <a:bodyPr vert="horz" wrap="square" lIns="0" tIns="0" rIns="0" bIns="0" rtlCol="0" anchor="ctr"/>
          <a:lstStyle/>
          <a:p>
            <a:pPr marL="0" indent="0">
              <a:lnSpc>
                <a:spcPts val="1402"/>
              </a:lnSpc>
              <a:buNone/>
            </a:pPr>
            <a:r>
              <a:rPr lang="en-US" sz="1275" dirty="0">
                <a:solidFill>
                  <a:srgbClr val="03071E"/>
                </a:solidFill>
                <a:latin typeface="Plus Jakarta Sans" pitchFamily="34" charset="0"/>
                <a:ea typeface="Plus Jakarta Sans" pitchFamily="34" charset="-122"/>
                <a:cs typeface="Plus Jakarta Sans" pitchFamily="34" charset="-120"/>
              </a:rPr>
              <a:t>Personnes pratiquant régulièrement
une activité physique extérieure.</a:t>
            </a:r>
            <a:endParaRPr lang="en-US" sz="1275" dirty="0"/>
          </a:p>
        </p:txBody>
      </p:sp>
      <p:sp>
        <p:nvSpPr>
          <p:cNvPr id="17" name="Text 9"/>
          <p:cNvSpPr/>
          <p:nvPr/>
        </p:nvSpPr>
        <p:spPr>
          <a:xfrm>
            <a:off x="8391525" y="3343275"/>
            <a:ext cx="3279428" cy="578197"/>
          </a:xfrm>
          <a:prstGeom prst="rect">
            <a:avLst/>
          </a:prstGeom>
          <a:noFill/>
          <a:ln/>
        </p:spPr>
        <p:txBody>
          <a:bodyPr vert="horz" wrap="square" lIns="0" tIns="0" rIns="0" bIns="0" rtlCol="0" anchor="ctr"/>
          <a:lstStyle/>
          <a:p>
            <a:pPr marL="0" indent="0">
              <a:lnSpc>
                <a:spcPts val="1517"/>
              </a:lnSpc>
              <a:buNone/>
            </a:pPr>
            <a:r>
              <a:rPr lang="en-US" sz="1275" dirty="0">
                <a:solidFill>
                  <a:srgbClr val="03071E"/>
                </a:solidFill>
                <a:latin typeface="Plus Jakarta Sans" pitchFamily="34" charset="0"/>
                <a:ea typeface="Plus Jakarta Sans" pitchFamily="34" charset="-122"/>
                <a:cs typeface="Plus Jakarta Sans" pitchFamily="34" charset="-120"/>
              </a:rPr>
              <a:t>Utilisateurs motivés par la
comparaison et le classement entre
amis.</a:t>
            </a:r>
            <a:endParaRPr lang="en-US" sz="1275" dirty="0"/>
          </a:p>
        </p:txBody>
      </p:sp>
      <p:sp>
        <p:nvSpPr>
          <p:cNvPr id="18" name="Text 10"/>
          <p:cNvSpPr/>
          <p:nvPr/>
        </p:nvSpPr>
        <p:spPr>
          <a:xfrm>
            <a:off x="857250" y="5772150"/>
            <a:ext cx="3373636" cy="377130"/>
          </a:xfrm>
          <a:prstGeom prst="rect">
            <a:avLst/>
          </a:prstGeom>
          <a:noFill/>
          <a:ln/>
        </p:spPr>
        <p:txBody>
          <a:bodyPr vert="horz" wrap="square" lIns="0" tIns="0" rIns="0" bIns="0" rtlCol="0" anchor="ctr"/>
          <a:lstStyle/>
          <a:p>
            <a:pPr marL="0" indent="0">
              <a:lnSpc>
                <a:spcPts val="1485"/>
              </a:lnSpc>
              <a:buNone/>
            </a:pPr>
            <a:r>
              <a:rPr lang="en-US" sz="1350" dirty="0">
                <a:solidFill>
                  <a:srgbClr val="03071E"/>
                </a:solidFill>
                <a:latin typeface="Plus Jakarta Sans" pitchFamily="34" charset="0"/>
                <a:ea typeface="Plus Jakarta Sans" pitchFamily="34" charset="-122"/>
                <a:cs typeface="Plus Jakarta Sans" pitchFamily="34" charset="-120"/>
              </a:rPr>
              <a:t>Personnes souhaitant découvrir leur
environnement de façon ludique.</a:t>
            </a:r>
            <a:endParaRPr lang="en-US" sz="1350" dirty="0"/>
          </a:p>
        </p:txBody>
      </p:sp>
      <p:sp>
        <p:nvSpPr>
          <p:cNvPr id="19" name="Text 11"/>
          <p:cNvSpPr/>
          <p:nvPr/>
        </p:nvSpPr>
        <p:spPr>
          <a:xfrm>
            <a:off x="4572000" y="5772150"/>
            <a:ext cx="3457575" cy="356295"/>
          </a:xfrm>
          <a:prstGeom prst="rect">
            <a:avLst/>
          </a:prstGeom>
          <a:noFill/>
          <a:ln/>
        </p:spPr>
        <p:txBody>
          <a:bodyPr vert="horz" wrap="square" lIns="0" tIns="0" rIns="0" bIns="0" rtlCol="0" anchor="ctr"/>
          <a:lstStyle/>
          <a:p>
            <a:pPr marL="0" indent="0">
              <a:lnSpc>
                <a:spcPts val="1402"/>
              </a:lnSpc>
              <a:buNone/>
            </a:pPr>
            <a:r>
              <a:rPr lang="en-US" sz="1275" dirty="0">
                <a:solidFill>
                  <a:srgbClr val="03071E"/>
                </a:solidFill>
                <a:latin typeface="Plus Jakarta Sans" pitchFamily="34" charset="0"/>
                <a:ea typeface="Plus Jakarta Sans" pitchFamily="34" charset="-122"/>
                <a:cs typeface="Plus Jakarta Sans" pitchFamily="34" charset="-120"/>
              </a:rPr>
              <a:t>Utilisateurs valorisant la visualisation
concrète de leurs efforts.</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716988" y="2324844"/>
            <a:ext cx="1133773" cy="569119"/>
          </a:xfrm>
          <a:prstGeom prst="rect">
            <a:avLst/>
          </a:prstGeom>
        </p:spPr>
      </p:pic>
      <p:pic>
        <p:nvPicPr>
          <p:cNvPr id="4" name="Image 2" descr="preencoded.png"/>
          <p:cNvPicPr>
            <a:picLocks noChangeAspect="1"/>
          </p:cNvPicPr>
          <p:nvPr/>
        </p:nvPicPr>
        <p:blipFill>
          <a:blip r:embed="rId5"/>
          <a:stretch>
            <a:fillRect/>
          </a:stretch>
        </p:blipFill>
        <p:spPr>
          <a:xfrm>
            <a:off x="7473553" y="3209479"/>
            <a:ext cx="1158180" cy="507355"/>
          </a:xfrm>
          <a:prstGeom prst="rect">
            <a:avLst/>
          </a:prstGeom>
        </p:spPr>
      </p:pic>
      <p:pic>
        <p:nvPicPr>
          <p:cNvPr id="5" name="Image 3" descr="preencoded.png"/>
          <p:cNvPicPr>
            <a:picLocks noChangeAspect="1"/>
          </p:cNvPicPr>
          <p:nvPr/>
        </p:nvPicPr>
        <p:blipFill>
          <a:blip r:embed="rId6"/>
          <a:stretch>
            <a:fillRect/>
          </a:stretch>
        </p:blipFill>
        <p:spPr>
          <a:xfrm>
            <a:off x="5218063" y="2283619"/>
            <a:ext cx="816769" cy="665113"/>
          </a:xfrm>
          <a:prstGeom prst="rect">
            <a:avLst/>
          </a:prstGeom>
        </p:spPr>
      </p:pic>
      <p:pic>
        <p:nvPicPr>
          <p:cNvPr id="6" name="Image 4" descr="preencoded.png"/>
          <p:cNvPicPr>
            <a:picLocks noChangeAspect="1"/>
          </p:cNvPicPr>
          <p:nvPr/>
        </p:nvPicPr>
        <p:blipFill>
          <a:blip r:embed="rId7"/>
          <a:stretch>
            <a:fillRect/>
          </a:stretch>
        </p:blipFill>
        <p:spPr>
          <a:xfrm>
            <a:off x="2974777" y="3195786"/>
            <a:ext cx="841177" cy="644575"/>
          </a:xfrm>
          <a:prstGeom prst="rect">
            <a:avLst/>
          </a:prstGeom>
        </p:spPr>
      </p:pic>
      <p:pic>
        <p:nvPicPr>
          <p:cNvPr id="7" name="Image 5" descr="preencoded.png"/>
          <p:cNvPicPr>
            <a:picLocks noChangeAspect="1"/>
          </p:cNvPicPr>
          <p:nvPr/>
        </p:nvPicPr>
        <p:blipFill>
          <a:blip r:embed="rId8"/>
          <a:stretch>
            <a:fillRect/>
          </a:stretch>
        </p:blipFill>
        <p:spPr>
          <a:xfrm>
            <a:off x="719286" y="2283619"/>
            <a:ext cx="707082" cy="665113"/>
          </a:xfrm>
          <a:prstGeom prst="rect">
            <a:avLst/>
          </a:prstGeom>
        </p:spPr>
      </p:pic>
      <p:sp>
        <p:nvSpPr>
          <p:cNvPr id="8" name="Text 0"/>
          <p:cNvSpPr/>
          <p:nvPr/>
        </p:nvSpPr>
        <p:spPr>
          <a:xfrm>
            <a:off x="-2281758" y="552450"/>
            <a:ext cx="17145000" cy="566738"/>
          </a:xfrm>
          <a:prstGeom prst="rect">
            <a:avLst/>
          </a:prstGeom>
          <a:noFill/>
          <a:ln/>
        </p:spPr>
        <p:txBody>
          <a:bodyPr vert="horz" wrap="square" lIns="0" tIns="0" rIns="0" bIns="0" rtlCol="0" anchor="ctr"/>
          <a:lstStyle/>
          <a:p>
            <a:pPr marL="0" indent="0" algn="ctr">
              <a:lnSpc>
                <a:spcPts val="4463"/>
              </a:lnSpc>
              <a:buNone/>
            </a:pPr>
            <a:r>
              <a:rPr lang="en-US" sz="3750" b="1" dirty="0">
                <a:solidFill>
                  <a:srgbClr val="03071E"/>
                </a:solidFill>
                <a:latin typeface="Plus Jakarta Sans" pitchFamily="34" charset="0"/>
                <a:ea typeface="Plus Jakarta Sans" pitchFamily="34" charset="-122"/>
                <a:cs typeface="Plus Jakarta Sans" pitchFamily="34" charset="-120"/>
              </a:rPr>
              <a:t>Fonctionnalités &amp; User Stories</a:t>
            </a:r>
            <a:endParaRPr lang="en-US" sz="3750" dirty="0"/>
          </a:p>
        </p:txBody>
      </p:sp>
      <p:sp>
        <p:nvSpPr>
          <p:cNvPr id="9" name="Text 1"/>
          <p:cNvSpPr/>
          <p:nvPr/>
        </p:nvSpPr>
        <p:spPr>
          <a:xfrm>
            <a:off x="-3494737" y="1257300"/>
            <a:ext cx="20208240" cy="344239"/>
          </a:xfrm>
          <a:prstGeom prst="rect">
            <a:avLst/>
          </a:prstGeom>
          <a:noFill/>
          <a:ln/>
        </p:spPr>
        <p:txBody>
          <a:bodyPr vert="horz" wrap="square" lIns="0" tIns="0" rIns="0" bIns="0" rtlCol="0" anchor="ctr"/>
          <a:lstStyle/>
          <a:p>
            <a:pPr marL="0" indent="0" algn="ctr">
              <a:lnSpc>
                <a:spcPts val="2711"/>
              </a:lnSpc>
              <a:buNone/>
            </a:pPr>
            <a:r>
              <a:rPr lang="en-US" sz="1950" dirty="0">
                <a:solidFill>
                  <a:srgbClr val="4B5563"/>
                </a:solidFill>
                <a:latin typeface="Plus Jakarta Sans" pitchFamily="34" charset="0"/>
                <a:ea typeface="Plus Jakarta Sans" pitchFamily="34" charset="-122"/>
                <a:cs typeface="Plus Jakarta Sans" pitchFamily="34" charset="-120"/>
              </a:rPr>
              <a:t>Scénarios clés pour une expérience de conquête territoriale gamifiée</a:t>
            </a:r>
            <a:endParaRPr lang="en-US" sz="1950" dirty="0"/>
          </a:p>
        </p:txBody>
      </p:sp>
      <p:sp>
        <p:nvSpPr>
          <p:cNvPr id="10" name="Text 2"/>
          <p:cNvSpPr/>
          <p:nvPr/>
        </p:nvSpPr>
        <p:spPr>
          <a:xfrm>
            <a:off x="723900" y="3048000"/>
            <a:ext cx="1822996" cy="628650"/>
          </a:xfrm>
          <a:prstGeom prst="rect">
            <a:avLst/>
          </a:prstGeom>
          <a:noFill/>
          <a:ln/>
        </p:spPr>
        <p:txBody>
          <a:bodyPr vert="horz" wrap="square" lIns="0" tIns="0" rIns="0" bIns="0" rtlCol="0" anchor="ctr"/>
          <a:lstStyle/>
          <a:p>
            <a:pPr marL="0" indent="0">
              <a:lnSpc>
                <a:spcPts val="1650"/>
              </a:lnSpc>
              <a:buNone/>
            </a:pPr>
            <a:r>
              <a:rPr lang="en-US" sz="1650" b="1" dirty="0">
                <a:solidFill>
                  <a:srgbClr val="03071E"/>
                </a:solidFill>
                <a:latin typeface="Plus Jakarta Sans" pitchFamily="34" charset="0"/>
                <a:ea typeface="Plus Jakarta Sans" pitchFamily="34" charset="-122"/>
                <a:cs typeface="Plus Jakarta Sans" pitchFamily="34" charset="-120"/>
              </a:rPr>
              <a:t>Athlète :
Authentification
Sécurisée</a:t>
            </a:r>
            <a:endParaRPr lang="en-US" sz="1650" dirty="0"/>
          </a:p>
        </p:txBody>
      </p:sp>
      <p:sp>
        <p:nvSpPr>
          <p:cNvPr id="11" name="Text 3"/>
          <p:cNvSpPr/>
          <p:nvPr/>
        </p:nvSpPr>
        <p:spPr>
          <a:xfrm>
            <a:off x="2971800" y="3990975"/>
            <a:ext cx="1885950" cy="600075"/>
          </a:xfrm>
          <a:prstGeom prst="rect">
            <a:avLst/>
          </a:prstGeom>
          <a:noFill/>
          <a:ln/>
        </p:spPr>
        <p:txBody>
          <a:bodyPr vert="horz" wrap="square" lIns="0" tIns="0" rIns="0" bIns="0" rtlCol="0" anchor="ctr"/>
          <a:lstStyle/>
          <a:p>
            <a:pPr marL="0" indent="0">
              <a:lnSpc>
                <a:spcPts val="1575"/>
              </a:lnSpc>
              <a:buNone/>
            </a:pPr>
            <a:r>
              <a:rPr lang="en-US" sz="1575" b="1" dirty="0">
                <a:solidFill>
                  <a:srgbClr val="03071E"/>
                </a:solidFill>
                <a:latin typeface="Plus Jakarta Sans" pitchFamily="34" charset="0"/>
                <a:ea typeface="Plus Jakarta Sans" pitchFamily="34" charset="-122"/>
                <a:cs typeface="Plus Jakarta Sans" pitchFamily="34" charset="-120"/>
              </a:rPr>
              <a:t>Utilisateur : Carte
Interactive des
Territoires</a:t>
            </a:r>
            <a:endParaRPr lang="en-US" sz="1575" dirty="0"/>
          </a:p>
        </p:txBody>
      </p:sp>
      <p:sp>
        <p:nvSpPr>
          <p:cNvPr id="12" name="Text 4"/>
          <p:cNvSpPr/>
          <p:nvPr/>
        </p:nvSpPr>
        <p:spPr>
          <a:xfrm>
            <a:off x="5257800" y="3048000"/>
            <a:ext cx="1885950" cy="600075"/>
          </a:xfrm>
          <a:prstGeom prst="rect">
            <a:avLst/>
          </a:prstGeom>
          <a:noFill/>
          <a:ln/>
        </p:spPr>
        <p:txBody>
          <a:bodyPr vert="horz" wrap="square" lIns="0" tIns="0" rIns="0" bIns="0" rtlCol="0" anchor="ctr"/>
          <a:lstStyle/>
          <a:p>
            <a:pPr marL="0" indent="0">
              <a:lnSpc>
                <a:spcPts val="1575"/>
              </a:lnSpc>
              <a:buNone/>
            </a:pPr>
            <a:r>
              <a:rPr lang="en-US" sz="1575" b="1" dirty="0">
                <a:solidFill>
                  <a:srgbClr val="03071E"/>
                </a:solidFill>
                <a:latin typeface="Plus Jakarta Sans" pitchFamily="34" charset="0"/>
                <a:ea typeface="Plus Jakarta Sans" pitchFamily="34" charset="-122"/>
                <a:cs typeface="Plus Jakarta Sans" pitchFamily="34" charset="-120"/>
              </a:rPr>
              <a:t>Conquérant :
Appropriation de
Territoire</a:t>
            </a:r>
            <a:endParaRPr lang="en-US" sz="1575" dirty="0"/>
          </a:p>
        </p:txBody>
      </p:sp>
      <p:sp>
        <p:nvSpPr>
          <p:cNvPr id="13" name="Text 5"/>
          <p:cNvSpPr/>
          <p:nvPr/>
        </p:nvSpPr>
        <p:spPr>
          <a:xfrm>
            <a:off x="9734550" y="3048000"/>
            <a:ext cx="1508671" cy="800100"/>
          </a:xfrm>
          <a:prstGeom prst="rect">
            <a:avLst/>
          </a:prstGeom>
          <a:noFill/>
          <a:ln/>
        </p:spPr>
        <p:txBody>
          <a:bodyPr vert="horz" wrap="square" lIns="0" tIns="0" rIns="0" bIns="0" rtlCol="0" anchor="ctr"/>
          <a:lstStyle/>
          <a:p>
            <a:pPr marL="0" indent="0">
              <a:lnSpc>
                <a:spcPts val="1575"/>
              </a:lnSpc>
              <a:buNone/>
            </a:pPr>
            <a:r>
              <a:rPr lang="en-US" sz="1575" b="1" dirty="0">
                <a:solidFill>
                  <a:srgbClr val="03071E"/>
                </a:solidFill>
                <a:latin typeface="Plus Jakarta Sans" pitchFamily="34" charset="0"/>
                <a:ea typeface="Plus Jakarta Sans" pitchFamily="34" charset="-122"/>
                <a:cs typeface="Plus Jakarta Sans" pitchFamily="34" charset="-120"/>
              </a:rPr>
              <a:t>Performeur &amp;
Compétiteur :
Profil et
Classement</a:t>
            </a:r>
            <a:endParaRPr lang="en-US" sz="1575" dirty="0"/>
          </a:p>
        </p:txBody>
      </p:sp>
      <p:sp>
        <p:nvSpPr>
          <p:cNvPr id="14" name="Text 6"/>
          <p:cNvSpPr/>
          <p:nvPr/>
        </p:nvSpPr>
        <p:spPr>
          <a:xfrm>
            <a:off x="7477125" y="3829050"/>
            <a:ext cx="1896368" cy="628650"/>
          </a:xfrm>
          <a:prstGeom prst="rect">
            <a:avLst/>
          </a:prstGeom>
          <a:noFill/>
          <a:ln/>
        </p:spPr>
        <p:txBody>
          <a:bodyPr vert="horz" wrap="square" lIns="0" tIns="0" rIns="0" bIns="0" rtlCol="0" anchor="ctr"/>
          <a:lstStyle/>
          <a:p>
            <a:pPr marL="0" indent="0">
              <a:lnSpc>
                <a:spcPts val="1650"/>
              </a:lnSpc>
              <a:buNone/>
            </a:pPr>
            <a:r>
              <a:rPr lang="en-US" sz="1650" b="1" dirty="0">
                <a:solidFill>
                  <a:srgbClr val="03071E"/>
                </a:solidFill>
                <a:latin typeface="Plus Jakarta Sans" pitchFamily="34" charset="0"/>
                <a:ea typeface="Plus Jakarta Sans" pitchFamily="34" charset="-122"/>
                <a:cs typeface="Plus Jakarta Sans" pitchFamily="34" charset="-120"/>
              </a:rPr>
              <a:t>Coureur : Suivi et
Validation de
Boucle</a:t>
            </a:r>
            <a:endParaRPr lang="en-US" sz="1650" dirty="0"/>
          </a:p>
        </p:txBody>
      </p:sp>
      <p:sp>
        <p:nvSpPr>
          <p:cNvPr id="15" name="Text 7"/>
          <p:cNvSpPr/>
          <p:nvPr/>
        </p:nvSpPr>
        <p:spPr>
          <a:xfrm>
            <a:off x="723900" y="3829050"/>
            <a:ext cx="2084933" cy="1234083"/>
          </a:xfrm>
          <a:prstGeom prst="rect">
            <a:avLst/>
          </a:prstGeom>
          <a:noFill/>
          <a:ln/>
        </p:spPr>
        <p:txBody>
          <a:bodyPr vert="horz" wrap="square" lIns="0" tIns="0" rIns="0" bIns="0" rtlCol="0" anchor="ctr"/>
          <a:lstStyle/>
          <a:p>
            <a:pPr marL="0" indent="0">
              <a:lnSpc>
                <a:spcPts val="1620"/>
              </a:lnSpc>
              <a:buNone/>
            </a:pPr>
            <a:r>
              <a:rPr lang="en-US" sz="1350" dirty="0">
                <a:solidFill>
                  <a:srgbClr val="03071E"/>
                </a:solidFill>
                <a:latin typeface="Plus Jakarta Sans" pitchFamily="34" charset="0"/>
                <a:ea typeface="Plus Jakarta Sans" pitchFamily="34" charset="-122"/>
                <a:cs typeface="Plus Jakarta Sans" pitchFamily="34" charset="-120"/>
              </a:rPr>
              <a:t>Je m'authentifie pour
accéder à mon compte
sécurisé et retrouver
mes données
personnelles et
territoires conquis.</a:t>
            </a:r>
            <a:endParaRPr lang="en-US" sz="1350" dirty="0"/>
          </a:p>
        </p:txBody>
      </p:sp>
      <p:sp>
        <p:nvSpPr>
          <p:cNvPr id="16" name="Text 8"/>
          <p:cNvSpPr/>
          <p:nvPr/>
        </p:nvSpPr>
        <p:spPr>
          <a:xfrm>
            <a:off x="2971800" y="4752975"/>
            <a:ext cx="1885950" cy="1234083"/>
          </a:xfrm>
          <a:prstGeom prst="rect">
            <a:avLst/>
          </a:prstGeom>
          <a:noFill/>
          <a:ln/>
        </p:spPr>
        <p:txBody>
          <a:bodyPr vert="horz" wrap="square" lIns="0" tIns="0" rIns="0" bIns="0" rtlCol="0" anchor="ctr"/>
          <a:lstStyle/>
          <a:p>
            <a:pPr marL="0" indent="0">
              <a:lnSpc>
                <a:spcPts val="1620"/>
              </a:lnSpc>
              <a:buNone/>
            </a:pPr>
            <a:r>
              <a:rPr lang="en-US" sz="1350" dirty="0">
                <a:solidFill>
                  <a:srgbClr val="03071E"/>
                </a:solidFill>
                <a:latin typeface="Plus Jakarta Sans" pitchFamily="34" charset="0"/>
                <a:ea typeface="Plus Jakarta Sans" pitchFamily="34" charset="-122"/>
                <a:cs typeface="Plus Jakarta Sans" pitchFamily="34" charset="-120"/>
              </a:rPr>
              <a:t>Je visualise la carte
pour voir mes
territoires conquis et
identifier les zones
colorées de mes
rivaux.</a:t>
            </a:r>
            <a:endParaRPr lang="en-US" sz="1350" dirty="0"/>
          </a:p>
        </p:txBody>
      </p:sp>
      <p:sp>
        <p:nvSpPr>
          <p:cNvPr id="17" name="Text 9"/>
          <p:cNvSpPr/>
          <p:nvPr/>
        </p:nvSpPr>
        <p:spPr>
          <a:xfrm>
            <a:off x="5257800" y="3829050"/>
            <a:ext cx="1948755" cy="1302841"/>
          </a:xfrm>
          <a:prstGeom prst="rect">
            <a:avLst/>
          </a:prstGeom>
          <a:noFill/>
          <a:ln/>
        </p:spPr>
        <p:txBody>
          <a:bodyPr vert="horz" wrap="square" lIns="0" tIns="0" rIns="0" bIns="0" rtlCol="0" anchor="ctr"/>
          <a:lstStyle/>
          <a:p>
            <a:pPr marL="0" indent="0">
              <a:lnSpc>
                <a:spcPts val="1710"/>
              </a:lnSpc>
              <a:buNone/>
            </a:pPr>
            <a:r>
              <a:rPr lang="en-US" sz="1425" dirty="0">
                <a:solidFill>
                  <a:srgbClr val="03071E"/>
                </a:solidFill>
                <a:latin typeface="Plus Jakarta Sans" pitchFamily="34" charset="0"/>
                <a:ea typeface="Plus Jakarta Sans" pitchFamily="34" charset="-122"/>
                <a:cs typeface="Plus Jakarta Sans" pitchFamily="34" charset="-120"/>
              </a:rPr>
              <a:t>Je m'approprie un
territoire adverse en
ciblant une zone et
en l'encapsulant via
via une course d'une
surface plus grande.</a:t>
            </a:r>
            <a:endParaRPr lang="en-US" sz="1425" dirty="0"/>
          </a:p>
        </p:txBody>
      </p:sp>
      <p:sp>
        <p:nvSpPr>
          <p:cNvPr id="18" name="Text 10"/>
          <p:cNvSpPr/>
          <p:nvPr/>
        </p:nvSpPr>
        <p:spPr>
          <a:xfrm>
            <a:off x="9734550" y="3990975"/>
            <a:ext cx="2001143" cy="1234083"/>
          </a:xfrm>
          <a:prstGeom prst="rect">
            <a:avLst/>
          </a:prstGeom>
          <a:noFill/>
          <a:ln/>
        </p:spPr>
        <p:txBody>
          <a:bodyPr vert="horz" wrap="square" lIns="0" tIns="0" rIns="0" bIns="0" rtlCol="0" anchor="ctr"/>
          <a:lstStyle/>
          <a:p>
            <a:pPr marL="0" indent="0">
              <a:lnSpc>
                <a:spcPts val="1620"/>
              </a:lnSpc>
              <a:buNone/>
            </a:pPr>
            <a:r>
              <a:rPr lang="en-US" sz="1350" dirty="0">
                <a:solidFill>
                  <a:srgbClr val="03071E"/>
                </a:solidFill>
                <a:latin typeface="Plus Jakarta Sans" pitchFamily="34" charset="0"/>
                <a:ea typeface="Plus Jakarta Sans" pitchFamily="34" charset="-122"/>
                <a:cs typeface="Plus Jakarta Sans" pitchFamily="34" charset="-120"/>
              </a:rPr>
              <a:t>Je consulte ma surface
totale et mes records,
et je visite le
Leaderboard pour voir
le classement des
athlètes.</a:t>
            </a:r>
            <a:endParaRPr lang="en-US" sz="1350" dirty="0"/>
          </a:p>
        </p:txBody>
      </p:sp>
      <p:sp>
        <p:nvSpPr>
          <p:cNvPr id="19" name="Text 11"/>
          <p:cNvSpPr/>
          <p:nvPr/>
        </p:nvSpPr>
        <p:spPr>
          <a:xfrm>
            <a:off x="7477125" y="4752975"/>
            <a:ext cx="1959173" cy="1234083"/>
          </a:xfrm>
          <a:prstGeom prst="rect">
            <a:avLst/>
          </a:prstGeom>
          <a:noFill/>
          <a:ln/>
        </p:spPr>
        <p:txBody>
          <a:bodyPr vert="horz" wrap="square" lIns="0" tIns="0" rIns="0" bIns="0" rtlCol="0" anchor="ctr"/>
          <a:lstStyle/>
          <a:p>
            <a:pPr marL="0" indent="0">
              <a:lnSpc>
                <a:spcPts val="1620"/>
              </a:lnSpc>
              <a:buNone/>
            </a:pPr>
            <a:r>
              <a:rPr lang="en-US" sz="1350" dirty="0">
                <a:solidFill>
                  <a:srgbClr val="03071E"/>
                </a:solidFill>
                <a:latin typeface="Plus Jakarta Sans" pitchFamily="34" charset="0"/>
                <a:ea typeface="Plus Jakarta Sans" pitchFamily="34" charset="-122"/>
                <a:cs typeface="Plus Jakarta Sans" pitchFamily="34" charset="-120"/>
              </a:rPr>
              <a:t>J'utilise Start pour
lancer le suivi GPS. Au
retour, je valide la
boucle pour colorer
instantanément le
nouveau territoire.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8071098" y="1467594"/>
            <a:ext cx="3084463" cy="4450705"/>
          </a:xfrm>
          <a:prstGeom prst="rect">
            <a:avLst/>
          </a:prstGeom>
        </p:spPr>
      </p:pic>
      <p:pic>
        <p:nvPicPr>
          <p:cNvPr id="4" name="Image 2" descr="preencoded.png"/>
          <p:cNvPicPr>
            <a:picLocks noChangeAspect="1"/>
          </p:cNvPicPr>
          <p:nvPr/>
        </p:nvPicPr>
        <p:blipFill>
          <a:blip r:embed="rId5"/>
          <a:stretch>
            <a:fillRect/>
          </a:stretch>
        </p:blipFill>
        <p:spPr>
          <a:xfrm>
            <a:off x="889992" y="5191423"/>
            <a:ext cx="487561" cy="459432"/>
          </a:xfrm>
          <a:prstGeom prst="rect">
            <a:avLst/>
          </a:prstGeom>
        </p:spPr>
      </p:pic>
      <p:pic>
        <p:nvPicPr>
          <p:cNvPr id="5" name="Image 3" descr="preencoded.png"/>
          <p:cNvPicPr>
            <a:picLocks noChangeAspect="1"/>
          </p:cNvPicPr>
          <p:nvPr/>
        </p:nvPicPr>
        <p:blipFill>
          <a:blip r:embed="rId6"/>
          <a:stretch>
            <a:fillRect/>
          </a:stretch>
        </p:blipFill>
        <p:spPr>
          <a:xfrm>
            <a:off x="938659" y="3017490"/>
            <a:ext cx="377875" cy="473125"/>
          </a:xfrm>
          <a:prstGeom prst="rect">
            <a:avLst/>
          </a:prstGeom>
        </p:spPr>
      </p:pic>
      <p:sp>
        <p:nvSpPr>
          <p:cNvPr id="6" name="Text 0"/>
          <p:cNvSpPr/>
          <p:nvPr/>
        </p:nvSpPr>
        <p:spPr>
          <a:xfrm>
            <a:off x="895350" y="1152525"/>
            <a:ext cx="8641080" cy="476101"/>
          </a:xfrm>
          <a:prstGeom prst="rect">
            <a:avLst/>
          </a:prstGeom>
          <a:noFill/>
          <a:ln/>
        </p:spPr>
        <p:txBody>
          <a:bodyPr vert="horz" wrap="square" lIns="0" tIns="0" rIns="0" bIns="0" rtlCol="0" anchor="ctr"/>
          <a:lstStyle/>
          <a:p>
            <a:pPr marL="0" indent="0">
              <a:lnSpc>
                <a:spcPts val="3749"/>
              </a:lnSpc>
              <a:buNone/>
            </a:pPr>
            <a:r>
              <a:rPr lang="en-US" sz="3150" b="1" dirty="0">
                <a:solidFill>
                  <a:srgbClr val="0B1A42"/>
                </a:solidFill>
                <a:latin typeface="Plus Jakarta Sans" pitchFamily="34" charset="0"/>
                <a:ea typeface="Plus Jakarta Sans" pitchFamily="34" charset="-122"/>
                <a:cs typeface="Plus Jakarta Sans" pitchFamily="34" charset="-120"/>
              </a:rPr>
              <a:t>Résultats attendus</a:t>
            </a:r>
            <a:endParaRPr lang="en-US" sz="3150" dirty="0"/>
          </a:p>
        </p:txBody>
      </p:sp>
      <p:sp>
        <p:nvSpPr>
          <p:cNvPr id="7" name="Text 1"/>
          <p:cNvSpPr/>
          <p:nvPr/>
        </p:nvSpPr>
        <p:spPr>
          <a:xfrm>
            <a:off x="533400" y="266700"/>
            <a:ext cx="5897880" cy="238274"/>
          </a:xfrm>
          <a:prstGeom prst="rect">
            <a:avLst/>
          </a:prstGeom>
          <a:noFill/>
          <a:ln/>
        </p:spPr>
        <p:txBody>
          <a:bodyPr vert="horz" wrap="square" lIns="0" tIns="0" rIns="0" bIns="0" rtlCol="0" anchor="ctr"/>
          <a:lstStyle/>
          <a:p>
            <a:pPr marL="0" indent="0">
              <a:lnSpc>
                <a:spcPts val="1877"/>
              </a:lnSpc>
              <a:buNone/>
            </a:pPr>
            <a:endParaRPr lang="en-US" sz="1350" dirty="0"/>
          </a:p>
        </p:txBody>
      </p:sp>
      <p:sp>
        <p:nvSpPr>
          <p:cNvPr id="8" name="Text 2"/>
          <p:cNvSpPr/>
          <p:nvPr/>
        </p:nvSpPr>
        <p:spPr>
          <a:xfrm>
            <a:off x="1571625" y="2286000"/>
            <a:ext cx="6254948" cy="1853357"/>
          </a:xfrm>
          <a:prstGeom prst="rect">
            <a:avLst/>
          </a:prstGeom>
          <a:noFill/>
          <a:ln/>
        </p:spPr>
        <p:txBody>
          <a:bodyPr vert="horz" wrap="square" lIns="0" tIns="0" rIns="0" bIns="0" rtlCol="0" anchor="ctr"/>
          <a:lstStyle/>
          <a:p>
            <a:pPr marL="0" indent="0">
              <a:lnSpc>
                <a:spcPts val="2085"/>
              </a:lnSpc>
              <a:buNone/>
            </a:pPr>
            <a:r>
              <a:rPr lang="en-US" sz="1500" dirty="0">
                <a:solidFill>
                  <a:srgbClr val="0B1A42"/>
                </a:solidFill>
                <a:latin typeface="Plus Jakarta Sans" pitchFamily="34" charset="0"/>
                <a:ea typeface="Plus Jakarta Sans" pitchFamily="34" charset="-122"/>
                <a:cs typeface="Plus Jakarta Sans" pitchFamily="34" charset="-120"/>
              </a:rPr>
              <a:t>Sur le plan technique, l'application exploite la
géolocalisation GPS et une interface cartographique
interactive pour traduire chaque déplacement réel en
territoires visibles et mesurables. L'interface permet à
l'utilisateur de visualiser directement ses zones
conquises, sa progression et son positionnement, à
travers une représentation claire, intuitive et engageante.</a:t>
            </a:r>
            <a:endParaRPr lang="en-US" sz="1500" dirty="0"/>
          </a:p>
        </p:txBody>
      </p:sp>
      <p:sp>
        <p:nvSpPr>
          <p:cNvPr id="9" name="Text 3"/>
          <p:cNvSpPr/>
          <p:nvPr/>
        </p:nvSpPr>
        <p:spPr>
          <a:xfrm>
            <a:off x="1571625" y="4581525"/>
            <a:ext cx="6234113" cy="1588591"/>
          </a:xfrm>
          <a:prstGeom prst="rect">
            <a:avLst/>
          </a:prstGeom>
          <a:noFill/>
          <a:ln/>
        </p:spPr>
        <p:txBody>
          <a:bodyPr vert="horz" wrap="square" lIns="0" tIns="0" rIns="0" bIns="0" rtlCol="0" anchor="ctr"/>
          <a:lstStyle/>
          <a:p>
            <a:pPr marL="0" indent="0">
              <a:lnSpc>
                <a:spcPts val="2085"/>
              </a:lnSpc>
              <a:buNone/>
            </a:pPr>
            <a:r>
              <a:rPr lang="en-US" sz="1500" dirty="0">
                <a:solidFill>
                  <a:srgbClr val="0B1A42"/>
                </a:solidFill>
                <a:latin typeface="Plus Jakarta Sans" pitchFamily="34" charset="0"/>
                <a:ea typeface="Plus Jakarta Sans" pitchFamily="34" charset="-122"/>
                <a:cs typeface="Plus Jakarta Sans" pitchFamily="34" charset="-120"/>
              </a:rPr>
              <a:t>Au-delà de l'aspect fonctionnel, Heatmap répond à un
besoin fondamental : donner du sens à l'effort.
L'utilisateur ne voit plus seulement des chiffres, mais une
trace concrète de sa persévérance. Chaque parcours
devient une construction visible, chaque effort
contribue à une évolution personnelle.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680377" y="4142184"/>
            <a:ext cx="1853059" cy="1714500"/>
          </a:xfrm>
          <a:prstGeom prst="rect">
            <a:avLst/>
          </a:prstGeom>
        </p:spPr>
      </p:pic>
      <p:pic>
        <p:nvPicPr>
          <p:cNvPr id="4" name="Image 2" descr="preencoded.png"/>
          <p:cNvPicPr>
            <a:picLocks noChangeAspect="1"/>
          </p:cNvPicPr>
          <p:nvPr/>
        </p:nvPicPr>
        <p:blipFill>
          <a:blip r:embed="rId5"/>
          <a:stretch>
            <a:fillRect/>
          </a:stretch>
        </p:blipFill>
        <p:spPr>
          <a:xfrm>
            <a:off x="9680377" y="1728192"/>
            <a:ext cx="463153" cy="459432"/>
          </a:xfrm>
          <a:prstGeom prst="rect">
            <a:avLst/>
          </a:prstGeom>
        </p:spPr>
      </p:pic>
      <p:pic>
        <p:nvPicPr>
          <p:cNvPr id="5" name="Image 3" descr="preencoded.png"/>
          <p:cNvPicPr>
            <a:picLocks noChangeAspect="1"/>
          </p:cNvPicPr>
          <p:nvPr/>
        </p:nvPicPr>
        <p:blipFill>
          <a:blip r:embed="rId6"/>
          <a:stretch>
            <a:fillRect/>
          </a:stretch>
        </p:blipFill>
        <p:spPr>
          <a:xfrm>
            <a:off x="7388275" y="4395936"/>
            <a:ext cx="1889671" cy="1625203"/>
          </a:xfrm>
          <a:prstGeom prst="rect">
            <a:avLst/>
          </a:prstGeom>
        </p:spPr>
      </p:pic>
      <p:pic>
        <p:nvPicPr>
          <p:cNvPr id="6" name="Image 4" descr="preencoded.png"/>
          <p:cNvPicPr>
            <a:picLocks noChangeAspect="1"/>
          </p:cNvPicPr>
          <p:nvPr/>
        </p:nvPicPr>
        <p:blipFill>
          <a:blip r:embed="rId7"/>
          <a:stretch>
            <a:fillRect/>
          </a:stretch>
        </p:blipFill>
        <p:spPr>
          <a:xfrm>
            <a:off x="7449294" y="1748730"/>
            <a:ext cx="719286" cy="432048"/>
          </a:xfrm>
          <a:prstGeom prst="rect">
            <a:avLst/>
          </a:prstGeom>
        </p:spPr>
      </p:pic>
      <p:pic>
        <p:nvPicPr>
          <p:cNvPr id="7" name="Image 5" descr="preencoded.png"/>
          <p:cNvPicPr>
            <a:picLocks noChangeAspect="1"/>
          </p:cNvPicPr>
          <p:nvPr/>
        </p:nvPicPr>
        <p:blipFill>
          <a:blip r:embed="rId8"/>
          <a:stretch>
            <a:fillRect/>
          </a:stretch>
        </p:blipFill>
        <p:spPr>
          <a:xfrm>
            <a:off x="5218063" y="4622155"/>
            <a:ext cx="1767780" cy="1419523"/>
          </a:xfrm>
          <a:prstGeom prst="rect">
            <a:avLst/>
          </a:prstGeom>
        </p:spPr>
      </p:pic>
      <p:pic>
        <p:nvPicPr>
          <p:cNvPr id="8" name="Image 6" descr="preencoded.png"/>
          <p:cNvPicPr>
            <a:picLocks noChangeAspect="1"/>
          </p:cNvPicPr>
          <p:nvPr/>
        </p:nvPicPr>
        <p:blipFill>
          <a:blip r:embed="rId9"/>
          <a:stretch>
            <a:fillRect/>
          </a:stretch>
        </p:blipFill>
        <p:spPr>
          <a:xfrm>
            <a:off x="5181600" y="1741884"/>
            <a:ext cx="426690" cy="432048"/>
          </a:xfrm>
          <a:prstGeom prst="rect">
            <a:avLst/>
          </a:prstGeom>
        </p:spPr>
      </p:pic>
      <p:pic>
        <p:nvPicPr>
          <p:cNvPr id="9" name="Image 7" descr="preencoded.png"/>
          <p:cNvPicPr>
            <a:picLocks noChangeAspect="1"/>
          </p:cNvPicPr>
          <p:nvPr/>
        </p:nvPicPr>
        <p:blipFill>
          <a:blip r:embed="rId10"/>
          <a:stretch>
            <a:fillRect/>
          </a:stretch>
        </p:blipFill>
        <p:spPr>
          <a:xfrm>
            <a:off x="2925961" y="4347865"/>
            <a:ext cx="1828800" cy="1440061"/>
          </a:xfrm>
          <a:prstGeom prst="rect">
            <a:avLst/>
          </a:prstGeom>
        </p:spPr>
      </p:pic>
      <p:pic>
        <p:nvPicPr>
          <p:cNvPr id="10" name="Image 8" descr="preencoded.png"/>
          <p:cNvPicPr>
            <a:picLocks noChangeAspect="1"/>
          </p:cNvPicPr>
          <p:nvPr/>
        </p:nvPicPr>
        <p:blipFill>
          <a:blip r:embed="rId11"/>
          <a:stretch>
            <a:fillRect/>
          </a:stretch>
        </p:blipFill>
        <p:spPr>
          <a:xfrm>
            <a:off x="2913757" y="1748730"/>
            <a:ext cx="426690" cy="418207"/>
          </a:xfrm>
          <a:prstGeom prst="rect">
            <a:avLst/>
          </a:prstGeom>
        </p:spPr>
      </p:pic>
      <p:pic>
        <p:nvPicPr>
          <p:cNvPr id="11" name="Image 9" descr="preencoded.png"/>
          <p:cNvPicPr>
            <a:picLocks noChangeAspect="1"/>
          </p:cNvPicPr>
          <p:nvPr/>
        </p:nvPicPr>
        <p:blipFill>
          <a:blip r:embed="rId12"/>
          <a:stretch>
            <a:fillRect/>
          </a:stretch>
        </p:blipFill>
        <p:spPr>
          <a:xfrm>
            <a:off x="646063" y="4320480"/>
            <a:ext cx="1853059" cy="1584127"/>
          </a:xfrm>
          <a:prstGeom prst="rect">
            <a:avLst/>
          </a:prstGeom>
        </p:spPr>
      </p:pic>
      <p:pic>
        <p:nvPicPr>
          <p:cNvPr id="12" name="Image 10" descr="preencoded.png"/>
          <p:cNvPicPr>
            <a:picLocks noChangeAspect="1"/>
          </p:cNvPicPr>
          <p:nvPr/>
        </p:nvPicPr>
        <p:blipFill>
          <a:blip r:embed="rId13"/>
          <a:stretch>
            <a:fillRect/>
          </a:stretch>
        </p:blipFill>
        <p:spPr>
          <a:xfrm>
            <a:off x="658267" y="1741884"/>
            <a:ext cx="426690" cy="432048"/>
          </a:xfrm>
          <a:prstGeom prst="rect">
            <a:avLst/>
          </a:prstGeom>
        </p:spPr>
      </p:pic>
      <p:sp>
        <p:nvSpPr>
          <p:cNvPr id="13" name="Text 0"/>
          <p:cNvSpPr/>
          <p:nvPr/>
        </p:nvSpPr>
        <p:spPr>
          <a:xfrm>
            <a:off x="533400" y="428625"/>
            <a:ext cx="11590020" cy="464344"/>
          </a:xfrm>
          <a:prstGeom prst="rect">
            <a:avLst/>
          </a:prstGeom>
          <a:noFill/>
          <a:ln/>
        </p:spPr>
        <p:txBody>
          <a:bodyPr vert="horz" wrap="square" lIns="0" tIns="0" rIns="0" bIns="0" rtlCol="0" anchor="ctr"/>
          <a:lstStyle/>
          <a:p>
            <a:pPr marL="0" indent="0">
              <a:lnSpc>
                <a:spcPts val="3656"/>
              </a:lnSpc>
              <a:buNone/>
            </a:pPr>
            <a:r>
              <a:rPr lang="en-US" sz="2925" b="1" dirty="0">
                <a:solidFill>
                  <a:srgbClr val="000A66"/>
                </a:solidFill>
                <a:latin typeface="Plus Jakarta Sans" pitchFamily="34" charset="0"/>
                <a:ea typeface="Plus Jakarta Sans" pitchFamily="34" charset="-122"/>
                <a:cs typeface="Plus Jakarta Sans" pitchFamily="34" charset="-120"/>
              </a:rPr>
              <a:t>Faisabilité et réalisation</a:t>
            </a:r>
            <a:endParaRPr lang="en-US" sz="2925" dirty="0"/>
          </a:p>
        </p:txBody>
      </p:sp>
      <p:sp>
        <p:nvSpPr>
          <p:cNvPr id="14" name="Text 1"/>
          <p:cNvSpPr/>
          <p:nvPr/>
        </p:nvSpPr>
        <p:spPr>
          <a:xfrm>
            <a:off x="714375" y="2286000"/>
            <a:ext cx="1665833" cy="432197"/>
          </a:xfrm>
          <a:prstGeom prst="rect">
            <a:avLst/>
          </a:prstGeom>
          <a:noFill/>
          <a:ln/>
        </p:spPr>
        <p:txBody>
          <a:bodyPr vert="horz" wrap="square" lIns="0" tIns="0" rIns="0" bIns="0" rtlCol="0" anchor="ctr"/>
          <a:lstStyle/>
          <a:p>
            <a:pPr marL="0" indent="0">
              <a:lnSpc>
                <a:spcPts val="1701"/>
              </a:lnSpc>
              <a:buNone/>
            </a:pPr>
            <a:r>
              <a:rPr lang="en-US" sz="1350" b="1" dirty="0">
                <a:solidFill>
                  <a:srgbClr val="000A66"/>
                </a:solidFill>
                <a:latin typeface="Plus Jakarta Sans" pitchFamily="34" charset="0"/>
                <a:ea typeface="Plus Jakarta Sans" pitchFamily="34" charset="-122"/>
                <a:cs typeface="Plus Jakarta Sans" pitchFamily="34" charset="-120"/>
              </a:rPr>
              <a:t>Géolocalisation
GPS</a:t>
            </a:r>
            <a:endParaRPr lang="en-US" sz="1350" dirty="0"/>
          </a:p>
        </p:txBody>
      </p:sp>
      <p:sp>
        <p:nvSpPr>
          <p:cNvPr id="15" name="Text 2"/>
          <p:cNvSpPr/>
          <p:nvPr/>
        </p:nvSpPr>
        <p:spPr>
          <a:xfrm>
            <a:off x="2905125" y="2286000"/>
            <a:ext cx="1770608" cy="684014"/>
          </a:xfrm>
          <a:prstGeom prst="rect">
            <a:avLst/>
          </a:prstGeom>
          <a:noFill/>
          <a:ln/>
        </p:spPr>
        <p:txBody>
          <a:bodyPr vert="horz" wrap="square" lIns="0" tIns="0" rIns="0" bIns="0" rtlCol="0" anchor="ctr"/>
          <a:lstStyle/>
          <a:p>
            <a:pPr marL="0" indent="0">
              <a:lnSpc>
                <a:spcPts val="1796"/>
              </a:lnSpc>
              <a:buNone/>
            </a:pPr>
            <a:r>
              <a:rPr lang="en-US" sz="1425" b="1" dirty="0">
                <a:solidFill>
                  <a:srgbClr val="000A66"/>
                </a:solidFill>
                <a:latin typeface="Plus Jakarta Sans" pitchFamily="34" charset="0"/>
                <a:ea typeface="Plus Jakarta Sans" pitchFamily="34" charset="-122"/>
                <a:cs typeface="Plus Jakarta Sans" pitchFamily="34" charset="-120"/>
              </a:rPr>
              <a:t>Interface
cartographique
interactive</a:t>
            </a:r>
            <a:endParaRPr lang="en-US" sz="1425" dirty="0"/>
          </a:p>
        </p:txBody>
      </p:sp>
      <p:sp>
        <p:nvSpPr>
          <p:cNvPr id="16" name="Text 3"/>
          <p:cNvSpPr/>
          <p:nvPr/>
        </p:nvSpPr>
        <p:spPr>
          <a:xfrm>
            <a:off x="5210175" y="2286000"/>
            <a:ext cx="1676400" cy="648295"/>
          </a:xfrm>
          <a:prstGeom prst="rect">
            <a:avLst/>
          </a:prstGeom>
          <a:noFill/>
          <a:ln/>
        </p:spPr>
        <p:txBody>
          <a:bodyPr vert="horz" wrap="square" lIns="0" tIns="0" rIns="0" bIns="0" rtlCol="0" anchor="ctr"/>
          <a:lstStyle/>
          <a:p>
            <a:pPr marL="0" indent="0">
              <a:lnSpc>
                <a:spcPts val="1701"/>
              </a:lnSpc>
              <a:buNone/>
            </a:pPr>
            <a:r>
              <a:rPr lang="en-US" sz="1350" b="1" dirty="0">
                <a:solidFill>
                  <a:srgbClr val="000A66"/>
                </a:solidFill>
                <a:latin typeface="Plus Jakarta Sans" pitchFamily="34" charset="0"/>
                <a:ea typeface="Plus Jakarta Sans" pitchFamily="34" charset="-122"/>
                <a:cs typeface="Plus Jakarta Sans" pitchFamily="34" charset="-120"/>
              </a:rPr>
              <a:t>Système de
gestion et Base
de données</a:t>
            </a:r>
            <a:endParaRPr lang="en-US" sz="1350" dirty="0"/>
          </a:p>
        </p:txBody>
      </p:sp>
      <p:sp>
        <p:nvSpPr>
          <p:cNvPr id="17" name="Text 4"/>
          <p:cNvSpPr/>
          <p:nvPr/>
        </p:nvSpPr>
        <p:spPr>
          <a:xfrm>
            <a:off x="7515225" y="2286000"/>
            <a:ext cx="1697236" cy="408087"/>
          </a:xfrm>
          <a:prstGeom prst="rect">
            <a:avLst/>
          </a:prstGeom>
          <a:noFill/>
          <a:ln/>
        </p:spPr>
        <p:txBody>
          <a:bodyPr vert="horz" wrap="square" lIns="0" tIns="0" rIns="0" bIns="0" rtlCol="0" anchor="ctr"/>
          <a:lstStyle/>
          <a:p>
            <a:pPr marL="0" indent="0">
              <a:lnSpc>
                <a:spcPts val="1607"/>
              </a:lnSpc>
              <a:buNone/>
            </a:pPr>
            <a:r>
              <a:rPr lang="en-US" sz="1275" b="1" dirty="0">
                <a:solidFill>
                  <a:srgbClr val="000A66"/>
                </a:solidFill>
                <a:latin typeface="Plus Jakarta Sans" pitchFamily="34" charset="0"/>
                <a:ea typeface="Plus Jakarta Sans" pitchFamily="34" charset="-122"/>
                <a:cs typeface="Plus Jakarta Sans" pitchFamily="34" charset="-120"/>
              </a:rPr>
              <a:t>Leaderboard et
Profil utilisateur</a:t>
            </a:r>
            <a:endParaRPr lang="en-US" sz="1275" dirty="0"/>
          </a:p>
        </p:txBody>
      </p:sp>
      <p:sp>
        <p:nvSpPr>
          <p:cNvPr id="18" name="Text 5"/>
          <p:cNvSpPr/>
          <p:nvPr/>
        </p:nvSpPr>
        <p:spPr>
          <a:xfrm>
            <a:off x="9753600" y="2286000"/>
            <a:ext cx="1791593" cy="432197"/>
          </a:xfrm>
          <a:prstGeom prst="rect">
            <a:avLst/>
          </a:prstGeom>
          <a:noFill/>
          <a:ln/>
        </p:spPr>
        <p:txBody>
          <a:bodyPr vert="horz" wrap="square" lIns="0" tIns="0" rIns="0" bIns="0" rtlCol="0" anchor="ctr"/>
          <a:lstStyle/>
          <a:p>
            <a:pPr marL="0" indent="0">
              <a:lnSpc>
                <a:spcPts val="1701"/>
              </a:lnSpc>
              <a:buNone/>
            </a:pPr>
            <a:r>
              <a:rPr lang="en-US" sz="1350" b="1" dirty="0">
                <a:solidFill>
                  <a:srgbClr val="000A66"/>
                </a:solidFill>
                <a:latin typeface="Plus Jakarta Sans" pitchFamily="34" charset="0"/>
                <a:ea typeface="Plus Jakarta Sans" pitchFamily="34" charset="-122"/>
                <a:cs typeface="Plus Jakarta Sans" pitchFamily="34" charset="-120"/>
              </a:rPr>
              <a:t>Méthodologie de
développement</a:t>
            </a:r>
            <a:endParaRPr lang="en-US" sz="1350" dirty="0"/>
          </a:p>
        </p:txBody>
      </p:sp>
      <p:sp>
        <p:nvSpPr>
          <p:cNvPr id="19" name="Text 6"/>
          <p:cNvSpPr/>
          <p:nvPr/>
        </p:nvSpPr>
        <p:spPr>
          <a:xfrm>
            <a:off x="657225" y="2962275"/>
            <a:ext cx="2210693" cy="625971"/>
          </a:xfrm>
          <a:prstGeom prst="rect">
            <a:avLst/>
          </a:prstGeom>
          <a:noFill/>
          <a:ln/>
        </p:spPr>
        <p:txBody>
          <a:bodyPr vert="horz" wrap="square" lIns="0" tIns="0" rIns="0" bIns="0" rtlCol="0" anchor="ctr"/>
          <a:lstStyle/>
          <a:p>
            <a:pPr marL="0" indent="0">
              <a:lnSpc>
                <a:spcPts val="1642"/>
              </a:lnSpc>
              <a:buNone/>
            </a:pPr>
            <a:r>
              <a:rPr lang="en-US" sz="1125" dirty="0">
                <a:solidFill>
                  <a:srgbClr val="000A66"/>
                </a:solidFill>
                <a:latin typeface="Plus Jakarta Sans" pitchFamily="34" charset="0"/>
                <a:ea typeface="Plus Jakarta Sans" pitchFamily="34" charset="-122"/>
                <a:cs typeface="Plus Jakarta Sans" pitchFamily="34" charset="-120"/>
              </a:rPr>
              <a:t>pour suivre la position de
l'utilisateur en temps réel
pendant l'activité.</a:t>
            </a:r>
            <a:endParaRPr lang="en-US" sz="1125" dirty="0"/>
          </a:p>
        </p:txBody>
      </p:sp>
      <p:sp>
        <p:nvSpPr>
          <p:cNvPr id="20" name="Text 7"/>
          <p:cNvSpPr/>
          <p:nvPr/>
        </p:nvSpPr>
        <p:spPr>
          <a:xfrm>
            <a:off x="2905125" y="3143250"/>
            <a:ext cx="2200275" cy="625971"/>
          </a:xfrm>
          <a:prstGeom prst="rect">
            <a:avLst/>
          </a:prstGeom>
          <a:noFill/>
          <a:ln/>
        </p:spPr>
        <p:txBody>
          <a:bodyPr vert="horz" wrap="square" lIns="0" tIns="0" rIns="0" bIns="0" rtlCol="0" anchor="ctr"/>
          <a:lstStyle/>
          <a:p>
            <a:pPr marL="0" indent="0">
              <a:lnSpc>
                <a:spcPts val="1642"/>
              </a:lnSpc>
              <a:buNone/>
            </a:pPr>
            <a:r>
              <a:rPr lang="en-US" sz="1125" dirty="0">
                <a:solidFill>
                  <a:srgbClr val="000A66"/>
                </a:solidFill>
                <a:latin typeface="Plus Jakarta Sans" pitchFamily="34" charset="0"/>
                <a:ea typeface="Plus Jakarta Sans" pitchFamily="34" charset="-122"/>
                <a:cs typeface="Plus Jakarta Sans" pitchFamily="34" charset="-120"/>
              </a:rPr>
              <a:t>pour visualiser clairement
les territoires conquis et
ceux restant à explorer.</a:t>
            </a:r>
            <a:endParaRPr lang="en-US" sz="1125" dirty="0"/>
          </a:p>
        </p:txBody>
      </p:sp>
      <p:sp>
        <p:nvSpPr>
          <p:cNvPr id="21" name="Text 8"/>
          <p:cNvSpPr/>
          <p:nvPr/>
        </p:nvSpPr>
        <p:spPr>
          <a:xfrm>
            <a:off x="5210175" y="3067050"/>
            <a:ext cx="2043113" cy="1669256"/>
          </a:xfrm>
          <a:prstGeom prst="rect">
            <a:avLst/>
          </a:prstGeom>
          <a:noFill/>
          <a:ln/>
        </p:spPr>
        <p:txBody>
          <a:bodyPr vert="horz" wrap="square" lIns="0" tIns="0" rIns="0" bIns="0" rtlCol="0" anchor="ctr"/>
          <a:lstStyle/>
          <a:p>
            <a:pPr marL="0" indent="0">
              <a:lnSpc>
                <a:spcPts val="1642"/>
              </a:lnSpc>
              <a:buNone/>
            </a:pPr>
            <a:r>
              <a:rPr lang="en-US" sz="1125" dirty="0">
                <a:solidFill>
                  <a:srgbClr val="000A66"/>
                </a:solidFill>
                <a:latin typeface="Plus Jakarta Sans" pitchFamily="34" charset="0"/>
                <a:ea typeface="Plus Jakarta Sans" pitchFamily="34" charset="-122"/>
                <a:cs typeface="Plus Jakarta Sans" pitchFamily="34" charset="-120"/>
              </a:rPr>
              <a:t>permettant d'identifier,
attribuer et afficher les
zones appropriées;
stocker les territoires
conquis, les
performances et les
informations du profil
utilisateur.</a:t>
            </a:r>
            <a:endParaRPr lang="en-US" sz="1125" dirty="0"/>
          </a:p>
        </p:txBody>
      </p:sp>
      <p:sp>
        <p:nvSpPr>
          <p:cNvPr id="22" name="Text 9"/>
          <p:cNvSpPr/>
          <p:nvPr/>
        </p:nvSpPr>
        <p:spPr>
          <a:xfrm>
            <a:off x="7515225" y="2962275"/>
            <a:ext cx="2053530" cy="1168003"/>
          </a:xfrm>
          <a:prstGeom prst="rect">
            <a:avLst/>
          </a:prstGeom>
          <a:noFill/>
          <a:ln/>
        </p:spPr>
        <p:txBody>
          <a:bodyPr vert="horz" wrap="square" lIns="0" tIns="0" rIns="0" bIns="0" rtlCol="0" anchor="ctr"/>
          <a:lstStyle/>
          <a:p>
            <a:pPr marL="0" indent="0">
              <a:lnSpc>
                <a:spcPts val="1533"/>
              </a:lnSpc>
              <a:buNone/>
            </a:pPr>
            <a:r>
              <a:rPr lang="en-US" sz="1050" dirty="0">
                <a:solidFill>
                  <a:srgbClr val="000A66"/>
                </a:solidFill>
                <a:latin typeface="Plus Jakarta Sans" pitchFamily="34" charset="0"/>
                <a:ea typeface="Plus Jakarta Sans" pitchFamily="34" charset="-122"/>
                <a:cs typeface="Plus Jakarta Sans" pitchFamily="34" charset="-120"/>
              </a:rPr>
              <a:t>pour classer les
utilisateurs selon leur
performance territoriale et
afficher l'historique et
la visualisation des
territoires déjà conquis.</a:t>
            </a:r>
            <a:endParaRPr lang="en-US" sz="1050" dirty="0"/>
          </a:p>
        </p:txBody>
      </p:sp>
      <p:sp>
        <p:nvSpPr>
          <p:cNvPr id="23" name="Text 10"/>
          <p:cNvSpPr/>
          <p:nvPr/>
        </p:nvSpPr>
        <p:spPr>
          <a:xfrm>
            <a:off x="9753600" y="2962275"/>
            <a:ext cx="1990725" cy="834628"/>
          </a:xfrm>
          <a:prstGeom prst="rect">
            <a:avLst/>
          </a:prstGeom>
          <a:noFill/>
          <a:ln/>
        </p:spPr>
        <p:txBody>
          <a:bodyPr vert="horz" wrap="square" lIns="0" tIns="0" rIns="0" bIns="0" rtlCol="0" anchor="ctr"/>
          <a:lstStyle/>
          <a:p>
            <a:pPr marL="0" indent="0">
              <a:lnSpc>
                <a:spcPts val="1642"/>
              </a:lnSpc>
              <a:buNone/>
            </a:pPr>
            <a:r>
              <a:rPr lang="en-US" sz="1125" dirty="0">
                <a:solidFill>
                  <a:srgbClr val="000A66"/>
                </a:solidFill>
                <a:latin typeface="Plus Jakarta Sans" pitchFamily="34" charset="0"/>
                <a:ea typeface="Plus Jakarta Sans" pitchFamily="34" charset="-122"/>
                <a:cs typeface="Plus Jakarta Sans" pitchFamily="34" charset="-120"/>
              </a:rPr>
              <a:t>Le développement sera
réalisé progressivement
selon une approche
structurée et itérative.</a:t>
            </a:r>
            <a:endParaRPr lang="en-US" sz="1125" dirty="0"/>
          </a:p>
        </p:txBody>
      </p:sp>
      <p:sp>
        <p:nvSpPr>
          <p:cNvPr id="24" name="Text 11"/>
          <p:cNvSpPr/>
          <p:nvPr/>
        </p:nvSpPr>
        <p:spPr>
          <a:xfrm>
            <a:off x="533400" y="1028700"/>
            <a:ext cx="23888700" cy="278755"/>
          </a:xfrm>
          <a:prstGeom prst="rect">
            <a:avLst/>
          </a:prstGeom>
          <a:noFill/>
          <a:ln/>
        </p:spPr>
        <p:txBody>
          <a:bodyPr vert="horz" wrap="square" lIns="0" tIns="0" rIns="0" bIns="0" rtlCol="0" anchor="ctr"/>
          <a:lstStyle/>
          <a:p>
            <a:pPr marL="0" indent="0">
              <a:lnSpc>
                <a:spcPts val="2195"/>
              </a:lnSpc>
              <a:buNone/>
            </a:pPr>
            <a:r>
              <a:rPr lang="en-US" sz="1650" dirty="0">
                <a:solidFill>
                  <a:srgbClr val="000A66"/>
                </a:solidFill>
                <a:latin typeface="Plus Jakarta Sans" pitchFamily="34" charset="0"/>
                <a:ea typeface="Plus Jakarta Sans" pitchFamily="34" charset="-122"/>
                <a:cs typeface="Plus Jakarta Sans" pitchFamily="34" charset="-120"/>
              </a:rPr>
              <a:t>Le projet sera développé sous forme d'application mobile basée sur les technologies suivantes :</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8412361" y="4053036"/>
            <a:ext cx="499765" cy="438894"/>
          </a:xfrm>
          <a:prstGeom prst="rect">
            <a:avLst/>
          </a:prstGeom>
        </p:spPr>
      </p:pic>
      <p:pic>
        <p:nvPicPr>
          <p:cNvPr id="4" name="Image 2" descr="preencoded.png"/>
          <p:cNvPicPr>
            <a:picLocks noChangeAspect="1"/>
          </p:cNvPicPr>
          <p:nvPr/>
        </p:nvPicPr>
        <p:blipFill>
          <a:blip r:embed="rId5"/>
          <a:stretch>
            <a:fillRect/>
          </a:stretch>
        </p:blipFill>
        <p:spPr>
          <a:xfrm>
            <a:off x="4681686" y="4073575"/>
            <a:ext cx="463153" cy="404515"/>
          </a:xfrm>
          <a:prstGeom prst="rect">
            <a:avLst/>
          </a:prstGeom>
        </p:spPr>
      </p:pic>
      <p:pic>
        <p:nvPicPr>
          <p:cNvPr id="5" name="Image 3" descr="preencoded.png"/>
          <p:cNvPicPr>
            <a:picLocks noChangeAspect="1"/>
          </p:cNvPicPr>
          <p:nvPr/>
        </p:nvPicPr>
        <p:blipFill>
          <a:blip r:embed="rId6"/>
          <a:stretch>
            <a:fillRect/>
          </a:stretch>
        </p:blipFill>
        <p:spPr>
          <a:xfrm>
            <a:off x="902196" y="4053036"/>
            <a:ext cx="487561" cy="438894"/>
          </a:xfrm>
          <a:prstGeom prst="rect">
            <a:avLst/>
          </a:prstGeom>
        </p:spPr>
      </p:pic>
      <p:pic>
        <p:nvPicPr>
          <p:cNvPr id="6" name="Image 4" descr="preencoded.png"/>
          <p:cNvPicPr>
            <a:picLocks noChangeAspect="1"/>
          </p:cNvPicPr>
          <p:nvPr/>
        </p:nvPicPr>
        <p:blipFill>
          <a:blip r:embed="rId7"/>
          <a:stretch>
            <a:fillRect/>
          </a:stretch>
        </p:blipFill>
        <p:spPr>
          <a:xfrm>
            <a:off x="6534894" y="1405830"/>
            <a:ext cx="5071765" cy="1735038"/>
          </a:xfrm>
          <a:prstGeom prst="rect">
            <a:avLst/>
          </a:prstGeom>
        </p:spPr>
      </p:pic>
      <p:sp>
        <p:nvSpPr>
          <p:cNvPr id="7" name="Text 0"/>
          <p:cNvSpPr/>
          <p:nvPr/>
        </p:nvSpPr>
        <p:spPr>
          <a:xfrm>
            <a:off x="619125" y="400050"/>
            <a:ext cx="15041880" cy="537270"/>
          </a:xfrm>
          <a:prstGeom prst="rect">
            <a:avLst/>
          </a:prstGeom>
          <a:noFill/>
          <a:ln/>
        </p:spPr>
        <p:txBody>
          <a:bodyPr vert="horz" wrap="square" lIns="0" tIns="0" rIns="0" bIns="0" rtlCol="0" anchor="ctr"/>
          <a:lstStyle/>
          <a:p>
            <a:pPr marL="0" indent="0">
              <a:lnSpc>
                <a:spcPts val="4230"/>
              </a:lnSpc>
              <a:buNone/>
            </a:pPr>
            <a:r>
              <a:rPr lang="en-US" sz="3525" b="1" dirty="0">
                <a:solidFill>
                  <a:srgbClr val="0B1A30"/>
                </a:solidFill>
                <a:latin typeface="Hubot Sans" pitchFamily="34" charset="0"/>
                <a:ea typeface="Hubot Sans" pitchFamily="34" charset="-122"/>
                <a:cs typeface="Hubot Sans" pitchFamily="34" charset="-120"/>
              </a:rPr>
              <a:t>Innovation et valeur ajoutée</a:t>
            </a:r>
            <a:endParaRPr lang="en-US" sz="3525" dirty="0"/>
          </a:p>
        </p:txBody>
      </p:sp>
      <p:sp>
        <p:nvSpPr>
          <p:cNvPr id="8" name="Text 1"/>
          <p:cNvSpPr/>
          <p:nvPr/>
        </p:nvSpPr>
        <p:spPr>
          <a:xfrm>
            <a:off x="628650" y="1733550"/>
            <a:ext cx="12344400" cy="388590"/>
          </a:xfrm>
          <a:prstGeom prst="rect">
            <a:avLst/>
          </a:prstGeom>
          <a:noFill/>
          <a:ln/>
        </p:spPr>
        <p:txBody>
          <a:bodyPr vert="horz" wrap="square" lIns="0" tIns="0" rIns="0" bIns="0" rtlCol="0" anchor="ctr"/>
          <a:lstStyle/>
          <a:p>
            <a:pPr marL="0" indent="0">
              <a:lnSpc>
                <a:spcPts val="3060"/>
              </a:lnSpc>
              <a:buNone/>
            </a:pPr>
            <a:r>
              <a:rPr lang="en-US" sz="2250" b="1" dirty="0">
                <a:solidFill>
                  <a:srgbClr val="0B1A30"/>
                </a:solidFill>
                <a:latin typeface="Hubot Sans" pitchFamily="34" charset="0"/>
                <a:ea typeface="Hubot Sans" pitchFamily="34" charset="-122"/>
                <a:cs typeface="Hubot Sans" pitchFamily="34" charset="-120"/>
              </a:rPr>
              <a:t>Visualisation territoriale innovante</a:t>
            </a:r>
            <a:endParaRPr lang="en-US" sz="2250" dirty="0"/>
          </a:p>
        </p:txBody>
      </p:sp>
      <p:sp>
        <p:nvSpPr>
          <p:cNvPr id="9" name="Text 2"/>
          <p:cNvSpPr/>
          <p:nvPr/>
        </p:nvSpPr>
        <p:spPr>
          <a:xfrm>
            <a:off x="838200" y="4781550"/>
            <a:ext cx="2912715" cy="560784"/>
          </a:xfrm>
          <a:prstGeom prst="rect">
            <a:avLst/>
          </a:prstGeom>
          <a:noFill/>
          <a:ln/>
        </p:spPr>
        <p:txBody>
          <a:bodyPr vert="horz" wrap="square" lIns="0" tIns="0" rIns="0" bIns="0" rtlCol="0" anchor="ctr"/>
          <a:lstStyle/>
          <a:p>
            <a:pPr marL="0" indent="0">
              <a:lnSpc>
                <a:spcPts val="2208"/>
              </a:lnSpc>
              <a:buNone/>
            </a:pPr>
            <a:r>
              <a:rPr lang="en-US" sz="1725" b="1" dirty="0">
                <a:solidFill>
                  <a:srgbClr val="0B1A30"/>
                </a:solidFill>
                <a:latin typeface="Hubot Sans" pitchFamily="34" charset="0"/>
                <a:ea typeface="Hubot Sans" pitchFamily="34" charset="-122"/>
                <a:cs typeface="Hubot Sans" pitchFamily="34" charset="-120"/>
              </a:rPr>
              <a:t>Au-delà des statistiques
classiques</a:t>
            </a:r>
            <a:endParaRPr lang="en-US" sz="1725" dirty="0"/>
          </a:p>
        </p:txBody>
      </p:sp>
      <p:sp>
        <p:nvSpPr>
          <p:cNvPr id="10" name="Text 3"/>
          <p:cNvSpPr/>
          <p:nvPr/>
        </p:nvSpPr>
        <p:spPr>
          <a:xfrm>
            <a:off x="4619625" y="4781550"/>
            <a:ext cx="2179290" cy="511969"/>
          </a:xfrm>
          <a:prstGeom prst="rect">
            <a:avLst/>
          </a:prstGeom>
          <a:noFill/>
          <a:ln/>
        </p:spPr>
        <p:txBody>
          <a:bodyPr vert="horz" wrap="square" lIns="0" tIns="0" rIns="0" bIns="0" rtlCol="0" anchor="ctr"/>
          <a:lstStyle/>
          <a:p>
            <a:pPr marL="0" indent="0">
              <a:lnSpc>
                <a:spcPts val="2016"/>
              </a:lnSpc>
              <a:buNone/>
            </a:pPr>
            <a:r>
              <a:rPr lang="en-US" sz="1575" b="1" dirty="0">
                <a:solidFill>
                  <a:srgbClr val="0B1A30"/>
                </a:solidFill>
                <a:latin typeface="Hubot Sans" pitchFamily="34" charset="0"/>
                <a:ea typeface="Hubot Sans" pitchFamily="34" charset="-122"/>
                <a:cs typeface="Hubot Sans" pitchFamily="34" charset="-120"/>
              </a:rPr>
              <a:t>Motivation visuelle
immédiate</a:t>
            </a:r>
            <a:endParaRPr lang="en-US" sz="1575" dirty="0"/>
          </a:p>
        </p:txBody>
      </p:sp>
      <p:sp>
        <p:nvSpPr>
          <p:cNvPr id="11" name="Text 4"/>
          <p:cNvSpPr/>
          <p:nvPr/>
        </p:nvSpPr>
        <p:spPr>
          <a:xfrm>
            <a:off x="8391525" y="4781550"/>
            <a:ext cx="2462213" cy="511969"/>
          </a:xfrm>
          <a:prstGeom prst="rect">
            <a:avLst/>
          </a:prstGeom>
          <a:noFill/>
          <a:ln/>
        </p:spPr>
        <p:txBody>
          <a:bodyPr vert="horz" wrap="square" lIns="0" tIns="0" rIns="0" bIns="0" rtlCol="0" anchor="ctr"/>
          <a:lstStyle/>
          <a:p>
            <a:pPr marL="0" indent="0">
              <a:lnSpc>
                <a:spcPts val="2016"/>
              </a:lnSpc>
              <a:buNone/>
            </a:pPr>
            <a:r>
              <a:rPr lang="en-US" sz="1575" b="1" dirty="0">
                <a:solidFill>
                  <a:srgbClr val="0B1A30"/>
                </a:solidFill>
                <a:latin typeface="Hubot Sans" pitchFamily="34" charset="0"/>
                <a:ea typeface="Hubot Sans" pitchFamily="34" charset="-122"/>
                <a:cs typeface="Hubot Sans" pitchFamily="34" charset="-120"/>
              </a:rPr>
              <a:t>Nouvelle métrique de
performance</a:t>
            </a:r>
            <a:endParaRPr lang="en-US" sz="1575" dirty="0"/>
          </a:p>
        </p:txBody>
      </p:sp>
      <p:sp>
        <p:nvSpPr>
          <p:cNvPr id="12" name="Text 5"/>
          <p:cNvSpPr/>
          <p:nvPr/>
        </p:nvSpPr>
        <p:spPr>
          <a:xfrm>
            <a:off x="628650" y="2247900"/>
            <a:ext cx="5186363" cy="685800"/>
          </a:xfrm>
          <a:prstGeom prst="rect">
            <a:avLst/>
          </a:prstGeom>
          <a:noFill/>
          <a:ln/>
        </p:spPr>
        <p:txBody>
          <a:bodyPr vert="horz" wrap="square" lIns="0" tIns="0" rIns="0" bIns="0" rtlCol="0" anchor="ctr"/>
          <a:lstStyle/>
          <a:p>
            <a:pPr marL="0" indent="0">
              <a:lnSpc>
                <a:spcPts val="2700"/>
              </a:lnSpc>
              <a:buNone/>
            </a:pPr>
            <a:r>
              <a:rPr lang="en-US" sz="1800" dirty="0">
                <a:solidFill>
                  <a:srgbClr val="0B1A30"/>
                </a:solidFill>
                <a:latin typeface="Noto Sans" pitchFamily="34" charset="0"/>
                <a:ea typeface="Noto Sans" pitchFamily="34" charset="-122"/>
                <a:cs typeface="Noto Sans" pitchFamily="34" charset="-120"/>
              </a:rPr>
              <a:t>Transformation des données GPS brutes en
territoires colorés sur carte interactive.</a:t>
            </a:r>
            <a:endParaRPr lang="en-US" sz="1800" dirty="0"/>
          </a:p>
        </p:txBody>
      </p:sp>
      <p:sp>
        <p:nvSpPr>
          <p:cNvPr id="13" name="Text 6"/>
          <p:cNvSpPr/>
          <p:nvPr/>
        </p:nvSpPr>
        <p:spPr>
          <a:xfrm>
            <a:off x="838200" y="5467350"/>
            <a:ext cx="3185071" cy="699641"/>
          </a:xfrm>
          <a:prstGeom prst="rect">
            <a:avLst/>
          </a:prstGeom>
          <a:noFill/>
          <a:ln/>
        </p:spPr>
        <p:txBody>
          <a:bodyPr vert="horz" wrap="square" lIns="0" tIns="0" rIns="0" bIns="0" rtlCol="0" anchor="ctr"/>
          <a:lstStyle/>
          <a:p>
            <a:pPr marL="0" indent="0">
              <a:lnSpc>
                <a:spcPts val="1836"/>
              </a:lnSpc>
              <a:buNone/>
            </a:pPr>
            <a:r>
              <a:rPr lang="en-US" sz="1350" dirty="0">
                <a:solidFill>
                  <a:srgbClr val="0B1A30"/>
                </a:solidFill>
                <a:latin typeface="Noto Sans" pitchFamily="34" charset="0"/>
                <a:ea typeface="Noto Sans" pitchFamily="34" charset="-122"/>
                <a:cs typeface="Noto Sans" pitchFamily="34" charset="-120"/>
              </a:rPr>
              <a:t>Passage des métriques abstraites
(vitesse, distance) à une
représentation spatiale concrète.</a:t>
            </a:r>
            <a:endParaRPr lang="en-US" sz="1350" dirty="0"/>
          </a:p>
        </p:txBody>
      </p:sp>
      <p:sp>
        <p:nvSpPr>
          <p:cNvPr id="14" name="Text 7"/>
          <p:cNvSpPr/>
          <p:nvPr/>
        </p:nvSpPr>
        <p:spPr>
          <a:xfrm>
            <a:off x="4619625" y="5467350"/>
            <a:ext cx="3363218" cy="738485"/>
          </a:xfrm>
          <a:prstGeom prst="rect">
            <a:avLst/>
          </a:prstGeom>
          <a:noFill/>
          <a:ln/>
        </p:spPr>
        <p:txBody>
          <a:bodyPr vert="horz" wrap="square" lIns="0" tIns="0" rIns="0" bIns="0" rtlCol="0" anchor="ctr"/>
          <a:lstStyle/>
          <a:p>
            <a:pPr marL="0" indent="0">
              <a:lnSpc>
                <a:spcPts val="1938"/>
              </a:lnSpc>
              <a:buNone/>
            </a:pPr>
            <a:r>
              <a:rPr lang="en-US" sz="1425" dirty="0">
                <a:solidFill>
                  <a:srgbClr val="0B1A30"/>
                </a:solidFill>
                <a:latin typeface="Noto Sans" pitchFamily="34" charset="0"/>
                <a:ea typeface="Noto Sans" pitchFamily="34" charset="-122"/>
                <a:cs typeface="Noto Sans" pitchFamily="34" charset="-120"/>
              </a:rPr>
              <a:t>L'effort produit un résultat tangible
et gratifiant directement visible sur
la carte.</a:t>
            </a:r>
            <a:endParaRPr lang="en-US" sz="1425" dirty="0"/>
          </a:p>
        </p:txBody>
      </p:sp>
      <p:sp>
        <p:nvSpPr>
          <p:cNvPr id="15" name="Text 8"/>
          <p:cNvSpPr/>
          <p:nvPr/>
        </p:nvSpPr>
        <p:spPr>
          <a:xfrm>
            <a:off x="8391525" y="5467350"/>
            <a:ext cx="3237458" cy="699641"/>
          </a:xfrm>
          <a:prstGeom prst="rect">
            <a:avLst/>
          </a:prstGeom>
          <a:noFill/>
          <a:ln/>
        </p:spPr>
        <p:txBody>
          <a:bodyPr vert="horz" wrap="square" lIns="0" tIns="0" rIns="0" bIns="0" rtlCol="0" anchor="ctr"/>
          <a:lstStyle/>
          <a:p>
            <a:pPr marL="0" indent="0">
              <a:lnSpc>
                <a:spcPts val="1836"/>
              </a:lnSpc>
              <a:buNone/>
            </a:pPr>
            <a:r>
              <a:rPr lang="en-US" sz="1350" dirty="0">
                <a:solidFill>
                  <a:srgbClr val="0B1A30"/>
                </a:solidFill>
                <a:latin typeface="Noto Sans" pitchFamily="34" charset="0"/>
                <a:ea typeface="Noto Sans" pitchFamily="34" charset="-122"/>
                <a:cs typeface="Noto Sans" pitchFamily="34" charset="-120"/>
              </a:rPr>
              <a:t>La surface territoriale comme
indicateur clé complémentaire aux
métriques traditionnelles.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619357" y="4821138"/>
            <a:ext cx="2133600" cy="1543050"/>
          </a:xfrm>
          <a:prstGeom prst="rect">
            <a:avLst/>
          </a:prstGeom>
        </p:spPr>
      </p:pic>
      <p:pic>
        <p:nvPicPr>
          <p:cNvPr id="4" name="Image 2" descr="preencoded.png"/>
          <p:cNvPicPr>
            <a:picLocks noChangeAspect="1"/>
          </p:cNvPicPr>
          <p:nvPr/>
        </p:nvPicPr>
        <p:blipFill>
          <a:blip r:embed="rId5"/>
          <a:stretch>
            <a:fillRect/>
          </a:stretch>
        </p:blipFill>
        <p:spPr>
          <a:xfrm>
            <a:off x="4998690" y="3998119"/>
            <a:ext cx="524173" cy="459432"/>
          </a:xfrm>
          <a:prstGeom prst="rect">
            <a:avLst/>
          </a:prstGeom>
        </p:spPr>
      </p:pic>
      <p:pic>
        <p:nvPicPr>
          <p:cNvPr id="5" name="Image 3" descr="preencoded.png"/>
          <p:cNvPicPr>
            <a:picLocks noChangeAspect="1"/>
          </p:cNvPicPr>
          <p:nvPr/>
        </p:nvPicPr>
        <p:blipFill>
          <a:blip r:embed="rId6"/>
          <a:stretch>
            <a:fillRect/>
          </a:stretch>
        </p:blipFill>
        <p:spPr>
          <a:xfrm>
            <a:off x="914400" y="4217640"/>
            <a:ext cx="304800" cy="212527"/>
          </a:xfrm>
          <a:prstGeom prst="rect">
            <a:avLst/>
          </a:prstGeom>
        </p:spPr>
      </p:pic>
      <p:pic>
        <p:nvPicPr>
          <p:cNvPr id="6" name="Image 4" descr="preencoded.png"/>
          <p:cNvPicPr>
            <a:picLocks noChangeAspect="1"/>
          </p:cNvPicPr>
          <p:nvPr/>
        </p:nvPicPr>
        <p:blipFill>
          <a:blip r:embed="rId7"/>
          <a:stretch>
            <a:fillRect/>
          </a:stretch>
        </p:blipFill>
        <p:spPr>
          <a:xfrm>
            <a:off x="780157" y="4025503"/>
            <a:ext cx="451098" cy="191988"/>
          </a:xfrm>
          <a:prstGeom prst="rect">
            <a:avLst/>
          </a:prstGeom>
        </p:spPr>
      </p:pic>
      <p:pic>
        <p:nvPicPr>
          <p:cNvPr id="7" name="Image 5" descr="preencoded.png"/>
          <p:cNvPicPr>
            <a:picLocks noChangeAspect="1"/>
          </p:cNvPicPr>
          <p:nvPr/>
        </p:nvPicPr>
        <p:blipFill>
          <a:blip r:embed="rId8"/>
          <a:stretch>
            <a:fillRect/>
          </a:stretch>
        </p:blipFill>
        <p:spPr>
          <a:xfrm>
            <a:off x="6339780" y="2263080"/>
            <a:ext cx="438894" cy="432048"/>
          </a:xfrm>
          <a:prstGeom prst="rect">
            <a:avLst/>
          </a:prstGeom>
        </p:spPr>
      </p:pic>
      <p:pic>
        <p:nvPicPr>
          <p:cNvPr id="8" name="Image 6" descr="preencoded.png"/>
          <p:cNvPicPr>
            <a:picLocks noChangeAspect="1"/>
          </p:cNvPicPr>
          <p:nvPr/>
        </p:nvPicPr>
        <p:blipFill>
          <a:blip r:embed="rId9"/>
          <a:stretch>
            <a:fillRect/>
          </a:stretch>
        </p:blipFill>
        <p:spPr>
          <a:xfrm>
            <a:off x="767953" y="2269927"/>
            <a:ext cx="438894" cy="397669"/>
          </a:xfrm>
          <a:prstGeom prst="rect">
            <a:avLst/>
          </a:prstGeom>
        </p:spPr>
      </p:pic>
      <p:sp>
        <p:nvSpPr>
          <p:cNvPr id="9" name="Text 0"/>
          <p:cNvSpPr/>
          <p:nvPr/>
        </p:nvSpPr>
        <p:spPr>
          <a:xfrm>
            <a:off x="619125" y="581025"/>
            <a:ext cx="12824460" cy="388590"/>
          </a:xfrm>
          <a:prstGeom prst="rect">
            <a:avLst/>
          </a:prstGeom>
          <a:noFill/>
          <a:ln/>
        </p:spPr>
        <p:txBody>
          <a:bodyPr vert="horz" wrap="square" lIns="0" tIns="0" rIns="0" bIns="0" rtlCol="0" anchor="ctr"/>
          <a:lstStyle/>
          <a:p>
            <a:pPr marL="0" indent="0">
              <a:lnSpc>
                <a:spcPts val="3060"/>
              </a:lnSpc>
              <a:buNone/>
            </a:pPr>
            <a:r>
              <a:rPr lang="en-US" sz="2550" b="1" dirty="0">
                <a:solidFill>
                  <a:srgbClr val="0B1A30"/>
                </a:solidFill>
                <a:latin typeface="Hubot Sans" pitchFamily="34" charset="0"/>
                <a:ea typeface="Hubot Sans" pitchFamily="34" charset="-122"/>
                <a:cs typeface="Hubot Sans" pitchFamily="34" charset="-120"/>
              </a:rPr>
              <a:t>Esprit compétitif et gamification</a:t>
            </a:r>
            <a:endParaRPr lang="en-US" sz="2550" dirty="0"/>
          </a:p>
        </p:txBody>
      </p:sp>
      <p:sp>
        <p:nvSpPr>
          <p:cNvPr id="10" name="Text 1"/>
          <p:cNvSpPr/>
          <p:nvPr/>
        </p:nvSpPr>
        <p:spPr>
          <a:xfrm>
            <a:off x="1323975" y="2352675"/>
            <a:ext cx="6240780" cy="240060"/>
          </a:xfrm>
          <a:prstGeom prst="rect">
            <a:avLst/>
          </a:prstGeom>
          <a:noFill/>
          <a:ln/>
        </p:spPr>
        <p:txBody>
          <a:bodyPr vert="horz" wrap="square" lIns="0" tIns="0" rIns="0" bIns="0" rtlCol="0" anchor="ctr"/>
          <a:lstStyle/>
          <a:p>
            <a:pPr marL="0" indent="0">
              <a:lnSpc>
                <a:spcPts val="1890"/>
              </a:lnSpc>
              <a:buNone/>
            </a:pPr>
            <a:r>
              <a:rPr lang="en-US" sz="1575" b="1" dirty="0">
                <a:solidFill>
                  <a:srgbClr val="0B1A30"/>
                </a:solidFill>
                <a:latin typeface="Hubot Sans" pitchFamily="34" charset="0"/>
                <a:ea typeface="Hubot Sans" pitchFamily="34" charset="-122"/>
                <a:cs typeface="Hubot Sans" pitchFamily="34" charset="-120"/>
              </a:rPr>
              <a:t>Gamification du sport réel</a:t>
            </a:r>
            <a:endParaRPr lang="en-US" sz="1575" dirty="0"/>
          </a:p>
        </p:txBody>
      </p:sp>
      <p:sp>
        <p:nvSpPr>
          <p:cNvPr id="11" name="Text 2"/>
          <p:cNvSpPr/>
          <p:nvPr/>
        </p:nvSpPr>
        <p:spPr>
          <a:xfrm>
            <a:off x="6858000" y="2352675"/>
            <a:ext cx="8458200" cy="228600"/>
          </a:xfrm>
          <a:prstGeom prst="rect">
            <a:avLst/>
          </a:prstGeom>
          <a:noFill/>
          <a:ln/>
        </p:spPr>
        <p:txBody>
          <a:bodyPr vert="horz" wrap="square" lIns="0" tIns="0" rIns="0" bIns="0" rtlCol="0" anchor="ctr"/>
          <a:lstStyle/>
          <a:p>
            <a:pPr marL="0" indent="0">
              <a:lnSpc>
                <a:spcPts val="1800"/>
              </a:lnSpc>
              <a:buNone/>
            </a:pPr>
            <a:r>
              <a:rPr lang="en-US" sz="1500" b="1" dirty="0">
                <a:solidFill>
                  <a:srgbClr val="0B1A30"/>
                </a:solidFill>
                <a:latin typeface="Hubot Sans" pitchFamily="34" charset="0"/>
                <a:ea typeface="Hubot Sans" pitchFamily="34" charset="-122"/>
                <a:cs typeface="Hubot Sans" pitchFamily="34" charset="-120"/>
              </a:rPr>
              <a:t>Dépassement des limites géographiques</a:t>
            </a:r>
            <a:endParaRPr lang="en-US" sz="1500" dirty="0"/>
          </a:p>
        </p:txBody>
      </p:sp>
      <p:sp>
        <p:nvSpPr>
          <p:cNvPr id="12" name="Text 3"/>
          <p:cNvSpPr/>
          <p:nvPr/>
        </p:nvSpPr>
        <p:spPr>
          <a:xfrm>
            <a:off x="1323975" y="3990975"/>
            <a:ext cx="2451646" cy="480120"/>
          </a:xfrm>
          <a:prstGeom prst="rect">
            <a:avLst/>
          </a:prstGeom>
          <a:noFill/>
          <a:ln/>
        </p:spPr>
        <p:txBody>
          <a:bodyPr vert="horz" wrap="square" lIns="0" tIns="0" rIns="0" bIns="0" rtlCol="0" anchor="ctr"/>
          <a:lstStyle/>
          <a:p>
            <a:pPr marL="0" indent="0">
              <a:lnSpc>
                <a:spcPts val="1890"/>
              </a:lnSpc>
              <a:buNone/>
            </a:pPr>
            <a:r>
              <a:rPr lang="en-US" sz="1575" b="1" dirty="0">
                <a:solidFill>
                  <a:srgbClr val="0B1A30"/>
                </a:solidFill>
                <a:latin typeface="Hubot Sans" pitchFamily="34" charset="0"/>
                <a:ea typeface="Hubot Sans" pitchFamily="34" charset="-122"/>
                <a:cs typeface="Hubot Sans" pitchFamily="34" charset="-120"/>
              </a:rPr>
              <a:t>Motivation visuelle
immediate</a:t>
            </a:r>
            <a:endParaRPr lang="en-US" sz="1575" dirty="0"/>
          </a:p>
        </p:txBody>
      </p:sp>
      <p:sp>
        <p:nvSpPr>
          <p:cNvPr id="13" name="Text 4"/>
          <p:cNvSpPr/>
          <p:nvPr/>
        </p:nvSpPr>
        <p:spPr>
          <a:xfrm>
            <a:off x="5648325" y="3990975"/>
            <a:ext cx="3006923" cy="480120"/>
          </a:xfrm>
          <a:prstGeom prst="rect">
            <a:avLst/>
          </a:prstGeom>
          <a:noFill/>
          <a:ln/>
        </p:spPr>
        <p:txBody>
          <a:bodyPr vert="horz" wrap="square" lIns="0" tIns="0" rIns="0" bIns="0" rtlCol="0" anchor="ctr"/>
          <a:lstStyle/>
          <a:p>
            <a:pPr marL="0" indent="0">
              <a:lnSpc>
                <a:spcPts val="1890"/>
              </a:lnSpc>
              <a:buNone/>
            </a:pPr>
            <a:r>
              <a:rPr lang="en-US" sz="1575" b="1" dirty="0">
                <a:solidFill>
                  <a:srgbClr val="0B1A30"/>
                </a:solidFill>
                <a:latin typeface="Hubot Sans" pitchFamily="34" charset="0"/>
                <a:ea typeface="Hubot Sans" pitchFamily="34" charset="-122"/>
                <a:cs typeface="Hubot Sans" pitchFamily="34" charset="-120"/>
              </a:rPr>
              <a:t>Esprit de compétition et
nouvelle métrique</a:t>
            </a:r>
            <a:endParaRPr lang="en-US" sz="1575" dirty="0"/>
          </a:p>
        </p:txBody>
      </p:sp>
      <p:sp>
        <p:nvSpPr>
          <p:cNvPr id="14" name="Text 5"/>
          <p:cNvSpPr/>
          <p:nvPr/>
        </p:nvSpPr>
        <p:spPr>
          <a:xfrm>
            <a:off x="657225" y="5895975"/>
            <a:ext cx="8769548" cy="470595"/>
          </a:xfrm>
          <a:prstGeom prst="rect">
            <a:avLst/>
          </a:prstGeom>
          <a:noFill/>
          <a:ln/>
        </p:spPr>
        <p:txBody>
          <a:bodyPr vert="horz" wrap="square" lIns="0" tIns="0" rIns="0" bIns="0" rtlCol="0" anchor="ctr"/>
          <a:lstStyle/>
          <a:p>
            <a:pPr marL="0" indent="0">
              <a:lnSpc>
                <a:spcPts val="1852"/>
              </a:lnSpc>
              <a:buNone/>
            </a:pPr>
            <a:r>
              <a:rPr lang="en-US" sz="1425" dirty="0">
                <a:solidFill>
                  <a:srgbClr val="000000"/>
                </a:solidFill>
                <a:latin typeface="Noto Sans" pitchFamily="34" charset="0"/>
                <a:ea typeface="Noto Sans" pitchFamily="34" charset="-122"/>
                <a:cs typeface="Noto Sans" pitchFamily="34" charset="-120"/>
              </a:rPr>
              <a:t>Cette approche transforme la course d'une activité passive de suivi en une expérience
interactive, stratégique et motivante.</a:t>
            </a:r>
            <a:endParaRPr lang="en-US" sz="1425" dirty="0"/>
          </a:p>
        </p:txBody>
      </p:sp>
      <p:sp>
        <p:nvSpPr>
          <p:cNvPr id="15" name="Text 6"/>
          <p:cNvSpPr/>
          <p:nvPr/>
        </p:nvSpPr>
        <p:spPr>
          <a:xfrm>
            <a:off x="619125" y="1162050"/>
            <a:ext cx="12300496" cy="705892"/>
          </a:xfrm>
          <a:prstGeom prst="rect">
            <a:avLst/>
          </a:prstGeom>
          <a:noFill/>
          <a:ln/>
        </p:spPr>
        <p:txBody>
          <a:bodyPr vert="horz" wrap="square" lIns="0" tIns="0" rIns="0" bIns="0" rtlCol="0" anchor="ctr"/>
          <a:lstStyle/>
          <a:p>
            <a:pPr marL="0" indent="0">
              <a:lnSpc>
                <a:spcPts val="1852"/>
              </a:lnSpc>
              <a:buNone/>
            </a:pPr>
            <a:r>
              <a:rPr lang="en-US" sz="1425" dirty="0">
                <a:solidFill>
                  <a:srgbClr val="0B1A30"/>
                </a:solidFill>
                <a:latin typeface="Noto Sans" pitchFamily="34" charset="0"/>
                <a:ea typeface="Noto Sans" pitchFamily="34" charset="-122"/>
                <a:cs typeface="Noto Sans" pitchFamily="34" charset="-120"/>
              </a:rPr>
              <a:t>Notre application introduit une approche innovante basée sur la gamification de l'espace réel. Contrairement aux
applications sportives classiques qui affichent uniquement des statistiques abstraites, notre solution transforme l'effort
physique en impact visuel concret sur une carte interactive.</a:t>
            </a:r>
            <a:endParaRPr lang="en-US" sz="1425" dirty="0"/>
          </a:p>
        </p:txBody>
      </p:sp>
      <p:sp>
        <p:nvSpPr>
          <p:cNvPr id="16" name="Text 7"/>
          <p:cNvSpPr/>
          <p:nvPr/>
        </p:nvSpPr>
        <p:spPr>
          <a:xfrm>
            <a:off x="771525" y="2743200"/>
            <a:ext cx="5249168" cy="742950"/>
          </a:xfrm>
          <a:prstGeom prst="rect">
            <a:avLst/>
          </a:prstGeom>
          <a:noFill/>
          <a:ln/>
        </p:spPr>
        <p:txBody>
          <a:bodyPr vert="horz" wrap="square" lIns="0" tIns="0" rIns="0" bIns="0" rtlCol="0" anchor="ctr"/>
          <a:lstStyle/>
          <a:p>
            <a:pPr marL="0" indent="0">
              <a:lnSpc>
                <a:spcPts val="1950"/>
              </a:lnSpc>
              <a:buNone/>
            </a:pPr>
            <a:r>
              <a:rPr lang="en-US" sz="1500" dirty="0">
                <a:solidFill>
                  <a:srgbClr val="0B1A30"/>
                </a:solidFill>
                <a:latin typeface="Noto Sans" pitchFamily="34" charset="0"/>
                <a:ea typeface="Noto Sans" pitchFamily="34" charset="-122"/>
                <a:cs typeface="Noto Sans" pitchFamily="34" charset="-120"/>
              </a:rPr>
              <a:t>chaque course permet de conquérir et colorer des
territoires, transformant l'activité physique en
expérience immersive.</a:t>
            </a:r>
            <a:endParaRPr lang="en-US" sz="1500" dirty="0"/>
          </a:p>
        </p:txBody>
      </p:sp>
      <p:sp>
        <p:nvSpPr>
          <p:cNvPr id="17" name="Text 8"/>
          <p:cNvSpPr/>
          <p:nvPr/>
        </p:nvSpPr>
        <p:spPr>
          <a:xfrm>
            <a:off x="6343650" y="2743200"/>
            <a:ext cx="5605463" cy="434280"/>
          </a:xfrm>
          <a:prstGeom prst="rect">
            <a:avLst/>
          </a:prstGeom>
          <a:noFill/>
          <a:ln/>
        </p:spPr>
        <p:txBody>
          <a:bodyPr vert="horz" wrap="square" lIns="0" tIns="0" rIns="0" bIns="0" rtlCol="0" anchor="ctr"/>
          <a:lstStyle/>
          <a:p>
            <a:pPr marL="0" indent="0">
              <a:lnSpc>
                <a:spcPts val="1710"/>
              </a:lnSpc>
              <a:buNone/>
            </a:pPr>
            <a:r>
              <a:rPr lang="en-US" sz="1425" dirty="0">
                <a:solidFill>
                  <a:srgbClr val="0B1A30"/>
                </a:solidFill>
                <a:latin typeface="Noto Sans" pitchFamily="34" charset="0"/>
                <a:ea typeface="Noto Sans" pitchFamily="34" charset="-122"/>
                <a:cs typeface="Noto Sans" pitchFamily="34" charset="-120"/>
              </a:rPr>
              <a:t>l'utilisateur ne court plus sans objectif, mais cherche à
étendre son influence et explorer de nouvelles zones.</a:t>
            </a:r>
            <a:endParaRPr lang="en-US" sz="1425" dirty="0"/>
          </a:p>
        </p:txBody>
      </p:sp>
      <p:sp>
        <p:nvSpPr>
          <p:cNvPr id="18" name="Text 9"/>
          <p:cNvSpPr/>
          <p:nvPr/>
        </p:nvSpPr>
        <p:spPr>
          <a:xfrm>
            <a:off x="771525" y="4591050"/>
            <a:ext cx="3719512" cy="434280"/>
          </a:xfrm>
          <a:prstGeom prst="rect">
            <a:avLst/>
          </a:prstGeom>
          <a:noFill/>
          <a:ln/>
        </p:spPr>
        <p:txBody>
          <a:bodyPr vert="horz" wrap="square" lIns="0" tIns="0" rIns="0" bIns="0" rtlCol="0" anchor="ctr"/>
          <a:lstStyle/>
          <a:p>
            <a:pPr marL="0" indent="0">
              <a:lnSpc>
                <a:spcPts val="1710"/>
              </a:lnSpc>
              <a:buNone/>
            </a:pPr>
            <a:r>
              <a:rPr lang="en-US" sz="1425" dirty="0">
                <a:solidFill>
                  <a:srgbClr val="0B1A30"/>
                </a:solidFill>
                <a:latin typeface="Noto Sans" pitchFamily="34" charset="0"/>
                <a:ea typeface="Noto Sans" pitchFamily="34" charset="-122"/>
                <a:cs typeface="Noto Sans" pitchFamily="34" charset="-120"/>
              </a:rPr>
              <a:t>l'effort produit un résultat visible et
mesurable directement sur la carte.</a:t>
            </a:r>
            <a:endParaRPr lang="en-US" sz="1425" dirty="0"/>
          </a:p>
        </p:txBody>
      </p:sp>
      <p:sp>
        <p:nvSpPr>
          <p:cNvPr id="19" name="Text 10"/>
          <p:cNvSpPr/>
          <p:nvPr/>
        </p:nvSpPr>
        <p:spPr>
          <a:xfrm>
            <a:off x="5038725" y="4591050"/>
            <a:ext cx="4924425" cy="868561"/>
          </a:xfrm>
          <a:prstGeom prst="rect">
            <a:avLst/>
          </a:prstGeom>
          <a:noFill/>
          <a:ln/>
        </p:spPr>
        <p:txBody>
          <a:bodyPr vert="horz" wrap="square" lIns="0" tIns="0" rIns="0" bIns="0" rtlCol="0" anchor="ctr"/>
          <a:lstStyle/>
          <a:p>
            <a:pPr marL="0" indent="0">
              <a:lnSpc>
                <a:spcPts val="1710"/>
              </a:lnSpc>
              <a:buNone/>
            </a:pPr>
            <a:r>
              <a:rPr lang="en-US" sz="1425" dirty="0">
                <a:solidFill>
                  <a:srgbClr val="0B1A30"/>
                </a:solidFill>
                <a:latin typeface="Noto Sans" pitchFamily="34" charset="0"/>
                <a:ea typeface="Noto Sans" pitchFamily="34" charset="-122"/>
                <a:cs typeface="Noto Sans" pitchFamily="34" charset="-120"/>
              </a:rPr>
              <a:t>le leaderboard renforce l'engagement et stimule
la progression. Nouvelle métrique basée sur
le territoire conquis, et non uniquement sur la
vitesse ou la distance.</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2046"/>
          </a:solidFill>
          <a:ln w="12700">
            <a:solidFill>
              <a:srgbClr val="162046"/>
            </a:solidFill>
            <a:prstDash val="solid"/>
          </a:ln>
        </p:spPr>
        <p:txBody>
          <a:bodyPr/>
          <a:lstStyle/>
          <a:p>
            <a:endParaRPr lang="en-US"/>
          </a:p>
        </p:txBody>
      </p:sp>
      <p:sp>
        <p:nvSpPr>
          <p:cNvPr id="3" name="Shape 1"/>
          <p:cNvSpPr/>
          <p:nvPr/>
        </p:nvSpPr>
        <p:spPr>
          <a:xfrm>
            <a:off x="109728" y="0"/>
            <a:ext cx="12051792" cy="914400"/>
          </a:xfrm>
          <a:prstGeom prst="rect">
            <a:avLst/>
          </a:prstGeom>
          <a:solidFill>
            <a:srgbClr val="162046"/>
          </a:solidFill>
          <a:ln w="12700">
            <a:solidFill>
              <a:srgbClr val="162046"/>
            </a:solidFill>
            <a:prstDash val="solid"/>
          </a:ln>
        </p:spPr>
        <p:txBody>
          <a:bodyPr/>
          <a:lstStyle/>
          <a:p>
            <a:endParaRPr lang="en-US"/>
          </a:p>
        </p:txBody>
      </p:sp>
      <p:sp>
        <p:nvSpPr>
          <p:cNvPr id="4" name="Text 2"/>
          <p:cNvSpPr/>
          <p:nvPr/>
        </p:nvSpPr>
        <p:spPr>
          <a:xfrm>
            <a:off x="365760" y="91440"/>
            <a:ext cx="91440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IHM ET CES PRINCIPES</a:t>
            </a:r>
            <a:endParaRPr lang="en-US" sz="2200" dirty="0"/>
          </a:p>
        </p:txBody>
      </p:sp>
      <p:sp>
        <p:nvSpPr>
          <p:cNvPr id="5" name="Shape 3"/>
          <p:cNvSpPr/>
          <p:nvPr/>
        </p:nvSpPr>
        <p:spPr>
          <a:xfrm>
            <a:off x="9784080" y="182880"/>
            <a:ext cx="2240280" cy="475488"/>
          </a:xfrm>
          <a:prstGeom prst="roundRect">
            <a:avLst>
              <a:gd name="adj" fmla="val 11538"/>
            </a:avLst>
          </a:prstGeom>
          <a:solidFill>
            <a:srgbClr val="00B4CC"/>
          </a:solidFill>
          <a:ln w="12700">
            <a:solidFill>
              <a:srgbClr val="00B4CC"/>
            </a:solidFill>
            <a:prstDash val="solid"/>
          </a:ln>
        </p:spPr>
        <p:txBody>
          <a:bodyPr/>
          <a:lstStyle/>
          <a:p>
            <a:endParaRPr lang="en-US"/>
          </a:p>
        </p:txBody>
      </p:sp>
      <p:sp>
        <p:nvSpPr>
          <p:cNvPr id="6" name="Text 4"/>
          <p:cNvSpPr/>
          <p:nvPr/>
        </p:nvSpPr>
        <p:spPr>
          <a:xfrm>
            <a:off x="9784080" y="182880"/>
            <a:ext cx="2240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User Story Scrum</a:t>
            </a:r>
            <a:endParaRPr lang="en-US" sz="1050" dirty="0"/>
          </a:p>
        </p:txBody>
      </p:sp>
      <p:sp>
        <p:nvSpPr>
          <p:cNvPr id="7" name="Shape 5"/>
          <p:cNvSpPr/>
          <p:nvPr/>
        </p:nvSpPr>
        <p:spPr>
          <a:xfrm>
            <a:off x="109728" y="6291072"/>
            <a:ext cx="12051792" cy="530352"/>
          </a:xfrm>
          <a:prstGeom prst="rect">
            <a:avLst/>
          </a:prstGeom>
          <a:solidFill>
            <a:srgbClr val="0B1A30"/>
          </a:solidFill>
          <a:ln w="12700">
            <a:solidFill>
              <a:srgbClr val="0B1A30"/>
            </a:solidFill>
            <a:prstDash val="solid"/>
          </a:ln>
        </p:spPr>
        <p:txBody>
          <a:bodyPr/>
          <a:lstStyle/>
          <a:p>
            <a:endParaRPr lang="en-US"/>
          </a:p>
        </p:txBody>
      </p:sp>
      <p:sp>
        <p:nvSpPr>
          <p:cNvPr id="8" name="Text 6"/>
          <p:cNvSpPr/>
          <p:nvPr/>
        </p:nvSpPr>
        <p:spPr>
          <a:xfrm>
            <a:off x="320040" y="6291072"/>
            <a:ext cx="11887200" cy="530352"/>
          </a:xfrm>
          <a:prstGeom prst="rect">
            <a:avLst/>
          </a:prstGeom>
          <a:noFill/>
          <a:ln/>
        </p:spPr>
        <p:txBody>
          <a:bodyPr wrap="square" lIns="0" tIns="0" rIns="0" bIns="0" rtlCol="0" anchor="ctr"/>
          <a:lstStyle/>
          <a:p>
            <a:pPr marL="0" indent="0" algn="ctr">
              <a:buNone/>
            </a:pPr>
            <a:r>
              <a:rPr lang="en-US" sz="1050" b="1" dirty="0">
                <a:solidFill>
                  <a:srgbClr val="00B4CC"/>
                </a:solidFill>
                <a:latin typeface="Calibri" pitchFamily="34" charset="0"/>
                <a:ea typeface="Calibri" pitchFamily="34" charset="-122"/>
                <a:cs typeface="Calibri" pitchFamily="34" charset="-120"/>
              </a:rPr>
              <a:t>✦  Résultat UX : Connexion rapide → accès immédiat à la carte → concentration maximale sur la conquête</a:t>
            </a:r>
            <a:endParaRPr lang="en-US" sz="1050" dirty="0"/>
          </a:p>
        </p:txBody>
      </p:sp>
      <p:sp>
        <p:nvSpPr>
          <p:cNvPr id="9" name="Shape 7"/>
          <p:cNvSpPr/>
          <p:nvPr/>
        </p:nvSpPr>
        <p:spPr>
          <a:xfrm>
            <a:off x="109728" y="914400"/>
            <a:ext cx="12051792" cy="548640"/>
          </a:xfrm>
          <a:prstGeom prst="rect">
            <a:avLst/>
          </a:prstGeom>
          <a:solidFill>
            <a:srgbClr val="F4F6F8"/>
          </a:solidFill>
          <a:ln w="12700">
            <a:solidFill>
              <a:srgbClr val="F4F6F8"/>
            </a:solidFill>
            <a:prstDash val="solid"/>
          </a:ln>
        </p:spPr>
        <p:txBody>
          <a:bodyPr/>
          <a:lstStyle/>
          <a:p>
            <a:endParaRPr lang="en-US"/>
          </a:p>
        </p:txBody>
      </p:sp>
      <p:sp>
        <p:nvSpPr>
          <p:cNvPr id="10" name="Text 8"/>
          <p:cNvSpPr/>
          <p:nvPr/>
        </p:nvSpPr>
        <p:spPr>
          <a:xfrm>
            <a:off x="365760" y="932688"/>
            <a:ext cx="11612880" cy="502920"/>
          </a:xfrm>
          <a:prstGeom prst="rect">
            <a:avLst/>
          </a:prstGeom>
          <a:noFill/>
          <a:ln/>
        </p:spPr>
        <p:txBody>
          <a:bodyPr wrap="square" lIns="0" tIns="0" rIns="0" bIns="0" rtlCol="0" anchor="ctr"/>
          <a:lstStyle/>
          <a:p>
            <a:pPr marL="0" indent="0" algn="ctr">
              <a:buNone/>
            </a:pPr>
            <a:r>
              <a:rPr lang="en-US" sz="1150" i="1" dirty="0">
                <a:solidFill>
                  <a:srgbClr val="162046"/>
                </a:solidFill>
                <a:latin typeface="Calibri" pitchFamily="34" charset="0"/>
                <a:ea typeface="Calibri" pitchFamily="34" charset="-122"/>
                <a:cs typeface="Calibri" pitchFamily="34" charset="-120"/>
              </a:rPr>
              <a:t>"Chaque élément de notre interface est basé sur une </a:t>
            </a:r>
            <a:r>
              <a:rPr lang="en-US" sz="1150" b="1" i="1" dirty="0">
                <a:solidFill>
                  <a:srgbClr val="00B4CC"/>
                </a:solidFill>
                <a:latin typeface="Calibri" pitchFamily="34" charset="0"/>
                <a:ea typeface="Calibri" pitchFamily="34" charset="-122"/>
                <a:cs typeface="Calibri" pitchFamily="34" charset="-120"/>
              </a:rPr>
              <a:t>user story Scrum</a:t>
            </a:r>
            <a:r>
              <a:rPr lang="en-US" sz="1150" i="1" dirty="0">
                <a:solidFill>
                  <a:srgbClr val="162046"/>
                </a:solidFill>
                <a:latin typeface="Calibri" pitchFamily="34" charset="0"/>
                <a:ea typeface="Calibri" pitchFamily="34" charset="-122"/>
                <a:cs typeface="Calibri" pitchFamily="34" charset="-120"/>
              </a:rPr>
              <a:t>, une analyse du besoin utilisateur, et une décision UX pour garantir une expérience optimale.</a:t>
            </a:r>
            <a:endParaRPr lang="en-US" sz="1150" dirty="0"/>
          </a:p>
        </p:txBody>
      </p:sp>
      <p:sp>
        <p:nvSpPr>
          <p:cNvPr id="11" name="Shape 9"/>
          <p:cNvSpPr/>
          <p:nvPr/>
        </p:nvSpPr>
        <p:spPr>
          <a:xfrm>
            <a:off x="411480" y="1572768"/>
            <a:ext cx="3063240" cy="475488"/>
          </a:xfrm>
          <a:prstGeom prst="rect">
            <a:avLst/>
          </a:prstGeom>
          <a:solidFill>
            <a:srgbClr val="0B1A30"/>
          </a:solidFill>
          <a:ln w="12700">
            <a:solidFill>
              <a:srgbClr val="0B1A30"/>
            </a:solidFill>
            <a:prstDash val="solid"/>
          </a:ln>
          <a:effectLst>
            <a:outerShdw blurRad="63500" dist="25400" dir="8100000" algn="bl" rotWithShape="0">
              <a:srgbClr val="000000">
                <a:alpha val="14000"/>
              </a:srgbClr>
            </a:outerShdw>
          </a:effectLst>
        </p:spPr>
        <p:txBody>
          <a:bodyPr/>
          <a:lstStyle/>
          <a:p>
            <a:endParaRPr lang="en-US"/>
          </a:p>
        </p:txBody>
      </p:sp>
      <p:sp>
        <p:nvSpPr>
          <p:cNvPr id="12" name="Text 10"/>
          <p:cNvSpPr/>
          <p:nvPr/>
        </p:nvSpPr>
        <p:spPr>
          <a:xfrm>
            <a:off x="411480" y="1572768"/>
            <a:ext cx="306324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En tant qu'athlète</a:t>
            </a:r>
            <a:endParaRPr lang="en-US" sz="1200" dirty="0"/>
          </a:p>
        </p:txBody>
      </p:sp>
      <p:sp>
        <p:nvSpPr>
          <p:cNvPr id="13" name="Text 11"/>
          <p:cNvSpPr/>
          <p:nvPr/>
        </p:nvSpPr>
        <p:spPr>
          <a:xfrm>
            <a:off x="3511296" y="1645920"/>
            <a:ext cx="228600" cy="329184"/>
          </a:xfrm>
          <a:prstGeom prst="rect">
            <a:avLst/>
          </a:prstGeom>
          <a:noFill/>
          <a:ln/>
        </p:spPr>
        <p:txBody>
          <a:bodyPr wrap="square" lIns="0" tIns="0" rIns="0" bIns="0" rtlCol="0" anchor="ctr"/>
          <a:lstStyle/>
          <a:p>
            <a:pPr marL="0" indent="0" algn="ctr">
              <a:buNone/>
            </a:pPr>
            <a:r>
              <a:rPr lang="en-US" sz="1400" dirty="0">
                <a:solidFill>
                  <a:srgbClr val="D9E2EC"/>
                </a:solidFill>
              </a:rPr>
              <a:t>▶</a:t>
            </a:r>
            <a:endParaRPr lang="en-US" sz="1400" dirty="0"/>
          </a:p>
        </p:txBody>
      </p:sp>
      <p:sp>
        <p:nvSpPr>
          <p:cNvPr id="14" name="Shape 12"/>
          <p:cNvSpPr/>
          <p:nvPr/>
        </p:nvSpPr>
        <p:spPr>
          <a:xfrm>
            <a:off x="3749040" y="1572768"/>
            <a:ext cx="3063240" cy="475488"/>
          </a:xfrm>
          <a:prstGeom prst="rect">
            <a:avLst/>
          </a:prstGeom>
          <a:solidFill>
            <a:srgbClr val="00B4CC"/>
          </a:solidFill>
          <a:ln w="12700">
            <a:solidFill>
              <a:srgbClr val="00B4CC"/>
            </a:solidFill>
            <a:prstDash val="solid"/>
          </a:ln>
          <a:effectLst>
            <a:outerShdw blurRad="63500" dist="25400" dir="8100000" algn="bl" rotWithShape="0">
              <a:srgbClr val="000000">
                <a:alpha val="14000"/>
              </a:srgbClr>
            </a:outerShdw>
          </a:effectLst>
        </p:spPr>
        <p:txBody>
          <a:bodyPr/>
          <a:lstStyle/>
          <a:p>
            <a:endParaRPr lang="en-US"/>
          </a:p>
        </p:txBody>
      </p:sp>
      <p:sp>
        <p:nvSpPr>
          <p:cNvPr id="15" name="Text 13"/>
          <p:cNvSpPr/>
          <p:nvPr/>
        </p:nvSpPr>
        <p:spPr>
          <a:xfrm>
            <a:off x="3749040" y="1572768"/>
            <a:ext cx="306324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je me connecte</a:t>
            </a:r>
            <a:endParaRPr lang="en-US" sz="1200" dirty="0"/>
          </a:p>
        </p:txBody>
      </p:sp>
      <p:sp>
        <p:nvSpPr>
          <p:cNvPr id="16" name="Text 14"/>
          <p:cNvSpPr/>
          <p:nvPr/>
        </p:nvSpPr>
        <p:spPr>
          <a:xfrm>
            <a:off x="6848856" y="1645920"/>
            <a:ext cx="228600" cy="329184"/>
          </a:xfrm>
          <a:prstGeom prst="rect">
            <a:avLst/>
          </a:prstGeom>
          <a:noFill/>
          <a:ln/>
        </p:spPr>
        <p:txBody>
          <a:bodyPr wrap="square" lIns="0" tIns="0" rIns="0" bIns="0" rtlCol="0" anchor="ctr"/>
          <a:lstStyle/>
          <a:p>
            <a:pPr marL="0" indent="0" algn="ctr">
              <a:buNone/>
            </a:pPr>
            <a:r>
              <a:rPr lang="en-US" sz="1400" dirty="0">
                <a:solidFill>
                  <a:srgbClr val="D9E2EC"/>
                </a:solidFill>
              </a:rPr>
              <a:t>▶</a:t>
            </a:r>
            <a:endParaRPr lang="en-US" sz="1400" dirty="0"/>
          </a:p>
        </p:txBody>
      </p:sp>
      <p:sp>
        <p:nvSpPr>
          <p:cNvPr id="17" name="Shape 15"/>
          <p:cNvSpPr/>
          <p:nvPr/>
        </p:nvSpPr>
        <p:spPr>
          <a:xfrm>
            <a:off x="7086600" y="1572768"/>
            <a:ext cx="3063240" cy="475488"/>
          </a:xfrm>
          <a:prstGeom prst="rect">
            <a:avLst/>
          </a:prstGeom>
          <a:solidFill>
            <a:srgbClr val="10B981"/>
          </a:solidFill>
          <a:ln w="12700">
            <a:solidFill>
              <a:srgbClr val="10B981"/>
            </a:solidFill>
            <a:prstDash val="solid"/>
          </a:ln>
          <a:effectLst>
            <a:outerShdw blurRad="63500" dist="25400" dir="8100000" algn="bl" rotWithShape="0">
              <a:srgbClr val="000000">
                <a:alpha val="14000"/>
              </a:srgbClr>
            </a:outerShdw>
          </a:effectLst>
        </p:spPr>
        <p:txBody>
          <a:bodyPr/>
          <a:lstStyle/>
          <a:p>
            <a:endParaRPr lang="en-US"/>
          </a:p>
        </p:txBody>
      </p:sp>
      <p:sp>
        <p:nvSpPr>
          <p:cNvPr id="18" name="Text 16"/>
          <p:cNvSpPr/>
          <p:nvPr/>
        </p:nvSpPr>
        <p:spPr>
          <a:xfrm>
            <a:off x="7086600" y="1572768"/>
            <a:ext cx="306324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afin de conquérir un territoire</a:t>
            </a:r>
            <a:endParaRPr lang="en-US" sz="1200" dirty="0"/>
          </a:p>
        </p:txBody>
      </p:sp>
      <p:sp>
        <p:nvSpPr>
          <p:cNvPr id="19" name="Shape 17"/>
          <p:cNvSpPr/>
          <p:nvPr/>
        </p:nvSpPr>
        <p:spPr>
          <a:xfrm>
            <a:off x="411480" y="2176272"/>
            <a:ext cx="5577840" cy="804672"/>
          </a:xfrm>
          <a:prstGeom prst="rect">
            <a:avLst/>
          </a:prstGeom>
          <a:solidFill>
            <a:srgbClr val="FFFFFF"/>
          </a:solidFill>
          <a:ln w="12700">
            <a:solidFill>
              <a:srgbClr val="D9E2EC"/>
            </a:solidFill>
            <a:prstDash val="solid"/>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411480" y="2176272"/>
            <a:ext cx="54864" cy="804672"/>
          </a:xfrm>
          <a:prstGeom prst="rect">
            <a:avLst/>
          </a:prstGeom>
          <a:solidFill>
            <a:srgbClr val="00B4CC"/>
          </a:solidFill>
          <a:ln w="12700">
            <a:solidFill>
              <a:srgbClr val="00B4CC"/>
            </a:solidFill>
            <a:prstDash val="solid"/>
          </a:ln>
        </p:spPr>
        <p:txBody>
          <a:bodyPr/>
          <a:lstStyle/>
          <a:p>
            <a:endParaRPr lang="en-US"/>
          </a:p>
        </p:txBody>
      </p:sp>
      <p:sp>
        <p:nvSpPr>
          <p:cNvPr id="21" name="Text 19"/>
          <p:cNvSpPr/>
          <p:nvPr/>
        </p:nvSpPr>
        <p:spPr>
          <a:xfrm>
            <a:off x="557784" y="2231136"/>
            <a:ext cx="5303520" cy="274320"/>
          </a:xfrm>
          <a:prstGeom prst="rect">
            <a:avLst/>
          </a:prstGeom>
          <a:noFill/>
          <a:ln/>
        </p:spPr>
        <p:txBody>
          <a:bodyPr wrap="square" lIns="0" tIns="0" rIns="0" bIns="0" rtlCol="0" anchor="ctr"/>
          <a:lstStyle/>
          <a:p>
            <a:pPr marL="0" indent="0">
              <a:buNone/>
            </a:pPr>
            <a:r>
              <a:rPr lang="en-US" sz="1200" b="1" dirty="0">
                <a:solidFill>
                  <a:srgbClr val="162046"/>
                </a:solidFill>
                <a:latin typeface="Calibri" pitchFamily="34" charset="0"/>
                <a:ea typeface="Calibri" pitchFamily="34" charset="-122"/>
                <a:cs typeface="Calibri" pitchFamily="34" charset="-120"/>
              </a:rPr>
              <a:t>Besoin</a:t>
            </a:r>
            <a:endParaRPr lang="en-US" sz="1200" dirty="0"/>
          </a:p>
        </p:txBody>
      </p:sp>
      <p:sp>
        <p:nvSpPr>
          <p:cNvPr id="22" name="Text 20"/>
          <p:cNvSpPr/>
          <p:nvPr/>
        </p:nvSpPr>
        <p:spPr>
          <a:xfrm>
            <a:off x="557784" y="2523744"/>
            <a:ext cx="5303520" cy="402336"/>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Visualiser clairement le territoire, maintenir la concentration et l'engagement sportif</a:t>
            </a:r>
            <a:endParaRPr lang="en-US" sz="1100" dirty="0"/>
          </a:p>
        </p:txBody>
      </p:sp>
      <p:sp>
        <p:nvSpPr>
          <p:cNvPr id="23" name="Shape 21"/>
          <p:cNvSpPr/>
          <p:nvPr/>
        </p:nvSpPr>
        <p:spPr>
          <a:xfrm>
            <a:off x="6263640" y="2176272"/>
            <a:ext cx="5577840" cy="804672"/>
          </a:xfrm>
          <a:prstGeom prst="rect">
            <a:avLst/>
          </a:prstGeom>
          <a:solidFill>
            <a:srgbClr val="FFFFFF"/>
          </a:solidFill>
          <a:ln w="12700">
            <a:solidFill>
              <a:srgbClr val="D9E2EC"/>
            </a:solidFill>
            <a:prstDash val="solid"/>
          </a:ln>
          <a:effectLst>
            <a:outerShdw blurRad="76200" dist="25400" dir="8100000" algn="bl" rotWithShape="0">
              <a:srgbClr val="000000">
                <a:alpha val="10000"/>
              </a:srgbClr>
            </a:outerShdw>
          </a:effectLst>
        </p:spPr>
        <p:txBody>
          <a:bodyPr/>
          <a:lstStyle/>
          <a:p>
            <a:endParaRPr lang="en-US"/>
          </a:p>
        </p:txBody>
      </p:sp>
      <p:sp>
        <p:nvSpPr>
          <p:cNvPr id="24" name="Shape 22"/>
          <p:cNvSpPr/>
          <p:nvPr/>
        </p:nvSpPr>
        <p:spPr>
          <a:xfrm>
            <a:off x="6263640" y="2176272"/>
            <a:ext cx="54864" cy="804672"/>
          </a:xfrm>
          <a:prstGeom prst="rect">
            <a:avLst/>
          </a:prstGeom>
          <a:solidFill>
            <a:srgbClr val="10B981"/>
          </a:solidFill>
          <a:ln w="12700">
            <a:solidFill>
              <a:srgbClr val="10B981"/>
            </a:solidFill>
            <a:prstDash val="solid"/>
          </a:ln>
        </p:spPr>
        <p:txBody>
          <a:bodyPr/>
          <a:lstStyle/>
          <a:p>
            <a:endParaRPr lang="en-US"/>
          </a:p>
        </p:txBody>
      </p:sp>
      <p:sp>
        <p:nvSpPr>
          <p:cNvPr id="25" name="Text 23"/>
          <p:cNvSpPr/>
          <p:nvPr/>
        </p:nvSpPr>
        <p:spPr>
          <a:xfrm>
            <a:off x="6409944" y="2231136"/>
            <a:ext cx="5303520" cy="274320"/>
          </a:xfrm>
          <a:prstGeom prst="rect">
            <a:avLst/>
          </a:prstGeom>
          <a:noFill/>
          <a:ln/>
        </p:spPr>
        <p:txBody>
          <a:bodyPr wrap="square" lIns="0" tIns="0" rIns="0" bIns="0" rtlCol="0" anchor="ctr"/>
          <a:lstStyle/>
          <a:p>
            <a:pPr marL="0" indent="0">
              <a:buNone/>
            </a:pPr>
            <a:r>
              <a:rPr lang="en-US" sz="1200" b="1" dirty="0">
                <a:solidFill>
                  <a:srgbClr val="162046"/>
                </a:solidFill>
                <a:latin typeface="Calibri" pitchFamily="34" charset="0"/>
                <a:ea typeface="Calibri" pitchFamily="34" charset="-122"/>
                <a:cs typeface="Calibri" pitchFamily="34" charset="-120"/>
              </a:rPr>
              <a:t>Décision ergonomique</a:t>
            </a:r>
            <a:endParaRPr lang="en-US" sz="1200" dirty="0"/>
          </a:p>
        </p:txBody>
      </p:sp>
      <p:sp>
        <p:nvSpPr>
          <p:cNvPr id="26" name="Text 24"/>
          <p:cNvSpPr/>
          <p:nvPr/>
        </p:nvSpPr>
        <p:spPr>
          <a:xfrm>
            <a:off x="6409944" y="2523744"/>
            <a:ext cx="5303520" cy="402336"/>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Interface centrée sur la carte — occupation maximale de l'écran, aucun élément superflu</a:t>
            </a:r>
            <a:endParaRPr lang="en-US" sz="1100" dirty="0"/>
          </a:p>
        </p:txBody>
      </p:sp>
      <p:pic>
        <p:nvPicPr>
          <p:cNvPr id="27" name="Image 0" descr="preencoded.png"/>
          <p:cNvPicPr>
            <a:picLocks noChangeAspect="1"/>
          </p:cNvPicPr>
          <p:nvPr/>
        </p:nvPicPr>
        <p:blipFill>
          <a:blip r:embed="rId3"/>
          <a:stretch>
            <a:fillRect/>
          </a:stretch>
        </p:blipFill>
        <p:spPr>
          <a:xfrm>
            <a:off x="777240" y="3154680"/>
            <a:ext cx="2726741" cy="2971800"/>
          </a:xfrm>
          <a:prstGeom prst="rect">
            <a:avLst/>
          </a:prstGeom>
        </p:spPr>
      </p:pic>
      <p:sp>
        <p:nvSpPr>
          <p:cNvPr id="28" name="Text 25"/>
          <p:cNvSpPr/>
          <p:nvPr/>
        </p:nvSpPr>
        <p:spPr>
          <a:xfrm>
            <a:off x="3641141" y="4297680"/>
            <a:ext cx="777240" cy="777240"/>
          </a:xfrm>
          <a:prstGeom prst="rect">
            <a:avLst/>
          </a:prstGeom>
          <a:noFill/>
          <a:ln/>
        </p:spPr>
        <p:txBody>
          <a:bodyPr wrap="square" lIns="0" tIns="0" rIns="0" bIns="0" rtlCol="0" anchor="ctr"/>
          <a:lstStyle/>
          <a:p>
            <a:pPr marL="0" indent="0" algn="ctr">
              <a:buNone/>
            </a:pPr>
            <a:r>
              <a:rPr lang="en-US" sz="3000" b="1" dirty="0">
                <a:solidFill>
                  <a:srgbClr val="00B4CC"/>
                </a:solidFill>
              </a:rPr>
              <a:t>→</a:t>
            </a:r>
            <a:endParaRPr lang="en-US" sz="3000" dirty="0"/>
          </a:p>
        </p:txBody>
      </p:sp>
      <p:pic>
        <p:nvPicPr>
          <p:cNvPr id="29" name="Image 1" descr="preencoded.png"/>
          <p:cNvPicPr>
            <a:picLocks noChangeAspect="1"/>
          </p:cNvPicPr>
          <p:nvPr/>
        </p:nvPicPr>
        <p:blipFill>
          <a:blip r:embed="rId4"/>
          <a:stretch>
            <a:fillRect/>
          </a:stretch>
        </p:blipFill>
        <p:spPr>
          <a:xfrm>
            <a:off x="4687519" y="2999232"/>
            <a:ext cx="2053249" cy="3291840"/>
          </a:xfrm>
          <a:prstGeom prst="rect">
            <a:avLst/>
          </a:prstGeom>
        </p:spPr>
      </p:pic>
      <p:sp>
        <p:nvSpPr>
          <p:cNvPr id="30" name="Shape 26"/>
          <p:cNvSpPr/>
          <p:nvPr/>
        </p:nvSpPr>
        <p:spPr>
          <a:xfrm>
            <a:off x="7266737" y="3090672"/>
            <a:ext cx="3291840" cy="384048"/>
          </a:xfrm>
          <a:prstGeom prst="rect">
            <a:avLst/>
          </a:prstGeom>
          <a:solidFill>
            <a:srgbClr val="0B1A30"/>
          </a:solidFill>
          <a:ln w="12700">
            <a:solidFill>
              <a:srgbClr val="0B1A30"/>
            </a:solidFill>
            <a:prstDash val="solid"/>
          </a:ln>
        </p:spPr>
        <p:txBody>
          <a:bodyPr/>
          <a:lstStyle/>
          <a:p>
            <a:endParaRPr lang="en-US"/>
          </a:p>
        </p:txBody>
      </p:sp>
      <p:sp>
        <p:nvSpPr>
          <p:cNvPr id="31" name="Text 27"/>
          <p:cNvSpPr/>
          <p:nvPr/>
        </p:nvSpPr>
        <p:spPr>
          <a:xfrm>
            <a:off x="7266737" y="3090672"/>
            <a:ext cx="3291840" cy="384048"/>
          </a:xfrm>
          <a:prstGeom prst="rect">
            <a:avLst/>
          </a:prstGeom>
          <a:noFill/>
          <a:ln/>
        </p:spPr>
        <p:txBody>
          <a:bodyPr wrap="square" lIns="0" tIns="0" rIns="0" bIns="0" rtlCol="0" anchor="ctr"/>
          <a:lstStyle/>
          <a:p>
            <a:pPr marL="0" indent="0" algn="ctr">
              <a:buNone/>
            </a:pPr>
            <a:r>
              <a:rPr lang="en-US" sz="1100" b="1" dirty="0">
                <a:solidFill>
                  <a:srgbClr val="00B4CC"/>
                </a:solidFill>
                <a:latin typeface="Calibri" pitchFamily="34" charset="0"/>
                <a:ea typeface="Calibri" pitchFamily="34" charset="-122"/>
                <a:cs typeface="Calibri" pitchFamily="34" charset="-120"/>
              </a:rPr>
              <a:t>Résultat UX</a:t>
            </a:r>
            <a:endParaRPr lang="en-US" sz="1100" dirty="0"/>
          </a:p>
        </p:txBody>
      </p:sp>
      <p:sp>
        <p:nvSpPr>
          <p:cNvPr id="32" name="Shape 28"/>
          <p:cNvSpPr/>
          <p:nvPr/>
        </p:nvSpPr>
        <p:spPr>
          <a:xfrm>
            <a:off x="7321601" y="3639312"/>
            <a:ext cx="100584" cy="100584"/>
          </a:xfrm>
          <a:prstGeom prst="ellipse">
            <a:avLst/>
          </a:prstGeom>
          <a:solidFill>
            <a:srgbClr val="00B4CC"/>
          </a:solidFill>
          <a:ln w="12700">
            <a:solidFill>
              <a:srgbClr val="00B4CC"/>
            </a:solidFill>
            <a:prstDash val="solid"/>
          </a:ln>
        </p:spPr>
        <p:txBody>
          <a:bodyPr/>
          <a:lstStyle/>
          <a:p>
            <a:endParaRPr lang="en-US"/>
          </a:p>
        </p:txBody>
      </p:sp>
      <p:sp>
        <p:nvSpPr>
          <p:cNvPr id="33" name="Text 29"/>
          <p:cNvSpPr/>
          <p:nvPr/>
        </p:nvSpPr>
        <p:spPr>
          <a:xfrm>
            <a:off x="7504481" y="3566160"/>
            <a:ext cx="3054096" cy="384048"/>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Connexion rapide et sécurisée</a:t>
            </a:r>
            <a:endParaRPr lang="en-US" sz="1100" dirty="0"/>
          </a:p>
        </p:txBody>
      </p:sp>
      <p:sp>
        <p:nvSpPr>
          <p:cNvPr id="34" name="Shape 30"/>
          <p:cNvSpPr/>
          <p:nvPr/>
        </p:nvSpPr>
        <p:spPr>
          <a:xfrm>
            <a:off x="7321601" y="4078224"/>
            <a:ext cx="100584" cy="100584"/>
          </a:xfrm>
          <a:prstGeom prst="ellipse">
            <a:avLst/>
          </a:prstGeom>
          <a:solidFill>
            <a:srgbClr val="00B4CC"/>
          </a:solidFill>
          <a:ln w="12700">
            <a:solidFill>
              <a:srgbClr val="00B4CC"/>
            </a:solidFill>
            <a:prstDash val="solid"/>
          </a:ln>
        </p:spPr>
        <p:txBody>
          <a:bodyPr/>
          <a:lstStyle/>
          <a:p>
            <a:endParaRPr lang="en-US"/>
          </a:p>
        </p:txBody>
      </p:sp>
      <p:sp>
        <p:nvSpPr>
          <p:cNvPr id="35" name="Text 31"/>
          <p:cNvSpPr/>
          <p:nvPr/>
        </p:nvSpPr>
        <p:spPr>
          <a:xfrm>
            <a:off x="7504481" y="4005072"/>
            <a:ext cx="3054096" cy="384048"/>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Accès immédiat à la carte</a:t>
            </a:r>
            <a:endParaRPr lang="en-US" sz="1100" dirty="0"/>
          </a:p>
        </p:txBody>
      </p:sp>
      <p:sp>
        <p:nvSpPr>
          <p:cNvPr id="36" name="Shape 32"/>
          <p:cNvSpPr/>
          <p:nvPr/>
        </p:nvSpPr>
        <p:spPr>
          <a:xfrm>
            <a:off x="7321601" y="4517136"/>
            <a:ext cx="100584" cy="100584"/>
          </a:xfrm>
          <a:prstGeom prst="ellipse">
            <a:avLst/>
          </a:prstGeom>
          <a:solidFill>
            <a:srgbClr val="00B4CC"/>
          </a:solidFill>
          <a:ln w="12700">
            <a:solidFill>
              <a:srgbClr val="00B4CC"/>
            </a:solidFill>
            <a:prstDash val="solid"/>
          </a:ln>
        </p:spPr>
        <p:txBody>
          <a:bodyPr/>
          <a:lstStyle/>
          <a:p>
            <a:endParaRPr lang="en-US"/>
          </a:p>
        </p:txBody>
      </p:sp>
      <p:sp>
        <p:nvSpPr>
          <p:cNvPr id="37" name="Text 33"/>
          <p:cNvSpPr/>
          <p:nvPr/>
        </p:nvSpPr>
        <p:spPr>
          <a:xfrm>
            <a:off x="7504481" y="4443984"/>
            <a:ext cx="3054096" cy="384048"/>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Concentration sur la conquête</a:t>
            </a:r>
            <a:endParaRPr lang="en-US" sz="1100" dirty="0"/>
          </a:p>
        </p:txBody>
      </p:sp>
      <p:sp>
        <p:nvSpPr>
          <p:cNvPr id="38" name="Shape 34"/>
          <p:cNvSpPr/>
          <p:nvPr/>
        </p:nvSpPr>
        <p:spPr>
          <a:xfrm>
            <a:off x="7321601" y="4956048"/>
            <a:ext cx="100584" cy="100584"/>
          </a:xfrm>
          <a:prstGeom prst="ellipse">
            <a:avLst/>
          </a:prstGeom>
          <a:solidFill>
            <a:srgbClr val="00B4CC"/>
          </a:solidFill>
          <a:ln w="12700">
            <a:solidFill>
              <a:srgbClr val="00B4CC"/>
            </a:solidFill>
            <a:prstDash val="solid"/>
          </a:ln>
        </p:spPr>
        <p:txBody>
          <a:bodyPr/>
          <a:lstStyle/>
          <a:p>
            <a:endParaRPr lang="en-US"/>
          </a:p>
        </p:txBody>
      </p:sp>
      <p:sp>
        <p:nvSpPr>
          <p:cNvPr id="39" name="Text 35"/>
          <p:cNvSpPr/>
          <p:nvPr/>
        </p:nvSpPr>
        <p:spPr>
          <a:xfrm>
            <a:off x="7504481" y="4882896"/>
            <a:ext cx="3054096" cy="384048"/>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Interface épurée, zéro surcharge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2046"/>
          </a:solidFill>
          <a:ln w="12700">
            <a:solidFill>
              <a:srgbClr val="162046"/>
            </a:solidFill>
            <a:prstDash val="solid"/>
          </a:ln>
        </p:spPr>
        <p:txBody>
          <a:bodyPr/>
          <a:lstStyle/>
          <a:p>
            <a:endParaRPr lang="en-US"/>
          </a:p>
        </p:txBody>
      </p:sp>
      <p:sp>
        <p:nvSpPr>
          <p:cNvPr id="3" name="Shape 1"/>
          <p:cNvSpPr/>
          <p:nvPr/>
        </p:nvSpPr>
        <p:spPr>
          <a:xfrm>
            <a:off x="109728" y="0"/>
            <a:ext cx="12051792" cy="914400"/>
          </a:xfrm>
          <a:prstGeom prst="rect">
            <a:avLst/>
          </a:prstGeom>
          <a:solidFill>
            <a:srgbClr val="162046"/>
          </a:solidFill>
          <a:ln w="12700">
            <a:solidFill>
              <a:srgbClr val="162046"/>
            </a:solidFill>
            <a:prstDash val="solid"/>
          </a:ln>
        </p:spPr>
        <p:txBody>
          <a:bodyPr/>
          <a:lstStyle/>
          <a:p>
            <a:endParaRPr lang="en-US"/>
          </a:p>
        </p:txBody>
      </p:sp>
      <p:sp>
        <p:nvSpPr>
          <p:cNvPr id="4" name="Text 2"/>
          <p:cNvSpPr/>
          <p:nvPr/>
        </p:nvSpPr>
        <p:spPr>
          <a:xfrm>
            <a:off x="365760" y="91440"/>
            <a:ext cx="91440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IHM — Décisions UX &amp; Principes Ergonomiques</a:t>
            </a:r>
            <a:endParaRPr lang="en-US" sz="2200" dirty="0"/>
          </a:p>
        </p:txBody>
      </p:sp>
      <p:sp>
        <p:nvSpPr>
          <p:cNvPr id="5" name="Shape 3"/>
          <p:cNvSpPr/>
          <p:nvPr/>
        </p:nvSpPr>
        <p:spPr>
          <a:xfrm>
            <a:off x="9784080" y="182880"/>
            <a:ext cx="2240280" cy="475488"/>
          </a:xfrm>
          <a:prstGeom prst="roundRect">
            <a:avLst>
              <a:gd name="adj" fmla="val 11538"/>
            </a:avLst>
          </a:prstGeom>
          <a:solidFill>
            <a:srgbClr val="00B4CC"/>
          </a:solidFill>
          <a:ln w="12700">
            <a:solidFill>
              <a:srgbClr val="00B4CC"/>
            </a:solidFill>
            <a:prstDash val="solid"/>
          </a:ln>
        </p:spPr>
        <p:txBody>
          <a:bodyPr/>
          <a:lstStyle/>
          <a:p>
            <a:endParaRPr lang="en-US"/>
          </a:p>
        </p:txBody>
      </p:sp>
      <p:sp>
        <p:nvSpPr>
          <p:cNvPr id="6" name="Text 4"/>
          <p:cNvSpPr/>
          <p:nvPr/>
        </p:nvSpPr>
        <p:spPr>
          <a:xfrm>
            <a:off x="9784080" y="182880"/>
            <a:ext cx="2240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User Story 1</a:t>
            </a:r>
            <a:endParaRPr lang="en-US" sz="1050" dirty="0"/>
          </a:p>
        </p:txBody>
      </p:sp>
      <p:sp>
        <p:nvSpPr>
          <p:cNvPr id="7" name="Shape 5"/>
          <p:cNvSpPr/>
          <p:nvPr/>
        </p:nvSpPr>
        <p:spPr>
          <a:xfrm>
            <a:off x="109728" y="6291072"/>
            <a:ext cx="12051792" cy="530352"/>
          </a:xfrm>
          <a:prstGeom prst="rect">
            <a:avLst/>
          </a:prstGeom>
          <a:solidFill>
            <a:srgbClr val="0B1A30"/>
          </a:solidFill>
          <a:ln w="12700">
            <a:solidFill>
              <a:srgbClr val="0B1A30"/>
            </a:solidFill>
            <a:prstDash val="solid"/>
          </a:ln>
        </p:spPr>
        <p:txBody>
          <a:bodyPr/>
          <a:lstStyle/>
          <a:p>
            <a:endParaRPr lang="en-US"/>
          </a:p>
        </p:txBody>
      </p:sp>
      <p:sp>
        <p:nvSpPr>
          <p:cNvPr id="8" name="Text 6"/>
          <p:cNvSpPr/>
          <p:nvPr/>
        </p:nvSpPr>
        <p:spPr>
          <a:xfrm>
            <a:off x="320040" y="6291072"/>
            <a:ext cx="11887200" cy="530352"/>
          </a:xfrm>
          <a:prstGeom prst="rect">
            <a:avLst/>
          </a:prstGeom>
          <a:noFill/>
          <a:ln/>
        </p:spPr>
        <p:txBody>
          <a:bodyPr wrap="square" lIns="0" tIns="0" rIns="0" bIns="0" rtlCol="0" anchor="ctr"/>
          <a:lstStyle/>
          <a:p>
            <a:pPr marL="0" indent="0" algn="ctr">
              <a:buNone/>
            </a:pPr>
            <a:r>
              <a:rPr lang="en-US" sz="1050" b="1" dirty="0">
                <a:solidFill>
                  <a:srgbClr val="00B4CC"/>
                </a:solidFill>
                <a:latin typeface="Calibri" pitchFamily="34" charset="0"/>
                <a:ea typeface="Calibri" pitchFamily="34" charset="-122"/>
                <a:cs typeface="Calibri" pitchFamily="34" charset="-120"/>
              </a:rPr>
              <a:t>✦  Résultat UX : Compréhension immédiate, concentration maximale, prise de décision rapide — sans surcharge cognitive</a:t>
            </a:r>
            <a:endParaRPr lang="en-US" sz="1050" dirty="0"/>
          </a:p>
        </p:txBody>
      </p:sp>
      <p:sp>
        <p:nvSpPr>
          <p:cNvPr id="9" name="Shape 7"/>
          <p:cNvSpPr/>
          <p:nvPr/>
        </p:nvSpPr>
        <p:spPr>
          <a:xfrm>
            <a:off x="228600" y="978408"/>
            <a:ext cx="2743200" cy="5239512"/>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10" name="Shape 8"/>
          <p:cNvSpPr/>
          <p:nvPr/>
        </p:nvSpPr>
        <p:spPr>
          <a:xfrm>
            <a:off x="228600" y="978408"/>
            <a:ext cx="2743200" cy="658368"/>
          </a:xfrm>
          <a:prstGeom prst="rect">
            <a:avLst/>
          </a:prstGeom>
          <a:solidFill>
            <a:srgbClr val="00B4CC"/>
          </a:solidFill>
          <a:ln w="12700">
            <a:solidFill>
              <a:srgbClr val="00B4CC"/>
            </a:solidFill>
            <a:prstDash val="solid"/>
          </a:ln>
        </p:spPr>
        <p:txBody>
          <a:bodyPr/>
          <a:lstStyle/>
          <a:p>
            <a:endParaRPr lang="en-US"/>
          </a:p>
        </p:txBody>
      </p:sp>
      <p:sp>
        <p:nvSpPr>
          <p:cNvPr id="11" name="Text 9"/>
          <p:cNvSpPr/>
          <p:nvPr/>
        </p:nvSpPr>
        <p:spPr>
          <a:xfrm>
            <a:off x="320040" y="1005840"/>
            <a:ext cx="260604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Carte (Map)</a:t>
            </a:r>
            <a:endParaRPr lang="en-US" sz="1150" dirty="0"/>
          </a:p>
        </p:txBody>
      </p:sp>
      <p:sp>
        <p:nvSpPr>
          <p:cNvPr id="12" name="Text 10"/>
          <p:cNvSpPr/>
          <p:nvPr/>
        </p:nvSpPr>
        <p:spPr>
          <a:xfrm>
            <a:off x="320040" y="1380744"/>
            <a:ext cx="2606040" cy="219456"/>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Élément principal</a:t>
            </a:r>
            <a:endParaRPr lang="en-US" sz="950" dirty="0"/>
          </a:p>
        </p:txBody>
      </p:sp>
      <p:sp>
        <p:nvSpPr>
          <p:cNvPr id="13" name="Shape 11"/>
          <p:cNvSpPr/>
          <p:nvPr/>
        </p:nvSpPr>
        <p:spPr>
          <a:xfrm>
            <a:off x="356616" y="1801368"/>
            <a:ext cx="100584" cy="100584"/>
          </a:xfrm>
          <a:prstGeom prst="ellipse">
            <a:avLst/>
          </a:prstGeom>
          <a:solidFill>
            <a:srgbClr val="00B4CC"/>
          </a:solidFill>
          <a:ln w="12700">
            <a:solidFill>
              <a:srgbClr val="00B4CC"/>
            </a:solidFill>
            <a:prstDash val="solid"/>
          </a:ln>
        </p:spPr>
        <p:txBody>
          <a:bodyPr/>
          <a:lstStyle/>
          <a:p>
            <a:endParaRPr lang="en-US"/>
          </a:p>
        </p:txBody>
      </p:sp>
      <p:sp>
        <p:nvSpPr>
          <p:cNvPr id="14" name="Text 12"/>
          <p:cNvSpPr/>
          <p:nvPr/>
        </p:nvSpPr>
        <p:spPr>
          <a:xfrm>
            <a:off x="539496" y="1728216"/>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Occupe le maximum de l'espace écran</a:t>
            </a:r>
            <a:endParaRPr lang="en-US" sz="1000" dirty="0"/>
          </a:p>
        </p:txBody>
      </p:sp>
      <p:sp>
        <p:nvSpPr>
          <p:cNvPr id="15" name="Shape 13"/>
          <p:cNvSpPr/>
          <p:nvPr/>
        </p:nvSpPr>
        <p:spPr>
          <a:xfrm>
            <a:off x="356616" y="2240280"/>
            <a:ext cx="100584" cy="100584"/>
          </a:xfrm>
          <a:prstGeom prst="ellipse">
            <a:avLst/>
          </a:prstGeom>
          <a:solidFill>
            <a:srgbClr val="00B4CC"/>
          </a:solidFill>
          <a:ln w="12700">
            <a:solidFill>
              <a:srgbClr val="00B4CC"/>
            </a:solidFill>
            <a:prstDash val="solid"/>
          </a:ln>
        </p:spPr>
        <p:txBody>
          <a:bodyPr/>
          <a:lstStyle/>
          <a:p>
            <a:endParaRPr lang="en-US"/>
          </a:p>
        </p:txBody>
      </p:sp>
      <p:sp>
        <p:nvSpPr>
          <p:cNvPr id="16" name="Text 14"/>
          <p:cNvSpPr/>
          <p:nvPr/>
        </p:nvSpPr>
        <p:spPr>
          <a:xfrm>
            <a:off x="539496" y="2167128"/>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Maintient la concentration sur la conquête</a:t>
            </a:r>
            <a:endParaRPr lang="en-US" sz="1000" dirty="0"/>
          </a:p>
        </p:txBody>
      </p:sp>
      <p:sp>
        <p:nvSpPr>
          <p:cNvPr id="17" name="Shape 15"/>
          <p:cNvSpPr/>
          <p:nvPr/>
        </p:nvSpPr>
        <p:spPr>
          <a:xfrm>
            <a:off x="356616" y="2679192"/>
            <a:ext cx="100584" cy="100584"/>
          </a:xfrm>
          <a:prstGeom prst="ellipse">
            <a:avLst/>
          </a:prstGeom>
          <a:solidFill>
            <a:srgbClr val="00B4CC"/>
          </a:solidFill>
          <a:ln w="12700">
            <a:solidFill>
              <a:srgbClr val="00B4CC"/>
            </a:solidFill>
            <a:prstDash val="solid"/>
          </a:ln>
        </p:spPr>
        <p:txBody>
          <a:bodyPr/>
          <a:lstStyle/>
          <a:p>
            <a:endParaRPr lang="en-US"/>
          </a:p>
        </p:txBody>
      </p:sp>
      <p:sp>
        <p:nvSpPr>
          <p:cNvPr id="18" name="Text 16"/>
          <p:cNvSpPr/>
          <p:nvPr/>
        </p:nvSpPr>
        <p:spPr>
          <a:xfrm>
            <a:off x="539496" y="2606040"/>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Fond de carte visible sous les territoires</a:t>
            </a:r>
            <a:endParaRPr lang="en-US" sz="1000" dirty="0"/>
          </a:p>
        </p:txBody>
      </p:sp>
      <p:pic>
        <p:nvPicPr>
          <p:cNvPr id="19" name="Image 0" descr="preencoded.png"/>
          <p:cNvPicPr>
            <a:picLocks noChangeAspect="1"/>
          </p:cNvPicPr>
          <p:nvPr/>
        </p:nvPicPr>
        <p:blipFill>
          <a:blip r:embed="rId3"/>
          <a:stretch>
            <a:fillRect/>
          </a:stretch>
        </p:blipFill>
        <p:spPr>
          <a:xfrm>
            <a:off x="601218" y="3127248"/>
            <a:ext cx="1997964" cy="2999232"/>
          </a:xfrm>
          <a:prstGeom prst="rect">
            <a:avLst/>
          </a:prstGeom>
        </p:spPr>
      </p:pic>
      <p:sp>
        <p:nvSpPr>
          <p:cNvPr id="20" name="Shape 17"/>
          <p:cNvSpPr/>
          <p:nvPr/>
        </p:nvSpPr>
        <p:spPr>
          <a:xfrm>
            <a:off x="3163824" y="978408"/>
            <a:ext cx="2743200" cy="5239512"/>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21" name="Shape 18"/>
          <p:cNvSpPr/>
          <p:nvPr/>
        </p:nvSpPr>
        <p:spPr>
          <a:xfrm>
            <a:off x="3163824" y="978408"/>
            <a:ext cx="2743200" cy="658368"/>
          </a:xfrm>
          <a:prstGeom prst="rect">
            <a:avLst/>
          </a:prstGeom>
          <a:solidFill>
            <a:srgbClr val="10B981"/>
          </a:solidFill>
          <a:ln w="12700">
            <a:solidFill>
              <a:srgbClr val="10B981"/>
            </a:solidFill>
            <a:prstDash val="solid"/>
          </a:ln>
        </p:spPr>
        <p:txBody>
          <a:bodyPr/>
          <a:lstStyle/>
          <a:p>
            <a:endParaRPr lang="en-US"/>
          </a:p>
        </p:txBody>
      </p:sp>
      <p:sp>
        <p:nvSpPr>
          <p:cNvPr id="22" name="Text 19"/>
          <p:cNvSpPr/>
          <p:nvPr/>
        </p:nvSpPr>
        <p:spPr>
          <a:xfrm>
            <a:off x="3255264" y="1005840"/>
            <a:ext cx="260604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Couleurs des territoires</a:t>
            </a:r>
            <a:endParaRPr lang="en-US" sz="1150" dirty="0"/>
          </a:p>
        </p:txBody>
      </p:sp>
      <p:sp>
        <p:nvSpPr>
          <p:cNvPr id="23" name="Text 20"/>
          <p:cNvSpPr/>
          <p:nvPr/>
        </p:nvSpPr>
        <p:spPr>
          <a:xfrm>
            <a:off x="3255264" y="1380744"/>
            <a:ext cx="2606040" cy="219456"/>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Distinction visuelle</a:t>
            </a:r>
            <a:endParaRPr lang="en-US" sz="950" dirty="0"/>
          </a:p>
        </p:txBody>
      </p:sp>
      <p:sp>
        <p:nvSpPr>
          <p:cNvPr id="24" name="Shape 21"/>
          <p:cNvSpPr/>
          <p:nvPr/>
        </p:nvSpPr>
        <p:spPr>
          <a:xfrm>
            <a:off x="3291840" y="1801368"/>
            <a:ext cx="100584" cy="100584"/>
          </a:xfrm>
          <a:prstGeom prst="ellipse">
            <a:avLst/>
          </a:prstGeom>
          <a:solidFill>
            <a:srgbClr val="10B981"/>
          </a:solidFill>
          <a:ln w="12700">
            <a:solidFill>
              <a:srgbClr val="10B981"/>
            </a:solidFill>
            <a:prstDash val="solid"/>
          </a:ln>
        </p:spPr>
        <p:txBody>
          <a:bodyPr/>
          <a:lstStyle/>
          <a:p>
            <a:endParaRPr lang="en-US"/>
          </a:p>
        </p:txBody>
      </p:sp>
      <p:sp>
        <p:nvSpPr>
          <p:cNvPr id="25" name="Text 22"/>
          <p:cNvSpPr/>
          <p:nvPr/>
        </p:nvSpPr>
        <p:spPr>
          <a:xfrm>
            <a:off x="3474720" y="1728216"/>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Distinguer les territoires conquis</a:t>
            </a:r>
            <a:endParaRPr lang="en-US" sz="1000" dirty="0"/>
          </a:p>
        </p:txBody>
      </p:sp>
      <p:sp>
        <p:nvSpPr>
          <p:cNvPr id="26" name="Shape 23"/>
          <p:cNvSpPr/>
          <p:nvPr/>
        </p:nvSpPr>
        <p:spPr>
          <a:xfrm>
            <a:off x="3291840" y="2240280"/>
            <a:ext cx="100584" cy="100584"/>
          </a:xfrm>
          <a:prstGeom prst="ellipse">
            <a:avLst/>
          </a:prstGeom>
          <a:solidFill>
            <a:srgbClr val="10B981"/>
          </a:solidFill>
          <a:ln w="12700">
            <a:solidFill>
              <a:srgbClr val="10B981"/>
            </a:solidFill>
            <a:prstDash val="solid"/>
          </a:ln>
        </p:spPr>
        <p:txBody>
          <a:bodyPr/>
          <a:lstStyle/>
          <a:p>
            <a:endParaRPr lang="en-US"/>
          </a:p>
        </p:txBody>
      </p:sp>
      <p:sp>
        <p:nvSpPr>
          <p:cNvPr id="27" name="Text 24"/>
          <p:cNvSpPr/>
          <p:nvPr/>
        </p:nvSpPr>
        <p:spPr>
          <a:xfrm>
            <a:off x="3474720" y="2167128"/>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Différencier des routes originales</a:t>
            </a:r>
            <a:endParaRPr lang="en-US" sz="1000" dirty="0"/>
          </a:p>
        </p:txBody>
      </p:sp>
      <p:sp>
        <p:nvSpPr>
          <p:cNvPr id="28" name="Shape 25"/>
          <p:cNvSpPr/>
          <p:nvPr/>
        </p:nvSpPr>
        <p:spPr>
          <a:xfrm>
            <a:off x="3291840" y="2679192"/>
            <a:ext cx="100584" cy="100584"/>
          </a:xfrm>
          <a:prstGeom prst="ellipse">
            <a:avLst/>
          </a:prstGeom>
          <a:solidFill>
            <a:srgbClr val="10B981"/>
          </a:solidFill>
          <a:ln w="12700">
            <a:solidFill>
              <a:srgbClr val="10B981"/>
            </a:solidFill>
            <a:prstDash val="solid"/>
          </a:ln>
        </p:spPr>
        <p:txBody>
          <a:bodyPr/>
          <a:lstStyle/>
          <a:p>
            <a:endParaRPr lang="en-US"/>
          </a:p>
        </p:txBody>
      </p:sp>
      <p:sp>
        <p:nvSpPr>
          <p:cNvPr id="29" name="Text 26"/>
          <p:cNvSpPr/>
          <p:nvPr/>
        </p:nvSpPr>
        <p:spPr>
          <a:xfrm>
            <a:off x="3474720" y="2606040"/>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Transparence pour voir la carte</a:t>
            </a:r>
            <a:endParaRPr lang="en-US" sz="1000" dirty="0"/>
          </a:p>
        </p:txBody>
      </p:sp>
      <p:sp>
        <p:nvSpPr>
          <p:cNvPr id="30" name="Shape 27"/>
          <p:cNvSpPr/>
          <p:nvPr/>
        </p:nvSpPr>
        <p:spPr>
          <a:xfrm>
            <a:off x="3291840" y="3118104"/>
            <a:ext cx="100584" cy="100584"/>
          </a:xfrm>
          <a:prstGeom prst="ellipse">
            <a:avLst/>
          </a:prstGeom>
          <a:solidFill>
            <a:srgbClr val="10B981"/>
          </a:solidFill>
          <a:ln w="12700">
            <a:solidFill>
              <a:srgbClr val="10B981"/>
            </a:solidFill>
            <a:prstDash val="solid"/>
          </a:ln>
        </p:spPr>
        <p:txBody>
          <a:bodyPr/>
          <a:lstStyle/>
          <a:p>
            <a:endParaRPr lang="en-US"/>
          </a:p>
        </p:txBody>
      </p:sp>
      <p:sp>
        <p:nvSpPr>
          <p:cNvPr id="31" name="Text 28"/>
          <p:cNvSpPr/>
          <p:nvPr/>
        </p:nvSpPr>
        <p:spPr>
          <a:xfrm>
            <a:off x="3474720" y="3044952"/>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Bordure distincte du remplissage</a:t>
            </a:r>
            <a:endParaRPr lang="en-US" sz="1000" dirty="0"/>
          </a:p>
        </p:txBody>
      </p:sp>
      <p:pic>
        <p:nvPicPr>
          <p:cNvPr id="32" name="Image 1" descr="preencoded.png"/>
          <p:cNvPicPr>
            <a:picLocks noChangeAspect="1"/>
          </p:cNvPicPr>
          <p:nvPr/>
        </p:nvPicPr>
        <p:blipFill>
          <a:blip r:embed="rId4"/>
          <a:stretch>
            <a:fillRect/>
          </a:stretch>
        </p:blipFill>
        <p:spPr>
          <a:xfrm>
            <a:off x="3255264" y="3511296"/>
            <a:ext cx="2560320" cy="759866"/>
          </a:xfrm>
          <a:prstGeom prst="rect">
            <a:avLst/>
          </a:prstGeom>
        </p:spPr>
      </p:pic>
      <p:sp>
        <p:nvSpPr>
          <p:cNvPr id="33" name="Shape 29"/>
          <p:cNvSpPr/>
          <p:nvPr/>
        </p:nvSpPr>
        <p:spPr>
          <a:xfrm>
            <a:off x="6099048" y="978408"/>
            <a:ext cx="2743200" cy="5239512"/>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34" name="Shape 30"/>
          <p:cNvSpPr/>
          <p:nvPr/>
        </p:nvSpPr>
        <p:spPr>
          <a:xfrm>
            <a:off x="6099048" y="978408"/>
            <a:ext cx="2743200" cy="658368"/>
          </a:xfrm>
          <a:prstGeom prst="rect">
            <a:avLst/>
          </a:prstGeom>
          <a:solidFill>
            <a:srgbClr val="F59E0B"/>
          </a:solidFill>
          <a:ln w="12700">
            <a:solidFill>
              <a:srgbClr val="F59E0B"/>
            </a:solidFill>
            <a:prstDash val="solid"/>
          </a:ln>
        </p:spPr>
        <p:txBody>
          <a:bodyPr/>
          <a:lstStyle/>
          <a:p>
            <a:endParaRPr lang="en-US"/>
          </a:p>
        </p:txBody>
      </p:sp>
      <p:sp>
        <p:nvSpPr>
          <p:cNvPr id="35" name="Text 31"/>
          <p:cNvSpPr/>
          <p:nvPr/>
        </p:nvSpPr>
        <p:spPr>
          <a:xfrm>
            <a:off x="6190488" y="1005840"/>
            <a:ext cx="260604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Menu (haut droite)</a:t>
            </a:r>
            <a:endParaRPr lang="en-US" sz="1150" dirty="0"/>
          </a:p>
        </p:txBody>
      </p:sp>
      <p:sp>
        <p:nvSpPr>
          <p:cNvPr id="36" name="Text 32"/>
          <p:cNvSpPr/>
          <p:nvPr/>
        </p:nvSpPr>
        <p:spPr>
          <a:xfrm>
            <a:off x="6190488" y="1380744"/>
            <a:ext cx="2606040" cy="219456"/>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Navigation secondaire</a:t>
            </a:r>
            <a:endParaRPr lang="en-US" sz="950" dirty="0"/>
          </a:p>
        </p:txBody>
      </p:sp>
      <p:sp>
        <p:nvSpPr>
          <p:cNvPr id="37" name="Shape 33"/>
          <p:cNvSpPr/>
          <p:nvPr/>
        </p:nvSpPr>
        <p:spPr>
          <a:xfrm>
            <a:off x="6227064" y="1801368"/>
            <a:ext cx="100584" cy="100584"/>
          </a:xfrm>
          <a:prstGeom prst="ellipse">
            <a:avLst/>
          </a:prstGeom>
          <a:solidFill>
            <a:srgbClr val="F59E0B"/>
          </a:solidFill>
          <a:ln w="12700">
            <a:solidFill>
              <a:srgbClr val="F59E0B"/>
            </a:solidFill>
            <a:prstDash val="solid"/>
          </a:ln>
        </p:spPr>
        <p:txBody>
          <a:bodyPr/>
          <a:lstStyle/>
          <a:p>
            <a:endParaRPr lang="en-US"/>
          </a:p>
        </p:txBody>
      </p:sp>
      <p:sp>
        <p:nvSpPr>
          <p:cNvPr id="38" name="Text 34"/>
          <p:cNvSpPr/>
          <p:nvPr/>
        </p:nvSpPr>
        <p:spPr>
          <a:xfrm>
            <a:off x="6409944" y="1728216"/>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Ne pas surcharger la carte</a:t>
            </a:r>
            <a:endParaRPr lang="en-US" sz="1000" dirty="0"/>
          </a:p>
        </p:txBody>
      </p:sp>
      <p:sp>
        <p:nvSpPr>
          <p:cNvPr id="39" name="Shape 35"/>
          <p:cNvSpPr/>
          <p:nvPr/>
        </p:nvSpPr>
        <p:spPr>
          <a:xfrm>
            <a:off x="6227064" y="2240280"/>
            <a:ext cx="100584" cy="100584"/>
          </a:xfrm>
          <a:prstGeom prst="ellipse">
            <a:avLst/>
          </a:prstGeom>
          <a:solidFill>
            <a:srgbClr val="F59E0B"/>
          </a:solidFill>
          <a:ln w="12700">
            <a:solidFill>
              <a:srgbClr val="F59E0B"/>
            </a:solidFill>
            <a:prstDash val="solid"/>
          </a:ln>
        </p:spPr>
        <p:txBody>
          <a:bodyPr/>
          <a:lstStyle/>
          <a:p>
            <a:endParaRPr lang="en-US"/>
          </a:p>
        </p:txBody>
      </p:sp>
      <p:sp>
        <p:nvSpPr>
          <p:cNvPr id="40" name="Text 36"/>
          <p:cNvSpPr/>
          <p:nvPr/>
        </p:nvSpPr>
        <p:spPr>
          <a:xfrm>
            <a:off x="6409944" y="2167128"/>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Préserver la concentration sportive</a:t>
            </a:r>
            <a:endParaRPr lang="en-US" sz="1000" dirty="0"/>
          </a:p>
        </p:txBody>
      </p:sp>
      <p:sp>
        <p:nvSpPr>
          <p:cNvPr id="41" name="Shape 37"/>
          <p:cNvSpPr/>
          <p:nvPr/>
        </p:nvSpPr>
        <p:spPr>
          <a:xfrm>
            <a:off x="6227064" y="2679192"/>
            <a:ext cx="100584" cy="100584"/>
          </a:xfrm>
          <a:prstGeom prst="ellipse">
            <a:avLst/>
          </a:prstGeom>
          <a:solidFill>
            <a:srgbClr val="F59E0B"/>
          </a:solidFill>
          <a:ln w="12700">
            <a:solidFill>
              <a:srgbClr val="F59E0B"/>
            </a:solidFill>
            <a:prstDash val="solid"/>
          </a:ln>
        </p:spPr>
        <p:txBody>
          <a:bodyPr/>
          <a:lstStyle/>
          <a:p>
            <a:endParaRPr lang="en-US"/>
          </a:p>
        </p:txBody>
      </p:sp>
      <p:sp>
        <p:nvSpPr>
          <p:cNvPr id="42" name="Text 38"/>
          <p:cNvSpPr/>
          <p:nvPr/>
        </p:nvSpPr>
        <p:spPr>
          <a:xfrm>
            <a:off x="6409944" y="2606040"/>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Accès : Leaderboard, Profil, stats</a:t>
            </a:r>
            <a:endParaRPr lang="en-US" sz="1000" dirty="0"/>
          </a:p>
        </p:txBody>
      </p:sp>
      <p:sp>
        <p:nvSpPr>
          <p:cNvPr id="43" name="Shape 39"/>
          <p:cNvSpPr/>
          <p:nvPr/>
        </p:nvSpPr>
        <p:spPr>
          <a:xfrm>
            <a:off x="6227064" y="3118104"/>
            <a:ext cx="100584" cy="100584"/>
          </a:xfrm>
          <a:prstGeom prst="ellipse">
            <a:avLst/>
          </a:prstGeom>
          <a:solidFill>
            <a:srgbClr val="F59E0B"/>
          </a:solidFill>
          <a:ln w="12700">
            <a:solidFill>
              <a:srgbClr val="F59E0B"/>
            </a:solidFill>
            <a:prstDash val="solid"/>
          </a:ln>
        </p:spPr>
        <p:txBody>
          <a:bodyPr/>
          <a:lstStyle/>
          <a:p>
            <a:endParaRPr lang="en-US"/>
          </a:p>
        </p:txBody>
      </p:sp>
      <p:sp>
        <p:nvSpPr>
          <p:cNvPr id="44" name="Text 40"/>
          <p:cNvSpPr/>
          <p:nvPr/>
        </p:nvSpPr>
        <p:spPr>
          <a:xfrm>
            <a:off x="6409944" y="3044952"/>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Seules les données nécessaires</a:t>
            </a:r>
            <a:endParaRPr lang="en-US" sz="1000" dirty="0"/>
          </a:p>
        </p:txBody>
      </p:sp>
      <p:sp>
        <p:nvSpPr>
          <p:cNvPr id="45" name="Shape 41"/>
          <p:cNvSpPr/>
          <p:nvPr/>
        </p:nvSpPr>
        <p:spPr>
          <a:xfrm>
            <a:off x="9034272" y="978408"/>
            <a:ext cx="2743200" cy="5239512"/>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46" name="Shape 42"/>
          <p:cNvSpPr/>
          <p:nvPr/>
        </p:nvSpPr>
        <p:spPr>
          <a:xfrm>
            <a:off x="9034272" y="978408"/>
            <a:ext cx="2743200" cy="658368"/>
          </a:xfrm>
          <a:prstGeom prst="rect">
            <a:avLst/>
          </a:prstGeom>
          <a:solidFill>
            <a:srgbClr val="E53E3E"/>
          </a:solidFill>
          <a:ln w="12700">
            <a:solidFill>
              <a:srgbClr val="E53E3E"/>
            </a:solidFill>
            <a:prstDash val="solid"/>
          </a:ln>
        </p:spPr>
        <p:txBody>
          <a:bodyPr/>
          <a:lstStyle/>
          <a:p>
            <a:endParaRPr lang="en-US"/>
          </a:p>
        </p:txBody>
      </p:sp>
      <p:sp>
        <p:nvSpPr>
          <p:cNvPr id="47" name="Text 43"/>
          <p:cNvSpPr/>
          <p:nvPr/>
        </p:nvSpPr>
        <p:spPr>
          <a:xfrm>
            <a:off x="9125712" y="1005840"/>
            <a:ext cx="260604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Bouton Start / Stop</a:t>
            </a:r>
            <a:endParaRPr lang="en-US" sz="1150" dirty="0"/>
          </a:p>
        </p:txBody>
      </p:sp>
      <p:sp>
        <p:nvSpPr>
          <p:cNvPr id="48" name="Text 44"/>
          <p:cNvSpPr/>
          <p:nvPr/>
        </p:nvSpPr>
        <p:spPr>
          <a:xfrm>
            <a:off x="9125712" y="1380744"/>
            <a:ext cx="2606040" cy="219456"/>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Action principale</a:t>
            </a:r>
            <a:endParaRPr lang="en-US" sz="950" dirty="0"/>
          </a:p>
        </p:txBody>
      </p:sp>
      <p:sp>
        <p:nvSpPr>
          <p:cNvPr id="49" name="Shape 45"/>
          <p:cNvSpPr/>
          <p:nvPr/>
        </p:nvSpPr>
        <p:spPr>
          <a:xfrm>
            <a:off x="9162288" y="1801368"/>
            <a:ext cx="100584" cy="100584"/>
          </a:xfrm>
          <a:prstGeom prst="ellipse">
            <a:avLst/>
          </a:prstGeom>
          <a:solidFill>
            <a:srgbClr val="E53E3E"/>
          </a:solidFill>
          <a:ln w="12700">
            <a:solidFill>
              <a:srgbClr val="E53E3E"/>
            </a:solidFill>
            <a:prstDash val="solid"/>
          </a:ln>
        </p:spPr>
        <p:txBody>
          <a:bodyPr/>
          <a:lstStyle/>
          <a:p>
            <a:endParaRPr lang="en-US"/>
          </a:p>
        </p:txBody>
      </p:sp>
      <p:sp>
        <p:nvSpPr>
          <p:cNvPr id="50" name="Text 46"/>
          <p:cNvSpPr/>
          <p:nvPr/>
        </p:nvSpPr>
        <p:spPr>
          <a:xfrm>
            <a:off x="9345168" y="1728216"/>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Positionné en bas — accessible au pouce</a:t>
            </a:r>
            <a:endParaRPr lang="en-US" sz="1000" dirty="0"/>
          </a:p>
        </p:txBody>
      </p:sp>
      <p:sp>
        <p:nvSpPr>
          <p:cNvPr id="51" name="Shape 47"/>
          <p:cNvSpPr/>
          <p:nvPr/>
        </p:nvSpPr>
        <p:spPr>
          <a:xfrm>
            <a:off x="9162288" y="2240280"/>
            <a:ext cx="100584" cy="100584"/>
          </a:xfrm>
          <a:prstGeom prst="ellipse">
            <a:avLst/>
          </a:prstGeom>
          <a:solidFill>
            <a:srgbClr val="E53E3E"/>
          </a:solidFill>
          <a:ln w="12700">
            <a:solidFill>
              <a:srgbClr val="E53E3E"/>
            </a:solidFill>
            <a:prstDash val="solid"/>
          </a:ln>
        </p:spPr>
        <p:txBody>
          <a:bodyPr/>
          <a:lstStyle/>
          <a:p>
            <a:endParaRPr lang="en-US"/>
          </a:p>
        </p:txBody>
      </p:sp>
      <p:sp>
        <p:nvSpPr>
          <p:cNvPr id="52" name="Text 48"/>
          <p:cNvSpPr/>
          <p:nvPr/>
        </p:nvSpPr>
        <p:spPr>
          <a:xfrm>
            <a:off x="9345168" y="2167128"/>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Facile à atteindre en pleine course</a:t>
            </a:r>
            <a:endParaRPr lang="en-US" sz="1000" dirty="0"/>
          </a:p>
        </p:txBody>
      </p:sp>
      <p:sp>
        <p:nvSpPr>
          <p:cNvPr id="53" name="Shape 49"/>
          <p:cNvSpPr/>
          <p:nvPr/>
        </p:nvSpPr>
        <p:spPr>
          <a:xfrm>
            <a:off x="9162288" y="2679192"/>
            <a:ext cx="100584" cy="100584"/>
          </a:xfrm>
          <a:prstGeom prst="ellipse">
            <a:avLst/>
          </a:prstGeom>
          <a:solidFill>
            <a:srgbClr val="E53E3E"/>
          </a:solidFill>
          <a:ln w="12700">
            <a:solidFill>
              <a:srgbClr val="E53E3E"/>
            </a:solidFill>
            <a:prstDash val="solid"/>
          </a:ln>
        </p:spPr>
        <p:txBody>
          <a:bodyPr/>
          <a:lstStyle/>
          <a:p>
            <a:endParaRPr lang="en-US"/>
          </a:p>
        </p:txBody>
      </p:sp>
      <p:sp>
        <p:nvSpPr>
          <p:cNvPr id="54" name="Text 50"/>
          <p:cNvSpPr/>
          <p:nvPr/>
        </p:nvSpPr>
        <p:spPr>
          <a:xfrm>
            <a:off x="9345168" y="2606040"/>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Alterne Start ↔ Stop, jamais les deux</a:t>
            </a:r>
            <a:endParaRPr lang="en-US" sz="1000" dirty="0"/>
          </a:p>
        </p:txBody>
      </p:sp>
      <p:sp>
        <p:nvSpPr>
          <p:cNvPr id="55" name="Shape 51"/>
          <p:cNvSpPr/>
          <p:nvPr/>
        </p:nvSpPr>
        <p:spPr>
          <a:xfrm>
            <a:off x="9162288" y="3118104"/>
            <a:ext cx="100584" cy="100584"/>
          </a:xfrm>
          <a:prstGeom prst="ellipse">
            <a:avLst/>
          </a:prstGeom>
          <a:solidFill>
            <a:srgbClr val="E53E3E"/>
          </a:solidFill>
          <a:ln w="12700">
            <a:solidFill>
              <a:srgbClr val="E53E3E"/>
            </a:solidFill>
            <a:prstDash val="solid"/>
          </a:ln>
        </p:spPr>
        <p:txBody>
          <a:bodyPr/>
          <a:lstStyle/>
          <a:p>
            <a:endParaRPr lang="en-US"/>
          </a:p>
        </p:txBody>
      </p:sp>
      <p:sp>
        <p:nvSpPr>
          <p:cNvPr id="56" name="Text 52"/>
          <p:cNvSpPr/>
          <p:nvPr/>
        </p:nvSpPr>
        <p:spPr>
          <a:xfrm>
            <a:off x="9345168" y="3044952"/>
            <a:ext cx="2395728"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Réduit la confusion cognitive</a:t>
            </a:r>
            <a:endParaRPr lang="en-US" sz="1000" dirty="0"/>
          </a:p>
        </p:txBody>
      </p:sp>
      <p:sp>
        <p:nvSpPr>
          <p:cNvPr id="57" name="Shape 53"/>
          <p:cNvSpPr/>
          <p:nvPr/>
        </p:nvSpPr>
        <p:spPr>
          <a:xfrm>
            <a:off x="9400032" y="3648456"/>
            <a:ext cx="2011680" cy="457200"/>
          </a:xfrm>
          <a:prstGeom prst="roundRect">
            <a:avLst>
              <a:gd name="adj" fmla="val 16000"/>
            </a:avLst>
          </a:prstGeom>
          <a:solidFill>
            <a:srgbClr val="10B981"/>
          </a:solidFill>
          <a:ln w="12700">
            <a:solidFill>
              <a:srgbClr val="10B981"/>
            </a:solidFill>
            <a:prstDash val="solid"/>
          </a:ln>
        </p:spPr>
        <p:txBody>
          <a:bodyPr/>
          <a:lstStyle/>
          <a:p>
            <a:endParaRPr lang="en-US"/>
          </a:p>
        </p:txBody>
      </p:sp>
      <p:sp>
        <p:nvSpPr>
          <p:cNvPr id="58" name="Text 54"/>
          <p:cNvSpPr/>
          <p:nvPr/>
        </p:nvSpPr>
        <p:spPr>
          <a:xfrm>
            <a:off x="9400032" y="3648456"/>
            <a:ext cx="2011680" cy="457200"/>
          </a:xfrm>
          <a:prstGeom prst="rect">
            <a:avLst/>
          </a:prstGeom>
          <a:noFill/>
          <a:ln/>
        </p:spPr>
        <p:txBody>
          <a:bodyPr wrap="square" lIns="0" tIns="0" rIns="0" bIns="0" rtlCol="0" anchor="ctr"/>
          <a:lstStyle/>
          <a:p>
            <a:pPr marL="0" indent="0" algn="ctr">
              <a:buNone/>
            </a:pPr>
            <a:r>
              <a:rPr lang="en-US" sz="1400" b="1" dirty="0">
                <a:solidFill>
                  <a:srgbClr val="FFFFFF"/>
                </a:solidFill>
              </a:rPr>
              <a:t>START</a:t>
            </a:r>
            <a:endParaRPr lang="en-US" sz="1400" dirty="0"/>
          </a:p>
        </p:txBody>
      </p:sp>
      <p:sp>
        <p:nvSpPr>
          <p:cNvPr id="59" name="Shape 55"/>
          <p:cNvSpPr/>
          <p:nvPr/>
        </p:nvSpPr>
        <p:spPr>
          <a:xfrm>
            <a:off x="9400032" y="4288536"/>
            <a:ext cx="2011680" cy="457200"/>
          </a:xfrm>
          <a:prstGeom prst="roundRect">
            <a:avLst>
              <a:gd name="adj" fmla="val 16000"/>
            </a:avLst>
          </a:prstGeom>
          <a:solidFill>
            <a:srgbClr val="E53E3E"/>
          </a:solidFill>
          <a:ln w="12700">
            <a:solidFill>
              <a:srgbClr val="E53E3E"/>
            </a:solidFill>
            <a:prstDash val="solid"/>
          </a:ln>
        </p:spPr>
        <p:txBody>
          <a:bodyPr/>
          <a:lstStyle/>
          <a:p>
            <a:endParaRPr lang="en-US"/>
          </a:p>
        </p:txBody>
      </p:sp>
      <p:sp>
        <p:nvSpPr>
          <p:cNvPr id="60" name="Text 56"/>
          <p:cNvSpPr/>
          <p:nvPr/>
        </p:nvSpPr>
        <p:spPr>
          <a:xfrm>
            <a:off x="9400032" y="4288536"/>
            <a:ext cx="2011680" cy="457200"/>
          </a:xfrm>
          <a:prstGeom prst="rect">
            <a:avLst/>
          </a:prstGeom>
          <a:noFill/>
          <a:ln/>
        </p:spPr>
        <p:txBody>
          <a:bodyPr wrap="square" lIns="0" tIns="0" rIns="0" bIns="0" rtlCol="0" anchor="ctr"/>
          <a:lstStyle/>
          <a:p>
            <a:pPr marL="0" indent="0" algn="ctr">
              <a:buNone/>
            </a:pPr>
            <a:r>
              <a:rPr lang="en-US" sz="1400" b="1" dirty="0">
                <a:solidFill>
                  <a:srgbClr val="FFFFFF"/>
                </a:solidFill>
              </a:rPr>
              <a:t>STOP</a:t>
            </a:r>
            <a:endParaRPr lang="en-US" sz="1400" dirty="0"/>
          </a:p>
        </p:txBody>
      </p:sp>
      <p:sp>
        <p:nvSpPr>
          <p:cNvPr id="61" name="Text 57"/>
          <p:cNvSpPr/>
          <p:nvPr/>
        </p:nvSpPr>
        <p:spPr>
          <a:xfrm>
            <a:off x="9171432" y="4855464"/>
            <a:ext cx="2468880" cy="292608"/>
          </a:xfrm>
          <a:prstGeom prst="rect">
            <a:avLst/>
          </a:prstGeom>
          <a:noFill/>
          <a:ln/>
        </p:spPr>
        <p:txBody>
          <a:bodyPr wrap="square" lIns="0" tIns="0" rIns="0" bIns="0" rtlCol="0" anchor="ctr"/>
          <a:lstStyle/>
          <a:p>
            <a:pPr marL="0" indent="0" algn="ctr">
              <a:buNone/>
            </a:pPr>
            <a:r>
              <a:rPr lang="en-US" sz="900" i="1" dirty="0">
                <a:solidFill>
                  <a:srgbClr val="00B4CC"/>
                </a:solidFill>
                <a:latin typeface="Calibri" pitchFamily="34" charset="0"/>
                <a:ea typeface="Calibri" pitchFamily="34" charset="-122"/>
                <a:cs typeface="Calibri" pitchFamily="34" charset="-120"/>
              </a:rPr>
              <a:t>jamais les deux simultanément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2046"/>
          </a:solidFill>
          <a:ln w="12700">
            <a:solidFill>
              <a:srgbClr val="162046"/>
            </a:solidFill>
            <a:prstDash val="solid"/>
          </a:ln>
        </p:spPr>
        <p:txBody>
          <a:bodyPr/>
          <a:lstStyle/>
          <a:p>
            <a:endParaRPr lang="en-US"/>
          </a:p>
        </p:txBody>
      </p:sp>
      <p:sp>
        <p:nvSpPr>
          <p:cNvPr id="3" name="Shape 1"/>
          <p:cNvSpPr/>
          <p:nvPr/>
        </p:nvSpPr>
        <p:spPr>
          <a:xfrm>
            <a:off x="109728" y="0"/>
            <a:ext cx="12051792" cy="914400"/>
          </a:xfrm>
          <a:prstGeom prst="rect">
            <a:avLst/>
          </a:prstGeom>
          <a:solidFill>
            <a:srgbClr val="162046"/>
          </a:solidFill>
          <a:ln w="12700">
            <a:solidFill>
              <a:srgbClr val="162046"/>
            </a:solidFill>
            <a:prstDash val="solid"/>
          </a:ln>
        </p:spPr>
        <p:txBody>
          <a:bodyPr/>
          <a:lstStyle/>
          <a:p>
            <a:endParaRPr lang="en-US"/>
          </a:p>
        </p:txBody>
      </p:sp>
      <p:sp>
        <p:nvSpPr>
          <p:cNvPr id="4" name="Text 2"/>
          <p:cNvSpPr/>
          <p:nvPr/>
        </p:nvSpPr>
        <p:spPr>
          <a:xfrm>
            <a:off x="365760" y="91440"/>
            <a:ext cx="91440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IHM — User Stories : Athlète &amp; Adhérant</a:t>
            </a:r>
            <a:endParaRPr lang="en-US" sz="2200" dirty="0"/>
          </a:p>
        </p:txBody>
      </p:sp>
      <p:sp>
        <p:nvSpPr>
          <p:cNvPr id="5" name="Shape 3"/>
          <p:cNvSpPr/>
          <p:nvPr/>
        </p:nvSpPr>
        <p:spPr>
          <a:xfrm>
            <a:off x="109728" y="6291072"/>
            <a:ext cx="12051792" cy="530352"/>
          </a:xfrm>
          <a:prstGeom prst="rect">
            <a:avLst/>
          </a:prstGeom>
          <a:solidFill>
            <a:srgbClr val="0B1A30"/>
          </a:solidFill>
          <a:ln w="12700">
            <a:solidFill>
              <a:srgbClr val="0B1A30"/>
            </a:solidFill>
            <a:prstDash val="solid"/>
          </a:ln>
        </p:spPr>
        <p:txBody>
          <a:bodyPr/>
          <a:lstStyle/>
          <a:p>
            <a:endParaRPr lang="en-US"/>
          </a:p>
        </p:txBody>
      </p:sp>
      <p:sp>
        <p:nvSpPr>
          <p:cNvPr id="6" name="Text 4"/>
          <p:cNvSpPr/>
          <p:nvPr/>
        </p:nvSpPr>
        <p:spPr>
          <a:xfrm>
            <a:off x="320040" y="6291072"/>
            <a:ext cx="11887200" cy="530352"/>
          </a:xfrm>
          <a:prstGeom prst="rect">
            <a:avLst/>
          </a:prstGeom>
          <a:noFill/>
          <a:ln/>
        </p:spPr>
        <p:txBody>
          <a:bodyPr wrap="square" lIns="0" tIns="0" rIns="0" bIns="0" rtlCol="0" anchor="ctr"/>
          <a:lstStyle/>
          <a:p>
            <a:pPr marL="0" indent="0" algn="ctr">
              <a:buNone/>
            </a:pPr>
            <a:r>
              <a:rPr lang="en-US" sz="1050" b="1" dirty="0">
                <a:solidFill>
                  <a:srgbClr val="00B4CC"/>
                </a:solidFill>
                <a:latin typeface="Calibri" pitchFamily="34" charset="0"/>
                <a:ea typeface="Calibri" pitchFamily="34" charset="-122"/>
                <a:cs typeface="Calibri" pitchFamily="34" charset="-120"/>
              </a:rPr>
              <a:t>✦  Lois UX respectées : Hiérarchie visuelle (US2) · Feedback utilisateur (US3)</a:t>
            </a:r>
            <a:endParaRPr lang="en-US" sz="1050" dirty="0"/>
          </a:p>
        </p:txBody>
      </p:sp>
      <p:sp>
        <p:nvSpPr>
          <p:cNvPr id="7" name="Shape 5"/>
          <p:cNvSpPr/>
          <p:nvPr/>
        </p:nvSpPr>
        <p:spPr>
          <a:xfrm>
            <a:off x="6080760" y="978408"/>
            <a:ext cx="0" cy="5276088"/>
          </a:xfrm>
          <a:prstGeom prst="line">
            <a:avLst/>
          </a:prstGeom>
          <a:noFill/>
          <a:ln w="19050">
            <a:solidFill>
              <a:srgbClr val="D9E2EC"/>
            </a:solidFill>
            <a:prstDash val="sysDash"/>
          </a:ln>
        </p:spPr>
        <p:txBody>
          <a:bodyPr/>
          <a:lstStyle/>
          <a:p>
            <a:endParaRPr lang="en-US"/>
          </a:p>
        </p:txBody>
      </p:sp>
      <p:sp>
        <p:nvSpPr>
          <p:cNvPr id="8" name="Shape 6"/>
          <p:cNvSpPr/>
          <p:nvPr/>
        </p:nvSpPr>
        <p:spPr>
          <a:xfrm>
            <a:off x="228600" y="1024128"/>
            <a:ext cx="2560320" cy="384048"/>
          </a:xfrm>
          <a:prstGeom prst="roundRect">
            <a:avLst>
              <a:gd name="adj" fmla="val 14286"/>
            </a:avLst>
          </a:prstGeom>
          <a:solidFill>
            <a:srgbClr val="00B4CC"/>
          </a:solidFill>
          <a:ln w="12700">
            <a:solidFill>
              <a:srgbClr val="00B4CC"/>
            </a:solidFill>
            <a:prstDash val="solid"/>
          </a:ln>
        </p:spPr>
        <p:txBody>
          <a:bodyPr/>
          <a:lstStyle/>
          <a:p>
            <a:endParaRPr lang="en-US"/>
          </a:p>
        </p:txBody>
      </p:sp>
      <p:sp>
        <p:nvSpPr>
          <p:cNvPr id="9" name="Text 7"/>
          <p:cNvSpPr/>
          <p:nvPr/>
        </p:nvSpPr>
        <p:spPr>
          <a:xfrm>
            <a:off x="228600" y="1024128"/>
            <a:ext cx="25603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  User Story 2</a:t>
            </a:r>
            <a:endParaRPr lang="en-US" sz="1150" dirty="0"/>
          </a:p>
        </p:txBody>
      </p:sp>
      <p:sp>
        <p:nvSpPr>
          <p:cNvPr id="10" name="Text 8"/>
          <p:cNvSpPr/>
          <p:nvPr/>
        </p:nvSpPr>
        <p:spPr>
          <a:xfrm>
            <a:off x="228600" y="1499616"/>
            <a:ext cx="5715000" cy="548640"/>
          </a:xfrm>
          <a:prstGeom prst="rect">
            <a:avLst/>
          </a:prstGeom>
          <a:noFill/>
          <a:ln/>
        </p:spPr>
        <p:txBody>
          <a:bodyPr wrap="square" lIns="0" tIns="0" rIns="0" bIns="0" rtlCol="0" anchor="ctr"/>
          <a:lstStyle/>
          <a:p>
            <a:pPr marL="0" indent="0">
              <a:buNone/>
            </a:pPr>
            <a:r>
              <a:rPr lang="en-US" sz="1100" i="1" dirty="0">
                <a:solidFill>
                  <a:srgbClr val="1A2B3C"/>
                </a:solidFill>
                <a:latin typeface="Calibri" pitchFamily="34" charset="0"/>
                <a:ea typeface="Calibri" pitchFamily="34" charset="-122"/>
                <a:cs typeface="Calibri" pitchFamily="34" charset="-120"/>
              </a:rPr>
              <a:t>En tant qu'athlète performant, j'accède au leaderboard via le menu afin de visualiser le classement.</a:t>
            </a:r>
            <a:endParaRPr lang="en-US" sz="1100" dirty="0"/>
          </a:p>
        </p:txBody>
      </p:sp>
      <p:sp>
        <p:nvSpPr>
          <p:cNvPr id="11" name="Shape 9"/>
          <p:cNvSpPr/>
          <p:nvPr/>
        </p:nvSpPr>
        <p:spPr>
          <a:xfrm>
            <a:off x="228600" y="2139696"/>
            <a:ext cx="5715000" cy="347472"/>
          </a:xfrm>
          <a:prstGeom prst="rect">
            <a:avLst/>
          </a:prstGeom>
          <a:solidFill>
            <a:srgbClr val="0B1A30"/>
          </a:solidFill>
          <a:ln w="12700">
            <a:solidFill>
              <a:srgbClr val="0B1A30"/>
            </a:solidFill>
            <a:prstDash val="solid"/>
          </a:ln>
        </p:spPr>
        <p:txBody>
          <a:bodyPr/>
          <a:lstStyle/>
          <a:p>
            <a:endParaRPr lang="en-US"/>
          </a:p>
        </p:txBody>
      </p:sp>
      <p:sp>
        <p:nvSpPr>
          <p:cNvPr id="12" name="Text 10"/>
          <p:cNvSpPr/>
          <p:nvPr/>
        </p:nvSpPr>
        <p:spPr>
          <a:xfrm>
            <a:off x="338328" y="2139696"/>
            <a:ext cx="557784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Besoin</a:t>
            </a:r>
            <a:endParaRPr lang="en-US" sz="1100" dirty="0"/>
          </a:p>
        </p:txBody>
      </p:sp>
      <p:sp>
        <p:nvSpPr>
          <p:cNvPr id="13" name="Text 11"/>
          <p:cNvSpPr/>
          <p:nvPr/>
        </p:nvSpPr>
        <p:spPr>
          <a:xfrm>
            <a:off x="320040" y="2523744"/>
            <a:ext cx="5577840" cy="493776"/>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Comparer rapidement sa performance avec les autres. Accès via menu secondaire pour ne pas perturber la carte principale.</a:t>
            </a:r>
            <a:endParaRPr lang="en-US" sz="1050" dirty="0"/>
          </a:p>
        </p:txBody>
      </p:sp>
      <p:sp>
        <p:nvSpPr>
          <p:cNvPr id="14" name="Shape 12"/>
          <p:cNvSpPr/>
          <p:nvPr/>
        </p:nvSpPr>
        <p:spPr>
          <a:xfrm>
            <a:off x="228600" y="3090672"/>
            <a:ext cx="5715000" cy="347472"/>
          </a:xfrm>
          <a:prstGeom prst="rect">
            <a:avLst/>
          </a:prstGeom>
          <a:solidFill>
            <a:srgbClr val="0B1A30"/>
          </a:solidFill>
          <a:ln w="12700">
            <a:solidFill>
              <a:srgbClr val="0B1A30"/>
            </a:solidFill>
            <a:prstDash val="solid"/>
          </a:ln>
        </p:spPr>
        <p:txBody>
          <a:bodyPr/>
          <a:lstStyle/>
          <a:p>
            <a:endParaRPr lang="en-US"/>
          </a:p>
        </p:txBody>
      </p:sp>
      <p:sp>
        <p:nvSpPr>
          <p:cNvPr id="15" name="Text 13"/>
          <p:cNvSpPr/>
          <p:nvPr/>
        </p:nvSpPr>
        <p:spPr>
          <a:xfrm>
            <a:off x="338328" y="3090672"/>
            <a:ext cx="557784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Vision ergonomique</a:t>
            </a:r>
            <a:endParaRPr lang="en-US" sz="1100" dirty="0"/>
          </a:p>
        </p:txBody>
      </p:sp>
      <p:sp>
        <p:nvSpPr>
          <p:cNvPr id="16" name="Shape 14"/>
          <p:cNvSpPr/>
          <p:nvPr/>
        </p:nvSpPr>
        <p:spPr>
          <a:xfrm>
            <a:off x="301752" y="3566160"/>
            <a:ext cx="100584" cy="100584"/>
          </a:xfrm>
          <a:prstGeom prst="ellipse">
            <a:avLst/>
          </a:prstGeom>
          <a:solidFill>
            <a:srgbClr val="00B4CC"/>
          </a:solidFill>
          <a:ln w="12700">
            <a:solidFill>
              <a:srgbClr val="00B4CC"/>
            </a:solidFill>
            <a:prstDash val="solid"/>
          </a:ln>
        </p:spPr>
        <p:txBody>
          <a:bodyPr/>
          <a:lstStyle/>
          <a:p>
            <a:endParaRPr lang="en-US"/>
          </a:p>
        </p:txBody>
      </p:sp>
      <p:sp>
        <p:nvSpPr>
          <p:cNvPr id="17" name="Text 15"/>
          <p:cNvSpPr/>
          <p:nvPr/>
        </p:nvSpPr>
        <p:spPr>
          <a:xfrm>
            <a:off x="484632" y="3493008"/>
            <a:ext cx="542239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Format liste verticale ordonnée par rang</a:t>
            </a:r>
            <a:endParaRPr lang="en-US" sz="1050" dirty="0"/>
          </a:p>
        </p:txBody>
      </p:sp>
      <p:sp>
        <p:nvSpPr>
          <p:cNvPr id="18" name="Shape 16"/>
          <p:cNvSpPr/>
          <p:nvPr/>
        </p:nvSpPr>
        <p:spPr>
          <a:xfrm>
            <a:off x="301752" y="4005072"/>
            <a:ext cx="100584" cy="100584"/>
          </a:xfrm>
          <a:prstGeom prst="ellipse">
            <a:avLst/>
          </a:prstGeom>
          <a:solidFill>
            <a:srgbClr val="00B4CC"/>
          </a:solidFill>
          <a:ln w="12700">
            <a:solidFill>
              <a:srgbClr val="00B4CC"/>
            </a:solidFill>
            <a:prstDash val="solid"/>
          </a:ln>
        </p:spPr>
        <p:txBody>
          <a:bodyPr/>
          <a:lstStyle/>
          <a:p>
            <a:endParaRPr lang="en-US"/>
          </a:p>
        </p:txBody>
      </p:sp>
      <p:sp>
        <p:nvSpPr>
          <p:cNvPr id="19" name="Text 17"/>
          <p:cNvSpPr/>
          <p:nvPr/>
        </p:nvSpPr>
        <p:spPr>
          <a:xfrm>
            <a:off x="484632" y="3931920"/>
            <a:ext cx="542239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Affichage limité : photo, nom, rang, surface conquise</a:t>
            </a:r>
            <a:endParaRPr lang="en-US" sz="1050" dirty="0"/>
          </a:p>
        </p:txBody>
      </p:sp>
      <p:sp>
        <p:nvSpPr>
          <p:cNvPr id="20" name="Shape 18"/>
          <p:cNvSpPr/>
          <p:nvPr/>
        </p:nvSpPr>
        <p:spPr>
          <a:xfrm>
            <a:off x="301752" y="4443984"/>
            <a:ext cx="100584" cy="100584"/>
          </a:xfrm>
          <a:prstGeom prst="ellipse">
            <a:avLst/>
          </a:prstGeom>
          <a:solidFill>
            <a:srgbClr val="00B4CC"/>
          </a:solidFill>
          <a:ln w="12700">
            <a:solidFill>
              <a:srgbClr val="00B4CC"/>
            </a:solidFill>
            <a:prstDash val="solid"/>
          </a:ln>
        </p:spPr>
        <p:txBody>
          <a:bodyPr/>
          <a:lstStyle/>
          <a:p>
            <a:endParaRPr lang="en-US"/>
          </a:p>
        </p:txBody>
      </p:sp>
      <p:sp>
        <p:nvSpPr>
          <p:cNvPr id="21" name="Text 19"/>
          <p:cNvSpPr/>
          <p:nvPr/>
        </p:nvSpPr>
        <p:spPr>
          <a:xfrm>
            <a:off x="484632" y="4370832"/>
            <a:ext cx="542239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Aucune donnée secondaire inutile</a:t>
            </a:r>
            <a:endParaRPr lang="en-US" sz="1050" dirty="0"/>
          </a:p>
        </p:txBody>
      </p:sp>
      <p:sp>
        <p:nvSpPr>
          <p:cNvPr id="22" name="Shape 20"/>
          <p:cNvSpPr/>
          <p:nvPr/>
        </p:nvSpPr>
        <p:spPr>
          <a:xfrm>
            <a:off x="301752" y="4882896"/>
            <a:ext cx="100584" cy="100584"/>
          </a:xfrm>
          <a:prstGeom prst="ellipse">
            <a:avLst/>
          </a:prstGeom>
          <a:solidFill>
            <a:srgbClr val="00B4CC"/>
          </a:solidFill>
          <a:ln w="12700">
            <a:solidFill>
              <a:srgbClr val="00B4CC"/>
            </a:solidFill>
            <a:prstDash val="solid"/>
          </a:ln>
        </p:spPr>
        <p:txBody>
          <a:bodyPr/>
          <a:lstStyle/>
          <a:p>
            <a:endParaRPr lang="en-US"/>
          </a:p>
        </p:txBody>
      </p:sp>
      <p:sp>
        <p:nvSpPr>
          <p:cNvPr id="23" name="Text 21"/>
          <p:cNvSpPr/>
          <p:nvPr/>
        </p:nvSpPr>
        <p:spPr>
          <a:xfrm>
            <a:off x="484632" y="4809744"/>
            <a:ext cx="542239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Hiérarchie visuelle claire du 1er au dernier</a:t>
            </a:r>
            <a:endParaRPr lang="en-US" sz="1050" dirty="0"/>
          </a:p>
        </p:txBody>
      </p:sp>
      <p:sp>
        <p:nvSpPr>
          <p:cNvPr id="24" name="Shape 22"/>
          <p:cNvSpPr/>
          <p:nvPr/>
        </p:nvSpPr>
        <p:spPr>
          <a:xfrm>
            <a:off x="228600" y="5266944"/>
            <a:ext cx="2423160" cy="292608"/>
          </a:xfrm>
          <a:prstGeom prst="rect">
            <a:avLst/>
          </a:prstGeom>
          <a:solidFill>
            <a:srgbClr val="F59E0B"/>
          </a:solidFill>
          <a:ln w="12700">
            <a:solidFill>
              <a:srgbClr val="F59E0B"/>
            </a:solidFill>
            <a:prstDash val="solid"/>
          </a:ln>
        </p:spPr>
        <p:txBody>
          <a:bodyPr/>
          <a:lstStyle/>
          <a:p>
            <a:endParaRPr lang="en-US"/>
          </a:p>
        </p:txBody>
      </p:sp>
      <p:sp>
        <p:nvSpPr>
          <p:cNvPr id="25" name="Text 23"/>
          <p:cNvSpPr/>
          <p:nvPr/>
        </p:nvSpPr>
        <p:spPr>
          <a:xfrm>
            <a:off x="228600" y="5266944"/>
            <a:ext cx="2423160" cy="292608"/>
          </a:xfrm>
          <a:prstGeom prst="rect">
            <a:avLst/>
          </a:prstGeom>
          <a:noFill/>
          <a:ln/>
        </p:spPr>
        <p:txBody>
          <a:bodyPr wrap="square" lIns="0" tIns="0" rIns="0" bIns="0" rtlCol="0" anchor="ctr"/>
          <a:lstStyle/>
          <a:p>
            <a:pPr marL="0" indent="0" algn="ctr">
              <a:buNone/>
            </a:pPr>
            <a:r>
              <a:rPr lang="en-US" sz="1000" b="1" dirty="0">
                <a:solidFill>
                  <a:srgbClr val="1A1A1A"/>
                </a:solidFill>
              </a:rPr>
              <a:t>Loi UX : Hiérarchie visuelle</a:t>
            </a:r>
            <a:endParaRPr lang="en-US" sz="1000" dirty="0"/>
          </a:p>
        </p:txBody>
      </p:sp>
      <p:sp>
        <p:nvSpPr>
          <p:cNvPr id="26" name="Shape 24"/>
          <p:cNvSpPr/>
          <p:nvPr/>
        </p:nvSpPr>
        <p:spPr>
          <a:xfrm>
            <a:off x="228600" y="5650992"/>
            <a:ext cx="5715000" cy="384048"/>
          </a:xfrm>
          <a:prstGeom prst="rect">
            <a:avLst/>
          </a:prstGeom>
          <a:solidFill>
            <a:srgbClr val="F4F6F8"/>
          </a:solidFill>
          <a:ln w="12700">
            <a:solidFill>
              <a:srgbClr val="D9E2EC"/>
            </a:solidFill>
            <a:prstDash val="solid"/>
          </a:ln>
        </p:spPr>
        <p:txBody>
          <a:bodyPr/>
          <a:lstStyle/>
          <a:p>
            <a:endParaRPr lang="en-US"/>
          </a:p>
        </p:txBody>
      </p:sp>
      <p:sp>
        <p:nvSpPr>
          <p:cNvPr id="27" name="Text 25"/>
          <p:cNvSpPr/>
          <p:nvPr/>
        </p:nvSpPr>
        <p:spPr>
          <a:xfrm>
            <a:off x="338328" y="5650992"/>
            <a:ext cx="5550408" cy="384048"/>
          </a:xfrm>
          <a:prstGeom prst="rect">
            <a:avLst/>
          </a:prstGeom>
          <a:noFill/>
          <a:ln/>
        </p:spPr>
        <p:txBody>
          <a:bodyPr wrap="square" lIns="0" tIns="0" rIns="0" bIns="0" rtlCol="0" anchor="ctr"/>
          <a:lstStyle/>
          <a:p>
            <a:pPr marL="0" indent="0">
              <a:buNone/>
            </a:pPr>
            <a:r>
              <a:rPr lang="en-US" sz="1050" b="1" dirty="0">
                <a:solidFill>
                  <a:srgbClr val="162046"/>
                </a:solidFill>
                <a:latin typeface="Calibri" pitchFamily="34" charset="0"/>
                <a:ea typeface="Calibri" pitchFamily="34" charset="-122"/>
                <a:cs typeface="Calibri" pitchFamily="34" charset="-120"/>
              </a:rPr>
              <a:t>✦  Comparaison rapide, motivation renforcée</a:t>
            </a:r>
            <a:endParaRPr lang="en-US" sz="1050" dirty="0"/>
          </a:p>
        </p:txBody>
      </p:sp>
      <p:pic>
        <p:nvPicPr>
          <p:cNvPr id="28" name="Image 0" descr="preencoded.png"/>
          <p:cNvPicPr>
            <a:picLocks noChangeAspect="1"/>
          </p:cNvPicPr>
          <p:nvPr/>
        </p:nvPicPr>
        <p:blipFill>
          <a:blip r:embed="rId3"/>
          <a:stretch>
            <a:fillRect/>
          </a:stretch>
        </p:blipFill>
        <p:spPr>
          <a:xfrm>
            <a:off x="4200028" y="3418215"/>
            <a:ext cx="1716140" cy="2221992"/>
          </a:xfrm>
          <a:prstGeom prst="rect">
            <a:avLst/>
          </a:prstGeom>
        </p:spPr>
      </p:pic>
      <p:sp>
        <p:nvSpPr>
          <p:cNvPr id="29" name="Shape 26"/>
          <p:cNvSpPr/>
          <p:nvPr/>
        </p:nvSpPr>
        <p:spPr>
          <a:xfrm>
            <a:off x="6217920" y="1024128"/>
            <a:ext cx="2560320" cy="384048"/>
          </a:xfrm>
          <a:prstGeom prst="roundRect">
            <a:avLst>
              <a:gd name="adj" fmla="val 14286"/>
            </a:avLst>
          </a:prstGeom>
          <a:solidFill>
            <a:srgbClr val="10B981"/>
          </a:solidFill>
          <a:ln w="12700">
            <a:solidFill>
              <a:srgbClr val="10B981"/>
            </a:solidFill>
            <a:prstDash val="solid"/>
          </a:ln>
        </p:spPr>
        <p:txBody>
          <a:bodyPr/>
          <a:lstStyle/>
          <a:p>
            <a:endParaRPr lang="en-US"/>
          </a:p>
        </p:txBody>
      </p:sp>
      <p:sp>
        <p:nvSpPr>
          <p:cNvPr id="30" name="Text 27"/>
          <p:cNvSpPr/>
          <p:nvPr/>
        </p:nvSpPr>
        <p:spPr>
          <a:xfrm>
            <a:off x="6217920" y="1024128"/>
            <a:ext cx="25603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  User Story 3</a:t>
            </a:r>
            <a:endParaRPr lang="en-US" sz="1150" dirty="0"/>
          </a:p>
        </p:txBody>
      </p:sp>
      <p:sp>
        <p:nvSpPr>
          <p:cNvPr id="31" name="Text 28"/>
          <p:cNvSpPr/>
          <p:nvPr/>
        </p:nvSpPr>
        <p:spPr>
          <a:xfrm>
            <a:off x="6217920" y="1499616"/>
            <a:ext cx="5760720" cy="548640"/>
          </a:xfrm>
          <a:prstGeom prst="rect">
            <a:avLst/>
          </a:prstGeom>
          <a:noFill/>
          <a:ln/>
        </p:spPr>
        <p:txBody>
          <a:bodyPr wrap="square" lIns="0" tIns="0" rIns="0" bIns="0" rtlCol="0" anchor="ctr"/>
          <a:lstStyle/>
          <a:p>
            <a:pPr marL="0" indent="0">
              <a:buNone/>
            </a:pPr>
            <a:r>
              <a:rPr lang="en-US" sz="1100" i="1" dirty="0">
                <a:solidFill>
                  <a:srgbClr val="1A2B3C"/>
                </a:solidFill>
                <a:latin typeface="Calibri" pitchFamily="34" charset="0"/>
                <a:ea typeface="Calibri" pitchFamily="34" charset="-122"/>
                <a:cs typeface="Calibri" pitchFamily="34" charset="-120"/>
              </a:rPr>
              <a:t>En tant que simple adhérant, j'accède à mon profil afin de visualiser mes dernières performances et progresser à mon rythme.</a:t>
            </a:r>
            <a:endParaRPr lang="en-US" sz="1100" dirty="0"/>
          </a:p>
        </p:txBody>
      </p:sp>
      <p:sp>
        <p:nvSpPr>
          <p:cNvPr id="32" name="Shape 29"/>
          <p:cNvSpPr/>
          <p:nvPr/>
        </p:nvSpPr>
        <p:spPr>
          <a:xfrm>
            <a:off x="6217920" y="2139696"/>
            <a:ext cx="5760720" cy="347472"/>
          </a:xfrm>
          <a:prstGeom prst="rect">
            <a:avLst/>
          </a:prstGeom>
          <a:solidFill>
            <a:srgbClr val="0B1A30"/>
          </a:solidFill>
          <a:ln w="12700">
            <a:solidFill>
              <a:srgbClr val="0B1A30"/>
            </a:solidFill>
            <a:prstDash val="solid"/>
          </a:ln>
        </p:spPr>
        <p:txBody>
          <a:bodyPr/>
          <a:lstStyle/>
          <a:p>
            <a:endParaRPr lang="en-US"/>
          </a:p>
        </p:txBody>
      </p:sp>
      <p:sp>
        <p:nvSpPr>
          <p:cNvPr id="33" name="Text 30"/>
          <p:cNvSpPr/>
          <p:nvPr/>
        </p:nvSpPr>
        <p:spPr>
          <a:xfrm>
            <a:off x="6327648" y="2139696"/>
            <a:ext cx="56235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Besoin</a:t>
            </a:r>
            <a:endParaRPr lang="en-US" sz="1100" dirty="0"/>
          </a:p>
        </p:txBody>
      </p:sp>
      <p:sp>
        <p:nvSpPr>
          <p:cNvPr id="34" name="Text 31"/>
          <p:cNvSpPr/>
          <p:nvPr/>
        </p:nvSpPr>
        <p:spPr>
          <a:xfrm>
            <a:off x="6309360" y="2523744"/>
            <a:ext cx="5623560" cy="493776"/>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Suivre son évolution personnelle et évaluer ses progrès à son propre rythme, sans pression de classement.</a:t>
            </a:r>
            <a:endParaRPr lang="en-US" sz="1050" dirty="0"/>
          </a:p>
        </p:txBody>
      </p:sp>
      <p:sp>
        <p:nvSpPr>
          <p:cNvPr id="35" name="Shape 32"/>
          <p:cNvSpPr/>
          <p:nvPr/>
        </p:nvSpPr>
        <p:spPr>
          <a:xfrm>
            <a:off x="6217920" y="3090672"/>
            <a:ext cx="5760720" cy="347472"/>
          </a:xfrm>
          <a:prstGeom prst="rect">
            <a:avLst/>
          </a:prstGeom>
          <a:solidFill>
            <a:srgbClr val="0B1A30"/>
          </a:solidFill>
          <a:ln w="12700">
            <a:solidFill>
              <a:srgbClr val="0B1A30"/>
            </a:solidFill>
            <a:prstDash val="solid"/>
          </a:ln>
        </p:spPr>
        <p:txBody>
          <a:bodyPr/>
          <a:lstStyle/>
          <a:p>
            <a:endParaRPr lang="en-US"/>
          </a:p>
        </p:txBody>
      </p:sp>
      <p:sp>
        <p:nvSpPr>
          <p:cNvPr id="36" name="Text 33"/>
          <p:cNvSpPr/>
          <p:nvPr/>
        </p:nvSpPr>
        <p:spPr>
          <a:xfrm>
            <a:off x="6327648" y="3090672"/>
            <a:ext cx="56235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Vision ergonomique</a:t>
            </a:r>
            <a:endParaRPr lang="en-US" sz="1100" dirty="0"/>
          </a:p>
        </p:txBody>
      </p:sp>
      <p:sp>
        <p:nvSpPr>
          <p:cNvPr id="37" name="Shape 34"/>
          <p:cNvSpPr/>
          <p:nvPr/>
        </p:nvSpPr>
        <p:spPr>
          <a:xfrm>
            <a:off x="6291072" y="3566160"/>
            <a:ext cx="100584" cy="100584"/>
          </a:xfrm>
          <a:prstGeom prst="ellipse">
            <a:avLst/>
          </a:prstGeom>
          <a:solidFill>
            <a:srgbClr val="10B981"/>
          </a:solidFill>
          <a:ln w="12700">
            <a:solidFill>
              <a:srgbClr val="10B981"/>
            </a:solidFill>
            <a:prstDash val="solid"/>
          </a:ln>
        </p:spPr>
        <p:txBody>
          <a:bodyPr/>
          <a:lstStyle/>
          <a:p>
            <a:endParaRPr lang="en-US"/>
          </a:p>
        </p:txBody>
      </p:sp>
      <p:sp>
        <p:nvSpPr>
          <p:cNvPr id="38" name="Text 35"/>
          <p:cNvSpPr/>
          <p:nvPr/>
        </p:nvSpPr>
        <p:spPr>
          <a:xfrm>
            <a:off x="6473952" y="3493008"/>
            <a:ext cx="546811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Affichage des données essentielles uniquement</a:t>
            </a:r>
            <a:endParaRPr lang="en-US" sz="1050" dirty="0"/>
          </a:p>
        </p:txBody>
      </p:sp>
      <p:sp>
        <p:nvSpPr>
          <p:cNvPr id="39" name="Shape 36"/>
          <p:cNvSpPr/>
          <p:nvPr/>
        </p:nvSpPr>
        <p:spPr>
          <a:xfrm>
            <a:off x="6291072" y="4005072"/>
            <a:ext cx="100584" cy="100584"/>
          </a:xfrm>
          <a:prstGeom prst="ellipse">
            <a:avLst/>
          </a:prstGeom>
          <a:solidFill>
            <a:srgbClr val="10B981"/>
          </a:solidFill>
          <a:ln w="12700">
            <a:solidFill>
              <a:srgbClr val="10B981"/>
            </a:solidFill>
            <a:prstDash val="solid"/>
          </a:ln>
        </p:spPr>
        <p:txBody>
          <a:bodyPr/>
          <a:lstStyle/>
          <a:p>
            <a:endParaRPr lang="en-US"/>
          </a:p>
        </p:txBody>
      </p:sp>
      <p:sp>
        <p:nvSpPr>
          <p:cNvPr id="40" name="Text 37"/>
          <p:cNvSpPr/>
          <p:nvPr/>
        </p:nvSpPr>
        <p:spPr>
          <a:xfrm>
            <a:off x="6473952" y="3931920"/>
            <a:ext cx="546811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Surface conquise, progression récente</a:t>
            </a:r>
            <a:endParaRPr lang="en-US" sz="1050" dirty="0"/>
          </a:p>
        </p:txBody>
      </p:sp>
      <p:sp>
        <p:nvSpPr>
          <p:cNvPr id="41" name="Shape 38"/>
          <p:cNvSpPr/>
          <p:nvPr/>
        </p:nvSpPr>
        <p:spPr>
          <a:xfrm>
            <a:off x="6291072" y="4443984"/>
            <a:ext cx="100584" cy="100584"/>
          </a:xfrm>
          <a:prstGeom prst="ellipse">
            <a:avLst/>
          </a:prstGeom>
          <a:solidFill>
            <a:srgbClr val="10B981"/>
          </a:solidFill>
          <a:ln w="12700">
            <a:solidFill>
              <a:srgbClr val="10B981"/>
            </a:solidFill>
            <a:prstDash val="solid"/>
          </a:ln>
        </p:spPr>
        <p:txBody>
          <a:bodyPr/>
          <a:lstStyle/>
          <a:p>
            <a:endParaRPr lang="en-US"/>
          </a:p>
        </p:txBody>
      </p:sp>
      <p:sp>
        <p:nvSpPr>
          <p:cNvPr id="42" name="Text 39"/>
          <p:cNvSpPr/>
          <p:nvPr/>
        </p:nvSpPr>
        <p:spPr>
          <a:xfrm>
            <a:off x="6473952" y="4370832"/>
            <a:ext cx="546811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Organisation claire et lisible</a:t>
            </a:r>
            <a:endParaRPr lang="en-US" sz="1050" dirty="0"/>
          </a:p>
        </p:txBody>
      </p:sp>
      <p:sp>
        <p:nvSpPr>
          <p:cNvPr id="43" name="Shape 40"/>
          <p:cNvSpPr/>
          <p:nvPr/>
        </p:nvSpPr>
        <p:spPr>
          <a:xfrm>
            <a:off x="6291072" y="4882896"/>
            <a:ext cx="100584" cy="100584"/>
          </a:xfrm>
          <a:prstGeom prst="ellipse">
            <a:avLst/>
          </a:prstGeom>
          <a:solidFill>
            <a:srgbClr val="10B981"/>
          </a:solidFill>
          <a:ln w="12700">
            <a:solidFill>
              <a:srgbClr val="10B981"/>
            </a:solidFill>
            <a:prstDash val="solid"/>
          </a:ln>
        </p:spPr>
        <p:txBody>
          <a:bodyPr/>
          <a:lstStyle/>
          <a:p>
            <a:endParaRPr lang="en-US"/>
          </a:p>
        </p:txBody>
      </p:sp>
      <p:sp>
        <p:nvSpPr>
          <p:cNvPr id="44" name="Text 41"/>
          <p:cNvSpPr/>
          <p:nvPr/>
        </p:nvSpPr>
        <p:spPr>
          <a:xfrm>
            <a:off x="6473952" y="4809744"/>
            <a:ext cx="5468112" cy="384048"/>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Pas de surcharge d'informations secondaires</a:t>
            </a:r>
            <a:endParaRPr lang="en-US" sz="1050" dirty="0"/>
          </a:p>
        </p:txBody>
      </p:sp>
      <p:sp>
        <p:nvSpPr>
          <p:cNvPr id="45" name="Shape 42"/>
          <p:cNvSpPr/>
          <p:nvPr/>
        </p:nvSpPr>
        <p:spPr>
          <a:xfrm>
            <a:off x="6217920" y="5266944"/>
            <a:ext cx="2606040" cy="292608"/>
          </a:xfrm>
          <a:prstGeom prst="rect">
            <a:avLst/>
          </a:prstGeom>
          <a:solidFill>
            <a:srgbClr val="F59E0B"/>
          </a:solidFill>
          <a:ln w="12700">
            <a:solidFill>
              <a:srgbClr val="F59E0B"/>
            </a:solidFill>
            <a:prstDash val="solid"/>
          </a:ln>
        </p:spPr>
        <p:txBody>
          <a:bodyPr/>
          <a:lstStyle/>
          <a:p>
            <a:endParaRPr lang="en-US"/>
          </a:p>
        </p:txBody>
      </p:sp>
      <p:sp>
        <p:nvSpPr>
          <p:cNvPr id="46" name="Text 43"/>
          <p:cNvSpPr/>
          <p:nvPr/>
        </p:nvSpPr>
        <p:spPr>
          <a:xfrm>
            <a:off x="6217920" y="5266944"/>
            <a:ext cx="2606040" cy="292608"/>
          </a:xfrm>
          <a:prstGeom prst="rect">
            <a:avLst/>
          </a:prstGeom>
          <a:noFill/>
          <a:ln/>
        </p:spPr>
        <p:txBody>
          <a:bodyPr wrap="square" lIns="0" tIns="0" rIns="0" bIns="0" rtlCol="0" anchor="ctr"/>
          <a:lstStyle/>
          <a:p>
            <a:pPr marL="0" indent="0" algn="ctr">
              <a:buNone/>
            </a:pPr>
            <a:r>
              <a:rPr lang="en-US" sz="1000" b="1" dirty="0">
                <a:solidFill>
                  <a:srgbClr val="1A1A1A"/>
                </a:solidFill>
              </a:rPr>
              <a:t>Loi UX : Feedback utilisateur</a:t>
            </a:r>
            <a:endParaRPr lang="en-US" sz="1000" dirty="0"/>
          </a:p>
        </p:txBody>
      </p:sp>
      <p:sp>
        <p:nvSpPr>
          <p:cNvPr id="47" name="Shape 44"/>
          <p:cNvSpPr/>
          <p:nvPr/>
        </p:nvSpPr>
        <p:spPr>
          <a:xfrm>
            <a:off x="6217920" y="5650992"/>
            <a:ext cx="5760720" cy="384048"/>
          </a:xfrm>
          <a:prstGeom prst="rect">
            <a:avLst/>
          </a:prstGeom>
          <a:solidFill>
            <a:srgbClr val="F4F6F8"/>
          </a:solidFill>
          <a:ln w="12700">
            <a:solidFill>
              <a:srgbClr val="D9E2EC"/>
            </a:solidFill>
            <a:prstDash val="solid"/>
          </a:ln>
        </p:spPr>
        <p:txBody>
          <a:bodyPr/>
          <a:lstStyle/>
          <a:p>
            <a:endParaRPr lang="en-US"/>
          </a:p>
        </p:txBody>
      </p:sp>
      <p:sp>
        <p:nvSpPr>
          <p:cNvPr id="48" name="Text 45"/>
          <p:cNvSpPr/>
          <p:nvPr/>
        </p:nvSpPr>
        <p:spPr>
          <a:xfrm>
            <a:off x="6327648" y="5650992"/>
            <a:ext cx="5596128" cy="384048"/>
          </a:xfrm>
          <a:prstGeom prst="rect">
            <a:avLst/>
          </a:prstGeom>
          <a:noFill/>
          <a:ln/>
        </p:spPr>
        <p:txBody>
          <a:bodyPr wrap="square" lIns="0" tIns="0" rIns="0" bIns="0" rtlCol="0" anchor="ctr"/>
          <a:lstStyle/>
          <a:p>
            <a:pPr marL="0" indent="0">
              <a:buNone/>
            </a:pPr>
            <a:r>
              <a:rPr lang="en-US" sz="1050" b="1" dirty="0">
                <a:solidFill>
                  <a:srgbClr val="162046"/>
                </a:solidFill>
                <a:latin typeface="Calibri" pitchFamily="34" charset="0"/>
                <a:ea typeface="Calibri" pitchFamily="34" charset="-122"/>
                <a:cs typeface="Calibri" pitchFamily="34" charset="-120"/>
              </a:rPr>
              <a:t>✦  Suivi clair des progrès, motivation renforcée, sentiment d'accomplissement personnel</a:t>
            </a:r>
            <a:endParaRPr lang="en-US" sz="1050" dirty="0"/>
          </a:p>
        </p:txBody>
      </p:sp>
      <p:pic>
        <p:nvPicPr>
          <p:cNvPr id="49" name="Image 1" descr="preencoded.png"/>
          <p:cNvPicPr>
            <a:picLocks noChangeAspect="1"/>
          </p:cNvPicPr>
          <p:nvPr/>
        </p:nvPicPr>
        <p:blipFill>
          <a:blip r:embed="rId4"/>
          <a:stretch>
            <a:fillRect/>
          </a:stretch>
        </p:blipFill>
        <p:spPr>
          <a:xfrm>
            <a:off x="9560171" y="3474720"/>
            <a:ext cx="2308738" cy="21396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2046"/>
          </a:solidFill>
          <a:ln w="12700">
            <a:solidFill>
              <a:srgbClr val="162046"/>
            </a:solidFill>
            <a:prstDash val="solid"/>
          </a:ln>
        </p:spPr>
        <p:txBody>
          <a:bodyPr/>
          <a:lstStyle/>
          <a:p>
            <a:endParaRPr lang="en-US"/>
          </a:p>
        </p:txBody>
      </p:sp>
      <p:sp>
        <p:nvSpPr>
          <p:cNvPr id="3" name="Shape 1"/>
          <p:cNvSpPr/>
          <p:nvPr/>
        </p:nvSpPr>
        <p:spPr>
          <a:xfrm>
            <a:off x="109728" y="0"/>
            <a:ext cx="12051792" cy="914400"/>
          </a:xfrm>
          <a:prstGeom prst="rect">
            <a:avLst/>
          </a:prstGeom>
          <a:solidFill>
            <a:srgbClr val="162046"/>
          </a:solidFill>
          <a:ln w="12700">
            <a:solidFill>
              <a:srgbClr val="162046"/>
            </a:solidFill>
            <a:prstDash val="solid"/>
          </a:ln>
        </p:spPr>
        <p:txBody>
          <a:bodyPr/>
          <a:lstStyle/>
          <a:p>
            <a:endParaRPr lang="en-US"/>
          </a:p>
        </p:txBody>
      </p:sp>
      <p:sp>
        <p:nvSpPr>
          <p:cNvPr id="4" name="Text 2"/>
          <p:cNvSpPr/>
          <p:nvPr/>
        </p:nvSpPr>
        <p:spPr>
          <a:xfrm>
            <a:off x="365760" y="91440"/>
            <a:ext cx="91440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Architecture en cours de définition</a:t>
            </a:r>
            <a:endParaRPr lang="en-US" sz="2200" dirty="0"/>
          </a:p>
        </p:txBody>
      </p:sp>
      <p:sp>
        <p:nvSpPr>
          <p:cNvPr id="5" name="Shape 3"/>
          <p:cNvSpPr/>
          <p:nvPr/>
        </p:nvSpPr>
        <p:spPr>
          <a:xfrm>
            <a:off x="9784080" y="182880"/>
            <a:ext cx="2240280" cy="475488"/>
          </a:xfrm>
          <a:prstGeom prst="roundRect">
            <a:avLst>
              <a:gd name="adj" fmla="val 11538"/>
            </a:avLst>
          </a:prstGeom>
          <a:solidFill>
            <a:srgbClr val="00B4CC"/>
          </a:solidFill>
          <a:ln w="12700">
            <a:solidFill>
              <a:srgbClr val="00B4CC"/>
            </a:solidFill>
            <a:prstDash val="solid"/>
          </a:ln>
        </p:spPr>
        <p:txBody>
          <a:bodyPr/>
          <a:lstStyle/>
          <a:p>
            <a:endParaRPr lang="en-US"/>
          </a:p>
        </p:txBody>
      </p:sp>
      <p:sp>
        <p:nvSpPr>
          <p:cNvPr id="6" name="Text 4"/>
          <p:cNvSpPr/>
          <p:nvPr/>
        </p:nvSpPr>
        <p:spPr>
          <a:xfrm>
            <a:off x="9784080" y="182880"/>
            <a:ext cx="2240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Vue modulaire</a:t>
            </a:r>
            <a:endParaRPr lang="en-US" sz="1050" dirty="0"/>
          </a:p>
        </p:txBody>
      </p:sp>
      <p:sp>
        <p:nvSpPr>
          <p:cNvPr id="7" name="Shape 5"/>
          <p:cNvSpPr/>
          <p:nvPr/>
        </p:nvSpPr>
        <p:spPr>
          <a:xfrm>
            <a:off x="109728" y="914400"/>
            <a:ext cx="12051792" cy="530352"/>
          </a:xfrm>
          <a:prstGeom prst="rect">
            <a:avLst/>
          </a:prstGeom>
          <a:solidFill>
            <a:srgbClr val="F4F6F8"/>
          </a:solidFill>
          <a:ln w="12700">
            <a:solidFill>
              <a:srgbClr val="F4F6F8"/>
            </a:solidFill>
            <a:prstDash val="solid"/>
          </a:ln>
        </p:spPr>
        <p:txBody>
          <a:bodyPr/>
          <a:lstStyle/>
          <a:p>
            <a:endParaRPr lang="en-US"/>
          </a:p>
        </p:txBody>
      </p:sp>
      <p:sp>
        <p:nvSpPr>
          <p:cNvPr id="8" name="Text 6"/>
          <p:cNvSpPr/>
          <p:nvPr/>
        </p:nvSpPr>
        <p:spPr>
          <a:xfrm>
            <a:off x="365760" y="923544"/>
            <a:ext cx="11612880" cy="502920"/>
          </a:xfrm>
          <a:prstGeom prst="rect">
            <a:avLst/>
          </a:prstGeom>
          <a:noFill/>
          <a:ln/>
        </p:spPr>
        <p:txBody>
          <a:bodyPr wrap="square" lIns="0" tIns="0" rIns="0" bIns="0" rtlCol="0" anchor="ctr"/>
          <a:lstStyle/>
          <a:p>
            <a:pPr marL="0" indent="0" algn="ctr">
              <a:buNone/>
            </a:pPr>
            <a:r>
              <a:rPr lang="en-US" sz="1150" i="1" dirty="0">
                <a:solidFill>
                  <a:srgbClr val="162046"/>
                </a:solidFill>
                <a:latin typeface="Calibri" pitchFamily="34" charset="0"/>
                <a:ea typeface="Calibri" pitchFamily="34" charset="-122"/>
                <a:cs typeface="Calibri" pitchFamily="34" charset="-120"/>
              </a:rPr>
              <a:t>"</a:t>
            </a:r>
            <a:r>
              <a:rPr lang="en-US" sz="1150" b="1" i="1" dirty="0">
                <a:solidFill>
                  <a:srgbClr val="162046"/>
                </a:solidFill>
                <a:latin typeface="Calibri" pitchFamily="34" charset="0"/>
                <a:ea typeface="Calibri" pitchFamily="34" charset="-122"/>
                <a:cs typeface="Calibri" pitchFamily="34" charset="-120"/>
              </a:rPr>
              <a:t>Vue globale des principaux modules.</a:t>
            </a:r>
            <a:r>
              <a:rPr lang="en-US" sz="1150" i="1" dirty="0">
                <a:solidFill>
                  <a:srgbClr val="162046"/>
                </a:solidFill>
                <a:latin typeface="Calibri" pitchFamily="34" charset="0"/>
                <a:ea typeface="Calibri" pitchFamily="34" charset="-122"/>
                <a:cs typeface="Calibri" pitchFamily="34" charset="-120"/>
              </a:rPr>
              <a:t> Ces modules sont définis de manière </a:t>
            </a:r>
            <a:r>
              <a:rPr lang="en-US" sz="1150" b="1" i="1" dirty="0">
                <a:solidFill>
                  <a:srgbClr val="00B4CC"/>
                </a:solidFill>
                <a:latin typeface="Calibri" pitchFamily="34" charset="0"/>
                <a:ea typeface="Calibri" pitchFamily="34" charset="-122"/>
                <a:cs typeface="Calibri" pitchFamily="34" charset="-120"/>
              </a:rPr>
              <a:t>vague</a:t>
            </a:r>
            <a:r>
              <a:rPr lang="en-US" sz="1150" i="1" dirty="0">
                <a:solidFill>
                  <a:srgbClr val="162046"/>
                </a:solidFill>
                <a:latin typeface="Calibri" pitchFamily="34" charset="0"/>
                <a:ea typeface="Calibri" pitchFamily="34" charset="-122"/>
                <a:cs typeface="Calibri" pitchFamily="34" charset="-120"/>
              </a:rPr>
              <a:t> — leur architecture précise reste à affiner au fil du développement."</a:t>
            </a:r>
            <a:endParaRPr lang="en-US" sz="1150" dirty="0"/>
          </a:p>
        </p:txBody>
      </p:sp>
      <p:sp>
        <p:nvSpPr>
          <p:cNvPr id="9" name="Shape 7"/>
          <p:cNvSpPr/>
          <p:nvPr/>
        </p:nvSpPr>
        <p:spPr>
          <a:xfrm>
            <a:off x="228600" y="1508760"/>
            <a:ext cx="5760720" cy="2651760"/>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10" name="Shape 8"/>
          <p:cNvSpPr/>
          <p:nvPr/>
        </p:nvSpPr>
        <p:spPr>
          <a:xfrm>
            <a:off x="228600" y="1508760"/>
            <a:ext cx="64008" cy="2651760"/>
          </a:xfrm>
          <a:prstGeom prst="rect">
            <a:avLst/>
          </a:prstGeom>
          <a:solidFill>
            <a:srgbClr val="00B4CC"/>
          </a:solidFill>
          <a:ln w="12700">
            <a:solidFill>
              <a:srgbClr val="00B4CC"/>
            </a:solidFill>
            <a:prstDash val="solid"/>
          </a:ln>
        </p:spPr>
        <p:txBody>
          <a:bodyPr/>
          <a:lstStyle/>
          <a:p>
            <a:endParaRPr lang="en-US"/>
          </a:p>
        </p:txBody>
      </p:sp>
      <p:sp>
        <p:nvSpPr>
          <p:cNvPr id="11" name="Shape 9"/>
          <p:cNvSpPr/>
          <p:nvPr/>
        </p:nvSpPr>
        <p:spPr>
          <a:xfrm>
            <a:off x="393192" y="1636776"/>
            <a:ext cx="475488" cy="475488"/>
          </a:xfrm>
          <a:prstGeom prst="ellipse">
            <a:avLst/>
          </a:prstGeom>
          <a:solidFill>
            <a:srgbClr val="00B4CC"/>
          </a:solidFill>
          <a:ln w="12700">
            <a:solidFill>
              <a:srgbClr val="00B4CC"/>
            </a:solidFill>
            <a:prstDash val="solid"/>
          </a:ln>
        </p:spPr>
        <p:txBody>
          <a:bodyPr/>
          <a:lstStyle/>
          <a:p>
            <a:endParaRPr lang="en-US"/>
          </a:p>
        </p:txBody>
      </p:sp>
      <p:sp>
        <p:nvSpPr>
          <p:cNvPr id="12" name="Text 10"/>
          <p:cNvSpPr/>
          <p:nvPr/>
        </p:nvSpPr>
        <p:spPr>
          <a:xfrm>
            <a:off x="393192" y="16367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13" name="Text 11"/>
          <p:cNvSpPr/>
          <p:nvPr/>
        </p:nvSpPr>
        <p:spPr>
          <a:xfrm>
            <a:off x="923544" y="164592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380744" y="1636776"/>
            <a:ext cx="3749040" cy="457200"/>
          </a:xfrm>
          <a:prstGeom prst="rect">
            <a:avLst/>
          </a:prstGeom>
          <a:noFill/>
          <a:ln/>
        </p:spPr>
        <p:txBody>
          <a:bodyPr wrap="square" lIns="0" tIns="0" rIns="0" bIns="0" rtlCol="0" anchor="ctr"/>
          <a:lstStyle/>
          <a:p>
            <a:pPr marL="0" indent="0">
              <a:buNone/>
            </a:pPr>
            <a:r>
              <a:rPr lang="en-US" sz="1400" b="1" dirty="0">
                <a:solidFill>
                  <a:srgbClr val="162046"/>
                </a:solidFill>
                <a:latin typeface="Calibri" pitchFamily="34" charset="0"/>
                <a:ea typeface="Calibri" pitchFamily="34" charset="-122"/>
                <a:cs typeface="Calibri" pitchFamily="34" charset="-120"/>
              </a:rPr>
              <a:t>Carte / Exploration</a:t>
            </a:r>
            <a:endParaRPr lang="en-US" sz="1400" dirty="0"/>
          </a:p>
        </p:txBody>
      </p:sp>
      <p:sp>
        <p:nvSpPr>
          <p:cNvPr id="15" name="Shape 13"/>
          <p:cNvSpPr/>
          <p:nvPr/>
        </p:nvSpPr>
        <p:spPr>
          <a:xfrm>
            <a:off x="4160520" y="1691640"/>
            <a:ext cx="1737360" cy="274320"/>
          </a:xfrm>
          <a:prstGeom prst="roundRect">
            <a:avLst>
              <a:gd name="adj" fmla="val 16667"/>
            </a:avLst>
          </a:prstGeom>
          <a:solidFill>
            <a:srgbClr val="F4F6F8">
              <a:alpha val="70000"/>
            </a:srgbClr>
          </a:solidFill>
          <a:ln w="12700">
            <a:solidFill>
              <a:srgbClr val="00B4CC"/>
            </a:solidFill>
            <a:prstDash val="solid"/>
          </a:ln>
        </p:spPr>
        <p:txBody>
          <a:bodyPr/>
          <a:lstStyle/>
          <a:p>
            <a:endParaRPr lang="en-US"/>
          </a:p>
        </p:txBody>
      </p:sp>
      <p:sp>
        <p:nvSpPr>
          <p:cNvPr id="16" name="Text 14"/>
          <p:cNvSpPr/>
          <p:nvPr/>
        </p:nvSpPr>
        <p:spPr>
          <a:xfrm>
            <a:off x="4160520" y="1691640"/>
            <a:ext cx="1737360" cy="274320"/>
          </a:xfrm>
          <a:prstGeom prst="rect">
            <a:avLst/>
          </a:prstGeom>
          <a:noFill/>
          <a:ln/>
        </p:spPr>
        <p:txBody>
          <a:bodyPr wrap="square" lIns="0" tIns="0" rIns="0" bIns="0" rtlCol="0" anchor="ctr"/>
          <a:lstStyle/>
          <a:p>
            <a:pPr marL="0" indent="0" algn="ctr">
              <a:buNone/>
            </a:pPr>
            <a:r>
              <a:rPr lang="en-US" sz="850" b="1" dirty="0">
                <a:solidFill>
                  <a:srgbClr val="00B4CC"/>
                </a:solidFill>
              </a:rPr>
              <a:t>Cœur de l'application</a:t>
            </a:r>
            <a:endParaRPr lang="en-US" sz="850" dirty="0"/>
          </a:p>
        </p:txBody>
      </p:sp>
      <p:sp>
        <p:nvSpPr>
          <p:cNvPr id="17" name="Shape 15"/>
          <p:cNvSpPr/>
          <p:nvPr/>
        </p:nvSpPr>
        <p:spPr>
          <a:xfrm>
            <a:off x="393192" y="2185416"/>
            <a:ext cx="5486400" cy="0"/>
          </a:xfrm>
          <a:prstGeom prst="line">
            <a:avLst/>
          </a:prstGeom>
          <a:noFill/>
          <a:ln w="9525">
            <a:solidFill>
              <a:srgbClr val="D9E2EC"/>
            </a:solidFill>
            <a:prstDash val="solid"/>
          </a:ln>
        </p:spPr>
        <p:txBody>
          <a:bodyPr/>
          <a:lstStyle/>
          <a:p>
            <a:endParaRPr lang="en-US"/>
          </a:p>
        </p:txBody>
      </p:sp>
      <p:sp>
        <p:nvSpPr>
          <p:cNvPr id="18" name="Shape 16"/>
          <p:cNvSpPr/>
          <p:nvPr/>
        </p:nvSpPr>
        <p:spPr>
          <a:xfrm>
            <a:off x="411480" y="2386584"/>
            <a:ext cx="91440" cy="91440"/>
          </a:xfrm>
          <a:prstGeom prst="ellipse">
            <a:avLst/>
          </a:prstGeom>
          <a:solidFill>
            <a:srgbClr val="00B4CC"/>
          </a:solidFill>
          <a:ln w="12700">
            <a:solidFill>
              <a:srgbClr val="00B4CC"/>
            </a:solidFill>
            <a:prstDash val="solid"/>
          </a:ln>
        </p:spPr>
        <p:txBody>
          <a:bodyPr/>
          <a:lstStyle/>
          <a:p>
            <a:endParaRPr lang="en-US"/>
          </a:p>
        </p:txBody>
      </p:sp>
      <p:sp>
        <p:nvSpPr>
          <p:cNvPr id="19" name="Text 17"/>
          <p:cNvSpPr/>
          <p:nvPr/>
        </p:nvSpPr>
        <p:spPr>
          <a:xfrm>
            <a:off x="557784" y="22951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Affichage de la carte interactive (Google Maps)</a:t>
            </a:r>
            <a:endParaRPr lang="en-US" sz="1000" dirty="0"/>
          </a:p>
        </p:txBody>
      </p:sp>
      <p:sp>
        <p:nvSpPr>
          <p:cNvPr id="20" name="Shape 18"/>
          <p:cNvSpPr/>
          <p:nvPr/>
        </p:nvSpPr>
        <p:spPr>
          <a:xfrm>
            <a:off x="411480" y="2807208"/>
            <a:ext cx="91440" cy="91440"/>
          </a:xfrm>
          <a:prstGeom prst="ellipse">
            <a:avLst/>
          </a:prstGeom>
          <a:solidFill>
            <a:srgbClr val="00B4CC"/>
          </a:solidFill>
          <a:ln w="12700">
            <a:solidFill>
              <a:srgbClr val="00B4CC"/>
            </a:solidFill>
            <a:prstDash val="solid"/>
          </a:ln>
        </p:spPr>
        <p:txBody>
          <a:bodyPr/>
          <a:lstStyle/>
          <a:p>
            <a:endParaRPr lang="en-US"/>
          </a:p>
        </p:txBody>
      </p:sp>
      <p:sp>
        <p:nvSpPr>
          <p:cNvPr id="21" name="Text 19"/>
          <p:cNvSpPr/>
          <p:nvPr/>
        </p:nvSpPr>
        <p:spPr>
          <a:xfrm>
            <a:off x="557784" y="27157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Visualisation GPS en temps réel</a:t>
            </a:r>
            <a:endParaRPr lang="en-US" sz="1000" dirty="0"/>
          </a:p>
        </p:txBody>
      </p:sp>
      <p:sp>
        <p:nvSpPr>
          <p:cNvPr id="22" name="Shape 20"/>
          <p:cNvSpPr/>
          <p:nvPr/>
        </p:nvSpPr>
        <p:spPr>
          <a:xfrm>
            <a:off x="3131820" y="2386584"/>
            <a:ext cx="91440" cy="91440"/>
          </a:xfrm>
          <a:prstGeom prst="ellipse">
            <a:avLst/>
          </a:prstGeom>
          <a:solidFill>
            <a:srgbClr val="00B4CC"/>
          </a:solidFill>
          <a:ln w="12700">
            <a:solidFill>
              <a:srgbClr val="00B4CC"/>
            </a:solidFill>
            <a:prstDash val="solid"/>
          </a:ln>
        </p:spPr>
        <p:txBody>
          <a:bodyPr/>
          <a:lstStyle/>
          <a:p>
            <a:endParaRPr lang="en-US"/>
          </a:p>
        </p:txBody>
      </p:sp>
      <p:sp>
        <p:nvSpPr>
          <p:cNvPr id="23" name="Text 21"/>
          <p:cNvSpPr/>
          <p:nvPr/>
        </p:nvSpPr>
        <p:spPr>
          <a:xfrm>
            <a:off x="3278124" y="22951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Rendu des territoires conquis (couleurs + transparence)</a:t>
            </a:r>
            <a:endParaRPr lang="en-US" sz="1000" dirty="0"/>
          </a:p>
        </p:txBody>
      </p:sp>
      <p:sp>
        <p:nvSpPr>
          <p:cNvPr id="24" name="Shape 22"/>
          <p:cNvSpPr/>
          <p:nvPr/>
        </p:nvSpPr>
        <p:spPr>
          <a:xfrm>
            <a:off x="3131820" y="2807208"/>
            <a:ext cx="91440" cy="91440"/>
          </a:xfrm>
          <a:prstGeom prst="ellipse">
            <a:avLst/>
          </a:prstGeom>
          <a:solidFill>
            <a:srgbClr val="00B4CC"/>
          </a:solidFill>
          <a:ln w="12700">
            <a:solidFill>
              <a:srgbClr val="00B4CC"/>
            </a:solidFill>
            <a:prstDash val="solid"/>
          </a:ln>
        </p:spPr>
        <p:txBody>
          <a:bodyPr/>
          <a:lstStyle/>
          <a:p>
            <a:endParaRPr lang="en-US"/>
          </a:p>
        </p:txBody>
      </p:sp>
      <p:sp>
        <p:nvSpPr>
          <p:cNvPr id="25" name="Text 23"/>
          <p:cNvSpPr/>
          <p:nvPr/>
        </p:nvSpPr>
        <p:spPr>
          <a:xfrm>
            <a:off x="3278124" y="27157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Gestion des zones et des intersections</a:t>
            </a:r>
            <a:endParaRPr lang="en-US" sz="1000" dirty="0"/>
          </a:p>
        </p:txBody>
      </p:sp>
      <p:sp>
        <p:nvSpPr>
          <p:cNvPr id="26" name="Shape 24"/>
          <p:cNvSpPr/>
          <p:nvPr/>
        </p:nvSpPr>
        <p:spPr>
          <a:xfrm>
            <a:off x="3131820" y="3227832"/>
            <a:ext cx="91440" cy="91440"/>
          </a:xfrm>
          <a:prstGeom prst="ellipse">
            <a:avLst/>
          </a:prstGeom>
          <a:solidFill>
            <a:srgbClr val="00B4CC"/>
          </a:solidFill>
          <a:ln w="12700">
            <a:solidFill>
              <a:srgbClr val="00B4CC"/>
            </a:solidFill>
            <a:prstDash val="solid"/>
          </a:ln>
        </p:spPr>
        <p:txBody>
          <a:bodyPr/>
          <a:lstStyle/>
          <a:p>
            <a:endParaRPr lang="en-US"/>
          </a:p>
        </p:txBody>
      </p:sp>
      <p:sp>
        <p:nvSpPr>
          <p:cNvPr id="27" name="Text 25"/>
          <p:cNvSpPr/>
          <p:nvPr/>
        </p:nvSpPr>
        <p:spPr>
          <a:xfrm>
            <a:off x="3278124" y="3136392"/>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Bouton Start / Stop de la session</a:t>
            </a:r>
            <a:endParaRPr lang="en-US" sz="1000" dirty="0"/>
          </a:p>
        </p:txBody>
      </p:sp>
      <p:sp>
        <p:nvSpPr>
          <p:cNvPr id="28" name="Shape 26"/>
          <p:cNvSpPr/>
          <p:nvPr/>
        </p:nvSpPr>
        <p:spPr>
          <a:xfrm>
            <a:off x="6263640" y="1508760"/>
            <a:ext cx="5760720" cy="2651760"/>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29" name="Shape 27"/>
          <p:cNvSpPr/>
          <p:nvPr/>
        </p:nvSpPr>
        <p:spPr>
          <a:xfrm>
            <a:off x="6263640" y="1508760"/>
            <a:ext cx="64008" cy="2651760"/>
          </a:xfrm>
          <a:prstGeom prst="rect">
            <a:avLst/>
          </a:prstGeom>
          <a:solidFill>
            <a:srgbClr val="10B981"/>
          </a:solidFill>
          <a:ln w="12700">
            <a:solidFill>
              <a:srgbClr val="10B981"/>
            </a:solidFill>
            <a:prstDash val="solid"/>
          </a:ln>
        </p:spPr>
        <p:txBody>
          <a:bodyPr/>
          <a:lstStyle/>
          <a:p>
            <a:endParaRPr lang="en-US"/>
          </a:p>
        </p:txBody>
      </p:sp>
      <p:sp>
        <p:nvSpPr>
          <p:cNvPr id="30" name="Shape 28"/>
          <p:cNvSpPr/>
          <p:nvPr/>
        </p:nvSpPr>
        <p:spPr>
          <a:xfrm>
            <a:off x="6428232" y="1636776"/>
            <a:ext cx="475488" cy="475488"/>
          </a:xfrm>
          <a:prstGeom prst="ellipse">
            <a:avLst/>
          </a:prstGeom>
          <a:solidFill>
            <a:srgbClr val="10B981"/>
          </a:solidFill>
          <a:ln w="12700">
            <a:solidFill>
              <a:srgbClr val="10B981"/>
            </a:solidFill>
            <a:prstDash val="solid"/>
          </a:ln>
        </p:spPr>
        <p:txBody>
          <a:bodyPr/>
          <a:lstStyle/>
          <a:p>
            <a:endParaRPr lang="en-US"/>
          </a:p>
        </p:txBody>
      </p:sp>
      <p:sp>
        <p:nvSpPr>
          <p:cNvPr id="31" name="Text 29"/>
          <p:cNvSpPr/>
          <p:nvPr/>
        </p:nvSpPr>
        <p:spPr>
          <a:xfrm>
            <a:off x="6428232" y="16367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32" name="Text 30"/>
          <p:cNvSpPr/>
          <p:nvPr/>
        </p:nvSpPr>
        <p:spPr>
          <a:xfrm>
            <a:off x="6958584" y="164592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3" name="Text 31"/>
          <p:cNvSpPr/>
          <p:nvPr/>
        </p:nvSpPr>
        <p:spPr>
          <a:xfrm>
            <a:off x="7415784" y="1636776"/>
            <a:ext cx="3749040" cy="457200"/>
          </a:xfrm>
          <a:prstGeom prst="rect">
            <a:avLst/>
          </a:prstGeom>
          <a:noFill/>
          <a:ln/>
        </p:spPr>
        <p:txBody>
          <a:bodyPr wrap="square" lIns="0" tIns="0" rIns="0" bIns="0" rtlCol="0" anchor="ctr"/>
          <a:lstStyle/>
          <a:p>
            <a:pPr marL="0" indent="0">
              <a:buNone/>
            </a:pPr>
            <a:r>
              <a:rPr lang="en-US" sz="1400" b="1" dirty="0">
                <a:solidFill>
                  <a:srgbClr val="162046"/>
                </a:solidFill>
                <a:latin typeface="Calibri" pitchFamily="34" charset="0"/>
                <a:ea typeface="Calibri" pitchFamily="34" charset="-122"/>
                <a:cs typeface="Calibri" pitchFamily="34" charset="-120"/>
              </a:rPr>
              <a:t>Activité utilisateur</a:t>
            </a:r>
            <a:endParaRPr lang="en-US" sz="1400" dirty="0"/>
          </a:p>
        </p:txBody>
      </p:sp>
      <p:sp>
        <p:nvSpPr>
          <p:cNvPr id="34" name="Shape 32"/>
          <p:cNvSpPr/>
          <p:nvPr/>
        </p:nvSpPr>
        <p:spPr>
          <a:xfrm>
            <a:off x="10195560" y="1691640"/>
            <a:ext cx="1737360" cy="274320"/>
          </a:xfrm>
          <a:prstGeom prst="roundRect">
            <a:avLst>
              <a:gd name="adj" fmla="val 16667"/>
            </a:avLst>
          </a:prstGeom>
          <a:solidFill>
            <a:srgbClr val="F4F6F8">
              <a:alpha val="70000"/>
            </a:srgbClr>
          </a:solidFill>
          <a:ln w="12700">
            <a:solidFill>
              <a:srgbClr val="10B981"/>
            </a:solidFill>
            <a:prstDash val="solid"/>
          </a:ln>
        </p:spPr>
        <p:txBody>
          <a:bodyPr/>
          <a:lstStyle/>
          <a:p>
            <a:endParaRPr lang="en-US"/>
          </a:p>
        </p:txBody>
      </p:sp>
      <p:sp>
        <p:nvSpPr>
          <p:cNvPr id="35" name="Text 33"/>
          <p:cNvSpPr/>
          <p:nvPr/>
        </p:nvSpPr>
        <p:spPr>
          <a:xfrm>
            <a:off x="10195560" y="1691640"/>
            <a:ext cx="1737360" cy="274320"/>
          </a:xfrm>
          <a:prstGeom prst="rect">
            <a:avLst/>
          </a:prstGeom>
          <a:noFill/>
          <a:ln/>
        </p:spPr>
        <p:txBody>
          <a:bodyPr wrap="square" lIns="0" tIns="0" rIns="0" bIns="0" rtlCol="0" anchor="ctr"/>
          <a:lstStyle/>
          <a:p>
            <a:pPr marL="0" indent="0" algn="ctr">
              <a:buNone/>
            </a:pPr>
            <a:r>
              <a:rPr lang="en-US" sz="850" b="1" dirty="0">
                <a:solidFill>
                  <a:srgbClr val="10B981"/>
                </a:solidFill>
              </a:rPr>
              <a:t>Moteur de gamification</a:t>
            </a:r>
            <a:endParaRPr lang="en-US" sz="850" dirty="0"/>
          </a:p>
        </p:txBody>
      </p:sp>
      <p:sp>
        <p:nvSpPr>
          <p:cNvPr id="36" name="Shape 34"/>
          <p:cNvSpPr/>
          <p:nvPr/>
        </p:nvSpPr>
        <p:spPr>
          <a:xfrm>
            <a:off x="6428232" y="2185416"/>
            <a:ext cx="5486400" cy="0"/>
          </a:xfrm>
          <a:prstGeom prst="line">
            <a:avLst/>
          </a:prstGeom>
          <a:noFill/>
          <a:ln w="9525">
            <a:solidFill>
              <a:srgbClr val="D9E2EC"/>
            </a:solidFill>
            <a:prstDash val="solid"/>
          </a:ln>
        </p:spPr>
        <p:txBody>
          <a:bodyPr/>
          <a:lstStyle/>
          <a:p>
            <a:endParaRPr lang="en-US"/>
          </a:p>
        </p:txBody>
      </p:sp>
      <p:sp>
        <p:nvSpPr>
          <p:cNvPr id="37" name="Shape 35"/>
          <p:cNvSpPr/>
          <p:nvPr/>
        </p:nvSpPr>
        <p:spPr>
          <a:xfrm>
            <a:off x="6446520" y="2386584"/>
            <a:ext cx="91440" cy="91440"/>
          </a:xfrm>
          <a:prstGeom prst="ellipse">
            <a:avLst/>
          </a:prstGeom>
          <a:solidFill>
            <a:srgbClr val="10B981"/>
          </a:solidFill>
          <a:ln w="12700">
            <a:solidFill>
              <a:srgbClr val="10B981"/>
            </a:solidFill>
            <a:prstDash val="solid"/>
          </a:ln>
        </p:spPr>
        <p:txBody>
          <a:bodyPr/>
          <a:lstStyle/>
          <a:p>
            <a:endParaRPr lang="en-US"/>
          </a:p>
        </p:txBody>
      </p:sp>
      <p:sp>
        <p:nvSpPr>
          <p:cNvPr id="38" name="Text 36"/>
          <p:cNvSpPr/>
          <p:nvPr/>
        </p:nvSpPr>
        <p:spPr>
          <a:xfrm>
            <a:off x="6592824" y="22951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Enregistrement du parcours GPS</a:t>
            </a:r>
            <a:endParaRPr lang="en-US" sz="1000" dirty="0"/>
          </a:p>
        </p:txBody>
      </p:sp>
      <p:sp>
        <p:nvSpPr>
          <p:cNvPr id="39" name="Shape 37"/>
          <p:cNvSpPr/>
          <p:nvPr/>
        </p:nvSpPr>
        <p:spPr>
          <a:xfrm>
            <a:off x="6446520" y="2807208"/>
            <a:ext cx="91440" cy="91440"/>
          </a:xfrm>
          <a:prstGeom prst="ellipse">
            <a:avLst/>
          </a:prstGeom>
          <a:solidFill>
            <a:srgbClr val="10B981"/>
          </a:solidFill>
          <a:ln w="12700">
            <a:solidFill>
              <a:srgbClr val="10B981"/>
            </a:solidFill>
            <a:prstDash val="solid"/>
          </a:ln>
        </p:spPr>
        <p:txBody>
          <a:bodyPr/>
          <a:lstStyle/>
          <a:p>
            <a:endParaRPr lang="en-US"/>
          </a:p>
        </p:txBody>
      </p:sp>
      <p:sp>
        <p:nvSpPr>
          <p:cNvPr id="40" name="Text 38"/>
          <p:cNvSpPr/>
          <p:nvPr/>
        </p:nvSpPr>
        <p:spPr>
          <a:xfrm>
            <a:off x="6592824" y="27157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Détection et fermeture des zones parcourues</a:t>
            </a:r>
            <a:endParaRPr lang="en-US" sz="1000" dirty="0"/>
          </a:p>
        </p:txBody>
      </p:sp>
      <p:sp>
        <p:nvSpPr>
          <p:cNvPr id="41" name="Shape 39"/>
          <p:cNvSpPr/>
          <p:nvPr/>
        </p:nvSpPr>
        <p:spPr>
          <a:xfrm>
            <a:off x="9166860" y="2386584"/>
            <a:ext cx="91440" cy="91440"/>
          </a:xfrm>
          <a:prstGeom prst="ellipse">
            <a:avLst/>
          </a:prstGeom>
          <a:solidFill>
            <a:srgbClr val="10B981"/>
          </a:solidFill>
          <a:ln w="12700">
            <a:solidFill>
              <a:srgbClr val="10B981"/>
            </a:solidFill>
            <a:prstDash val="solid"/>
          </a:ln>
        </p:spPr>
        <p:txBody>
          <a:bodyPr/>
          <a:lstStyle/>
          <a:p>
            <a:endParaRPr lang="en-US"/>
          </a:p>
        </p:txBody>
      </p:sp>
      <p:sp>
        <p:nvSpPr>
          <p:cNvPr id="42" name="Text 40"/>
          <p:cNvSpPr/>
          <p:nvPr/>
        </p:nvSpPr>
        <p:spPr>
          <a:xfrm>
            <a:off x="9313164" y="22951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Calcul des surfaces conquises (km²)</a:t>
            </a:r>
            <a:endParaRPr lang="en-US" sz="1000" dirty="0"/>
          </a:p>
        </p:txBody>
      </p:sp>
      <p:sp>
        <p:nvSpPr>
          <p:cNvPr id="43" name="Shape 41"/>
          <p:cNvSpPr/>
          <p:nvPr/>
        </p:nvSpPr>
        <p:spPr>
          <a:xfrm>
            <a:off x="9166860" y="2807208"/>
            <a:ext cx="91440" cy="91440"/>
          </a:xfrm>
          <a:prstGeom prst="ellipse">
            <a:avLst/>
          </a:prstGeom>
          <a:solidFill>
            <a:srgbClr val="10B981"/>
          </a:solidFill>
          <a:ln w="12700">
            <a:solidFill>
              <a:srgbClr val="10B981"/>
            </a:solidFill>
            <a:prstDash val="solid"/>
          </a:ln>
        </p:spPr>
        <p:txBody>
          <a:bodyPr/>
          <a:lstStyle/>
          <a:p>
            <a:endParaRPr lang="en-US"/>
          </a:p>
        </p:txBody>
      </p:sp>
      <p:sp>
        <p:nvSpPr>
          <p:cNvPr id="44" name="Text 42"/>
          <p:cNvSpPr/>
          <p:nvPr/>
        </p:nvSpPr>
        <p:spPr>
          <a:xfrm>
            <a:off x="9313164" y="27157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Historique des activités passées</a:t>
            </a:r>
            <a:endParaRPr lang="en-US" sz="1000" dirty="0"/>
          </a:p>
        </p:txBody>
      </p:sp>
      <p:sp>
        <p:nvSpPr>
          <p:cNvPr id="45" name="Shape 43"/>
          <p:cNvSpPr/>
          <p:nvPr/>
        </p:nvSpPr>
        <p:spPr>
          <a:xfrm>
            <a:off x="9166860" y="3227832"/>
            <a:ext cx="91440" cy="91440"/>
          </a:xfrm>
          <a:prstGeom prst="ellipse">
            <a:avLst/>
          </a:prstGeom>
          <a:solidFill>
            <a:srgbClr val="10B981"/>
          </a:solidFill>
          <a:ln w="12700">
            <a:solidFill>
              <a:srgbClr val="10B981"/>
            </a:solidFill>
            <a:prstDash val="solid"/>
          </a:ln>
        </p:spPr>
        <p:txBody>
          <a:bodyPr/>
          <a:lstStyle/>
          <a:p>
            <a:endParaRPr lang="en-US"/>
          </a:p>
        </p:txBody>
      </p:sp>
      <p:sp>
        <p:nvSpPr>
          <p:cNvPr id="46" name="Text 44"/>
          <p:cNvSpPr/>
          <p:nvPr/>
        </p:nvSpPr>
        <p:spPr>
          <a:xfrm>
            <a:off x="9313164" y="3136392"/>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Métriques de performance par session</a:t>
            </a:r>
            <a:endParaRPr lang="en-US" sz="1000" dirty="0"/>
          </a:p>
        </p:txBody>
      </p:sp>
      <p:sp>
        <p:nvSpPr>
          <p:cNvPr id="47" name="Shape 45"/>
          <p:cNvSpPr/>
          <p:nvPr/>
        </p:nvSpPr>
        <p:spPr>
          <a:xfrm>
            <a:off x="228600" y="4251960"/>
            <a:ext cx="5760720" cy="2651760"/>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48" name="Shape 46"/>
          <p:cNvSpPr/>
          <p:nvPr/>
        </p:nvSpPr>
        <p:spPr>
          <a:xfrm>
            <a:off x="228600" y="4251960"/>
            <a:ext cx="64008" cy="2651760"/>
          </a:xfrm>
          <a:prstGeom prst="rect">
            <a:avLst/>
          </a:prstGeom>
          <a:solidFill>
            <a:srgbClr val="F59E0B"/>
          </a:solidFill>
          <a:ln w="12700">
            <a:solidFill>
              <a:srgbClr val="F59E0B"/>
            </a:solidFill>
            <a:prstDash val="solid"/>
          </a:ln>
        </p:spPr>
        <p:txBody>
          <a:bodyPr/>
          <a:lstStyle/>
          <a:p>
            <a:endParaRPr lang="en-US"/>
          </a:p>
        </p:txBody>
      </p:sp>
      <p:sp>
        <p:nvSpPr>
          <p:cNvPr id="49" name="Shape 47"/>
          <p:cNvSpPr/>
          <p:nvPr/>
        </p:nvSpPr>
        <p:spPr>
          <a:xfrm>
            <a:off x="393192" y="4379976"/>
            <a:ext cx="475488" cy="475488"/>
          </a:xfrm>
          <a:prstGeom prst="ellipse">
            <a:avLst/>
          </a:prstGeom>
          <a:solidFill>
            <a:srgbClr val="F59E0B"/>
          </a:solidFill>
          <a:ln w="12700">
            <a:solidFill>
              <a:srgbClr val="F59E0B"/>
            </a:solidFill>
            <a:prstDash val="solid"/>
          </a:ln>
        </p:spPr>
        <p:txBody>
          <a:bodyPr/>
          <a:lstStyle/>
          <a:p>
            <a:endParaRPr lang="en-US"/>
          </a:p>
        </p:txBody>
      </p:sp>
      <p:sp>
        <p:nvSpPr>
          <p:cNvPr id="50" name="Text 48"/>
          <p:cNvSpPr/>
          <p:nvPr/>
        </p:nvSpPr>
        <p:spPr>
          <a:xfrm>
            <a:off x="393192" y="43799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51" name="Text 49"/>
          <p:cNvSpPr/>
          <p:nvPr/>
        </p:nvSpPr>
        <p:spPr>
          <a:xfrm>
            <a:off x="923544" y="438912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2" name="Text 50"/>
          <p:cNvSpPr/>
          <p:nvPr/>
        </p:nvSpPr>
        <p:spPr>
          <a:xfrm>
            <a:off x="1380744" y="4379976"/>
            <a:ext cx="3749040" cy="457200"/>
          </a:xfrm>
          <a:prstGeom prst="rect">
            <a:avLst/>
          </a:prstGeom>
          <a:noFill/>
          <a:ln/>
        </p:spPr>
        <p:txBody>
          <a:bodyPr wrap="square" lIns="0" tIns="0" rIns="0" bIns="0" rtlCol="0" anchor="ctr"/>
          <a:lstStyle/>
          <a:p>
            <a:pPr marL="0" indent="0">
              <a:buNone/>
            </a:pPr>
            <a:r>
              <a:rPr lang="en-US" sz="1400" b="1" dirty="0">
                <a:solidFill>
                  <a:srgbClr val="162046"/>
                </a:solidFill>
                <a:latin typeface="Calibri" pitchFamily="34" charset="0"/>
                <a:ea typeface="Calibri" pitchFamily="34" charset="-122"/>
                <a:cs typeface="Calibri" pitchFamily="34" charset="-120"/>
              </a:rPr>
              <a:t>Profil / Paramètres</a:t>
            </a:r>
            <a:endParaRPr lang="en-US" sz="1400" dirty="0"/>
          </a:p>
        </p:txBody>
      </p:sp>
      <p:sp>
        <p:nvSpPr>
          <p:cNvPr id="53" name="Shape 51"/>
          <p:cNvSpPr/>
          <p:nvPr/>
        </p:nvSpPr>
        <p:spPr>
          <a:xfrm>
            <a:off x="4160520" y="4434840"/>
            <a:ext cx="1737360" cy="274320"/>
          </a:xfrm>
          <a:prstGeom prst="roundRect">
            <a:avLst>
              <a:gd name="adj" fmla="val 16667"/>
            </a:avLst>
          </a:prstGeom>
          <a:solidFill>
            <a:srgbClr val="F4F6F8">
              <a:alpha val="70000"/>
            </a:srgbClr>
          </a:solidFill>
          <a:ln w="12700">
            <a:solidFill>
              <a:srgbClr val="F59E0B"/>
            </a:solidFill>
            <a:prstDash val="solid"/>
          </a:ln>
        </p:spPr>
        <p:txBody>
          <a:bodyPr/>
          <a:lstStyle/>
          <a:p>
            <a:endParaRPr lang="en-US"/>
          </a:p>
        </p:txBody>
      </p:sp>
      <p:sp>
        <p:nvSpPr>
          <p:cNvPr id="54" name="Text 52"/>
          <p:cNvSpPr/>
          <p:nvPr/>
        </p:nvSpPr>
        <p:spPr>
          <a:xfrm>
            <a:off x="4160520" y="4434840"/>
            <a:ext cx="1737360" cy="274320"/>
          </a:xfrm>
          <a:prstGeom prst="rect">
            <a:avLst/>
          </a:prstGeom>
          <a:noFill/>
          <a:ln/>
        </p:spPr>
        <p:txBody>
          <a:bodyPr wrap="square" lIns="0" tIns="0" rIns="0" bIns="0" rtlCol="0" anchor="ctr"/>
          <a:lstStyle/>
          <a:p>
            <a:pPr marL="0" indent="0" algn="ctr">
              <a:buNone/>
            </a:pPr>
            <a:r>
              <a:rPr lang="en-US" sz="850" b="1" dirty="0">
                <a:solidFill>
                  <a:srgbClr val="F59E0B"/>
                </a:solidFill>
              </a:rPr>
              <a:t>Espace personnel</a:t>
            </a:r>
            <a:endParaRPr lang="en-US" sz="850" dirty="0"/>
          </a:p>
        </p:txBody>
      </p:sp>
      <p:sp>
        <p:nvSpPr>
          <p:cNvPr id="55" name="Shape 53"/>
          <p:cNvSpPr/>
          <p:nvPr/>
        </p:nvSpPr>
        <p:spPr>
          <a:xfrm>
            <a:off x="393192" y="4928616"/>
            <a:ext cx="5486400" cy="0"/>
          </a:xfrm>
          <a:prstGeom prst="line">
            <a:avLst/>
          </a:prstGeom>
          <a:noFill/>
          <a:ln w="9525">
            <a:solidFill>
              <a:srgbClr val="D9E2EC"/>
            </a:solidFill>
            <a:prstDash val="solid"/>
          </a:ln>
        </p:spPr>
        <p:txBody>
          <a:bodyPr/>
          <a:lstStyle/>
          <a:p>
            <a:endParaRPr lang="en-US"/>
          </a:p>
        </p:txBody>
      </p:sp>
      <p:sp>
        <p:nvSpPr>
          <p:cNvPr id="56" name="Shape 54"/>
          <p:cNvSpPr/>
          <p:nvPr/>
        </p:nvSpPr>
        <p:spPr>
          <a:xfrm>
            <a:off x="411480" y="5129784"/>
            <a:ext cx="91440" cy="91440"/>
          </a:xfrm>
          <a:prstGeom prst="ellipse">
            <a:avLst/>
          </a:prstGeom>
          <a:solidFill>
            <a:srgbClr val="F59E0B"/>
          </a:solidFill>
          <a:ln w="12700">
            <a:solidFill>
              <a:srgbClr val="F59E0B"/>
            </a:solidFill>
            <a:prstDash val="solid"/>
          </a:ln>
        </p:spPr>
        <p:txBody>
          <a:bodyPr/>
          <a:lstStyle/>
          <a:p>
            <a:endParaRPr lang="en-US"/>
          </a:p>
        </p:txBody>
      </p:sp>
      <p:sp>
        <p:nvSpPr>
          <p:cNvPr id="57" name="Text 55"/>
          <p:cNvSpPr/>
          <p:nvPr/>
        </p:nvSpPr>
        <p:spPr>
          <a:xfrm>
            <a:off x="557784" y="50383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Données personnelles de l'utilisateur</a:t>
            </a:r>
            <a:endParaRPr lang="en-US" sz="1000" dirty="0"/>
          </a:p>
        </p:txBody>
      </p:sp>
      <p:sp>
        <p:nvSpPr>
          <p:cNvPr id="58" name="Shape 56"/>
          <p:cNvSpPr/>
          <p:nvPr/>
        </p:nvSpPr>
        <p:spPr>
          <a:xfrm>
            <a:off x="411480" y="5550408"/>
            <a:ext cx="91440" cy="91440"/>
          </a:xfrm>
          <a:prstGeom prst="ellipse">
            <a:avLst/>
          </a:prstGeom>
          <a:solidFill>
            <a:srgbClr val="F59E0B"/>
          </a:solidFill>
          <a:ln w="12700">
            <a:solidFill>
              <a:srgbClr val="F59E0B"/>
            </a:solidFill>
            <a:prstDash val="solid"/>
          </a:ln>
        </p:spPr>
        <p:txBody>
          <a:bodyPr/>
          <a:lstStyle/>
          <a:p>
            <a:endParaRPr lang="en-US"/>
          </a:p>
        </p:txBody>
      </p:sp>
      <p:sp>
        <p:nvSpPr>
          <p:cNvPr id="59" name="Text 57"/>
          <p:cNvSpPr/>
          <p:nvPr/>
        </p:nvSpPr>
        <p:spPr>
          <a:xfrm>
            <a:off x="557784" y="54589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Visualisation de la progression globale</a:t>
            </a:r>
            <a:endParaRPr lang="en-US" sz="1000" dirty="0"/>
          </a:p>
        </p:txBody>
      </p:sp>
      <p:sp>
        <p:nvSpPr>
          <p:cNvPr id="60" name="Shape 58"/>
          <p:cNvSpPr/>
          <p:nvPr/>
        </p:nvSpPr>
        <p:spPr>
          <a:xfrm>
            <a:off x="3131820" y="5129784"/>
            <a:ext cx="91440" cy="91440"/>
          </a:xfrm>
          <a:prstGeom prst="ellipse">
            <a:avLst/>
          </a:prstGeom>
          <a:solidFill>
            <a:srgbClr val="F59E0B"/>
          </a:solidFill>
          <a:ln w="12700">
            <a:solidFill>
              <a:srgbClr val="F59E0B"/>
            </a:solidFill>
            <a:prstDash val="solid"/>
          </a:ln>
        </p:spPr>
        <p:txBody>
          <a:bodyPr/>
          <a:lstStyle/>
          <a:p>
            <a:endParaRPr lang="en-US"/>
          </a:p>
        </p:txBody>
      </p:sp>
      <p:sp>
        <p:nvSpPr>
          <p:cNvPr id="61" name="Text 59"/>
          <p:cNvSpPr/>
          <p:nvPr/>
        </p:nvSpPr>
        <p:spPr>
          <a:xfrm>
            <a:off x="3278124" y="50383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Surface totale conquise &amp; records</a:t>
            </a:r>
            <a:endParaRPr lang="en-US" sz="1000" dirty="0"/>
          </a:p>
        </p:txBody>
      </p:sp>
      <p:sp>
        <p:nvSpPr>
          <p:cNvPr id="62" name="Shape 60"/>
          <p:cNvSpPr/>
          <p:nvPr/>
        </p:nvSpPr>
        <p:spPr>
          <a:xfrm>
            <a:off x="3131820" y="5550408"/>
            <a:ext cx="91440" cy="91440"/>
          </a:xfrm>
          <a:prstGeom prst="ellipse">
            <a:avLst/>
          </a:prstGeom>
          <a:solidFill>
            <a:srgbClr val="F59E0B"/>
          </a:solidFill>
          <a:ln w="12700">
            <a:solidFill>
              <a:srgbClr val="F59E0B"/>
            </a:solidFill>
            <a:prstDash val="solid"/>
          </a:ln>
        </p:spPr>
        <p:txBody>
          <a:bodyPr/>
          <a:lstStyle/>
          <a:p>
            <a:endParaRPr lang="en-US"/>
          </a:p>
        </p:txBody>
      </p:sp>
      <p:sp>
        <p:nvSpPr>
          <p:cNvPr id="63" name="Text 61"/>
          <p:cNvSpPr/>
          <p:nvPr/>
        </p:nvSpPr>
        <p:spPr>
          <a:xfrm>
            <a:off x="3278124" y="54589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Paramètres de compte et préférences</a:t>
            </a:r>
            <a:endParaRPr lang="en-US" sz="1000" dirty="0"/>
          </a:p>
        </p:txBody>
      </p:sp>
      <p:sp>
        <p:nvSpPr>
          <p:cNvPr id="64" name="Shape 62"/>
          <p:cNvSpPr/>
          <p:nvPr/>
        </p:nvSpPr>
        <p:spPr>
          <a:xfrm>
            <a:off x="3131820" y="5971032"/>
            <a:ext cx="91440" cy="91440"/>
          </a:xfrm>
          <a:prstGeom prst="ellipse">
            <a:avLst/>
          </a:prstGeom>
          <a:solidFill>
            <a:srgbClr val="F59E0B"/>
          </a:solidFill>
          <a:ln w="12700">
            <a:solidFill>
              <a:srgbClr val="F59E0B"/>
            </a:solidFill>
            <a:prstDash val="solid"/>
          </a:ln>
        </p:spPr>
        <p:txBody>
          <a:bodyPr/>
          <a:lstStyle/>
          <a:p>
            <a:endParaRPr lang="en-US"/>
          </a:p>
        </p:txBody>
      </p:sp>
      <p:sp>
        <p:nvSpPr>
          <p:cNvPr id="65" name="Text 63"/>
          <p:cNvSpPr/>
          <p:nvPr/>
        </p:nvSpPr>
        <p:spPr>
          <a:xfrm>
            <a:off x="3278124" y="5879592"/>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Authentification (Login / Sign up)</a:t>
            </a:r>
            <a:endParaRPr lang="en-US" sz="1000" dirty="0"/>
          </a:p>
        </p:txBody>
      </p:sp>
      <p:sp>
        <p:nvSpPr>
          <p:cNvPr id="66" name="Shape 64"/>
          <p:cNvSpPr/>
          <p:nvPr/>
        </p:nvSpPr>
        <p:spPr>
          <a:xfrm>
            <a:off x="6263640" y="4251960"/>
            <a:ext cx="5760720" cy="2651760"/>
          </a:xfrm>
          <a:prstGeom prst="rect">
            <a:avLst/>
          </a:prstGeom>
          <a:solidFill>
            <a:srgbClr val="FFFFFF"/>
          </a:solidFill>
          <a:ln w="12700">
            <a:solidFill>
              <a:srgbClr val="D9E2EC"/>
            </a:solidFill>
            <a:prstDash val="solid"/>
          </a:ln>
          <a:effectLst>
            <a:outerShdw blurRad="101600" dist="25400" dir="8100000" algn="bl" rotWithShape="0">
              <a:srgbClr val="000000">
                <a:alpha val="10000"/>
              </a:srgbClr>
            </a:outerShdw>
          </a:effectLst>
        </p:spPr>
        <p:txBody>
          <a:bodyPr/>
          <a:lstStyle/>
          <a:p>
            <a:endParaRPr lang="en-US"/>
          </a:p>
        </p:txBody>
      </p:sp>
      <p:sp>
        <p:nvSpPr>
          <p:cNvPr id="67" name="Shape 65"/>
          <p:cNvSpPr/>
          <p:nvPr/>
        </p:nvSpPr>
        <p:spPr>
          <a:xfrm>
            <a:off x="6263640" y="4251960"/>
            <a:ext cx="64008" cy="2651760"/>
          </a:xfrm>
          <a:prstGeom prst="rect">
            <a:avLst/>
          </a:prstGeom>
          <a:solidFill>
            <a:srgbClr val="7C3AED"/>
          </a:solidFill>
          <a:ln w="12700">
            <a:solidFill>
              <a:srgbClr val="7C3AED"/>
            </a:solidFill>
            <a:prstDash val="solid"/>
          </a:ln>
        </p:spPr>
        <p:txBody>
          <a:bodyPr/>
          <a:lstStyle/>
          <a:p>
            <a:endParaRPr lang="en-US"/>
          </a:p>
        </p:txBody>
      </p:sp>
      <p:sp>
        <p:nvSpPr>
          <p:cNvPr id="68" name="Shape 66"/>
          <p:cNvSpPr/>
          <p:nvPr/>
        </p:nvSpPr>
        <p:spPr>
          <a:xfrm>
            <a:off x="6428232" y="4379976"/>
            <a:ext cx="475488" cy="475488"/>
          </a:xfrm>
          <a:prstGeom prst="ellipse">
            <a:avLst/>
          </a:prstGeom>
          <a:solidFill>
            <a:srgbClr val="7C3AED"/>
          </a:solidFill>
          <a:ln w="12700">
            <a:solidFill>
              <a:srgbClr val="7C3AED"/>
            </a:solidFill>
            <a:prstDash val="solid"/>
          </a:ln>
        </p:spPr>
        <p:txBody>
          <a:bodyPr/>
          <a:lstStyle/>
          <a:p>
            <a:endParaRPr lang="en-US"/>
          </a:p>
        </p:txBody>
      </p:sp>
      <p:sp>
        <p:nvSpPr>
          <p:cNvPr id="69" name="Text 67"/>
          <p:cNvSpPr/>
          <p:nvPr/>
        </p:nvSpPr>
        <p:spPr>
          <a:xfrm>
            <a:off x="6428232" y="43799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70" name="Text 68"/>
          <p:cNvSpPr/>
          <p:nvPr/>
        </p:nvSpPr>
        <p:spPr>
          <a:xfrm>
            <a:off x="6958584" y="438912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1" name="Text 69"/>
          <p:cNvSpPr/>
          <p:nvPr/>
        </p:nvSpPr>
        <p:spPr>
          <a:xfrm>
            <a:off x="7415784" y="4379976"/>
            <a:ext cx="3749040" cy="457200"/>
          </a:xfrm>
          <a:prstGeom prst="rect">
            <a:avLst/>
          </a:prstGeom>
          <a:noFill/>
          <a:ln/>
        </p:spPr>
        <p:txBody>
          <a:bodyPr wrap="square" lIns="0" tIns="0" rIns="0" bIns="0" rtlCol="0" anchor="ctr"/>
          <a:lstStyle/>
          <a:p>
            <a:pPr marL="0" indent="0">
              <a:buNone/>
            </a:pPr>
            <a:r>
              <a:rPr lang="en-US" sz="1400" b="1" dirty="0">
                <a:solidFill>
                  <a:srgbClr val="162046"/>
                </a:solidFill>
                <a:latin typeface="Calibri" pitchFamily="34" charset="0"/>
                <a:ea typeface="Calibri" pitchFamily="34" charset="-122"/>
                <a:cs typeface="Calibri" pitchFamily="34" charset="-120"/>
              </a:rPr>
              <a:t>Social / Classement</a:t>
            </a:r>
            <a:endParaRPr lang="en-US" sz="1400" dirty="0"/>
          </a:p>
        </p:txBody>
      </p:sp>
      <p:sp>
        <p:nvSpPr>
          <p:cNvPr id="72" name="Shape 70"/>
          <p:cNvSpPr/>
          <p:nvPr/>
        </p:nvSpPr>
        <p:spPr>
          <a:xfrm>
            <a:off x="10195560" y="4434840"/>
            <a:ext cx="1737360" cy="274320"/>
          </a:xfrm>
          <a:prstGeom prst="roundRect">
            <a:avLst>
              <a:gd name="adj" fmla="val 16667"/>
            </a:avLst>
          </a:prstGeom>
          <a:solidFill>
            <a:srgbClr val="F4F6F8">
              <a:alpha val="70000"/>
            </a:srgbClr>
          </a:solidFill>
          <a:ln w="12700">
            <a:solidFill>
              <a:srgbClr val="7C3AED"/>
            </a:solidFill>
            <a:prstDash val="solid"/>
          </a:ln>
        </p:spPr>
        <p:txBody>
          <a:bodyPr/>
          <a:lstStyle/>
          <a:p>
            <a:endParaRPr lang="en-US"/>
          </a:p>
        </p:txBody>
      </p:sp>
      <p:sp>
        <p:nvSpPr>
          <p:cNvPr id="73" name="Text 71"/>
          <p:cNvSpPr/>
          <p:nvPr/>
        </p:nvSpPr>
        <p:spPr>
          <a:xfrm>
            <a:off x="10195560" y="4434840"/>
            <a:ext cx="1737360" cy="274320"/>
          </a:xfrm>
          <a:prstGeom prst="rect">
            <a:avLst/>
          </a:prstGeom>
          <a:noFill/>
          <a:ln/>
        </p:spPr>
        <p:txBody>
          <a:bodyPr wrap="square" lIns="0" tIns="0" rIns="0" bIns="0" rtlCol="0" anchor="ctr"/>
          <a:lstStyle/>
          <a:p>
            <a:pPr marL="0" indent="0" algn="ctr">
              <a:buNone/>
            </a:pPr>
            <a:r>
              <a:rPr lang="en-US" sz="850" b="1" dirty="0">
                <a:solidFill>
                  <a:srgbClr val="7C3AED"/>
                </a:solidFill>
              </a:rPr>
              <a:t>Dimension compétitive</a:t>
            </a:r>
            <a:endParaRPr lang="en-US" sz="850" dirty="0"/>
          </a:p>
        </p:txBody>
      </p:sp>
      <p:sp>
        <p:nvSpPr>
          <p:cNvPr id="74" name="Shape 72"/>
          <p:cNvSpPr/>
          <p:nvPr/>
        </p:nvSpPr>
        <p:spPr>
          <a:xfrm>
            <a:off x="6428232" y="4928616"/>
            <a:ext cx="5486400" cy="0"/>
          </a:xfrm>
          <a:prstGeom prst="line">
            <a:avLst/>
          </a:prstGeom>
          <a:noFill/>
          <a:ln w="9525">
            <a:solidFill>
              <a:srgbClr val="D9E2EC"/>
            </a:solidFill>
            <a:prstDash val="solid"/>
          </a:ln>
        </p:spPr>
        <p:txBody>
          <a:bodyPr/>
          <a:lstStyle/>
          <a:p>
            <a:endParaRPr lang="en-US"/>
          </a:p>
        </p:txBody>
      </p:sp>
      <p:sp>
        <p:nvSpPr>
          <p:cNvPr id="75" name="Shape 73"/>
          <p:cNvSpPr/>
          <p:nvPr/>
        </p:nvSpPr>
        <p:spPr>
          <a:xfrm>
            <a:off x="6446520" y="5129784"/>
            <a:ext cx="91440" cy="91440"/>
          </a:xfrm>
          <a:prstGeom prst="ellipse">
            <a:avLst/>
          </a:prstGeom>
          <a:solidFill>
            <a:srgbClr val="7C3AED"/>
          </a:solidFill>
          <a:ln w="12700">
            <a:solidFill>
              <a:srgbClr val="7C3AED"/>
            </a:solidFill>
            <a:prstDash val="solid"/>
          </a:ln>
        </p:spPr>
        <p:txBody>
          <a:bodyPr/>
          <a:lstStyle/>
          <a:p>
            <a:endParaRPr lang="en-US"/>
          </a:p>
        </p:txBody>
      </p:sp>
      <p:sp>
        <p:nvSpPr>
          <p:cNvPr id="76" name="Text 74"/>
          <p:cNvSpPr/>
          <p:nvPr/>
        </p:nvSpPr>
        <p:spPr>
          <a:xfrm>
            <a:off x="6592824" y="50383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Leaderboard local et global (Tunisia…)</a:t>
            </a:r>
            <a:endParaRPr lang="en-US" sz="1000" dirty="0"/>
          </a:p>
        </p:txBody>
      </p:sp>
      <p:sp>
        <p:nvSpPr>
          <p:cNvPr id="77" name="Shape 75"/>
          <p:cNvSpPr/>
          <p:nvPr/>
        </p:nvSpPr>
        <p:spPr>
          <a:xfrm>
            <a:off x="6446520" y="5550408"/>
            <a:ext cx="91440" cy="91440"/>
          </a:xfrm>
          <a:prstGeom prst="ellipse">
            <a:avLst/>
          </a:prstGeom>
          <a:solidFill>
            <a:srgbClr val="7C3AED"/>
          </a:solidFill>
          <a:ln w="12700">
            <a:solidFill>
              <a:srgbClr val="7C3AED"/>
            </a:solidFill>
            <a:prstDash val="solid"/>
          </a:ln>
        </p:spPr>
        <p:txBody>
          <a:bodyPr/>
          <a:lstStyle/>
          <a:p>
            <a:endParaRPr lang="en-US"/>
          </a:p>
        </p:txBody>
      </p:sp>
      <p:sp>
        <p:nvSpPr>
          <p:cNvPr id="78" name="Text 76"/>
          <p:cNvSpPr/>
          <p:nvPr/>
        </p:nvSpPr>
        <p:spPr>
          <a:xfrm>
            <a:off x="6592824" y="54589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Classement par surface conquise</a:t>
            </a:r>
            <a:endParaRPr lang="en-US" sz="1000" dirty="0"/>
          </a:p>
        </p:txBody>
      </p:sp>
      <p:sp>
        <p:nvSpPr>
          <p:cNvPr id="79" name="Shape 77"/>
          <p:cNvSpPr/>
          <p:nvPr/>
        </p:nvSpPr>
        <p:spPr>
          <a:xfrm>
            <a:off x="9166860" y="5129784"/>
            <a:ext cx="91440" cy="91440"/>
          </a:xfrm>
          <a:prstGeom prst="ellipse">
            <a:avLst/>
          </a:prstGeom>
          <a:solidFill>
            <a:srgbClr val="7C3AED"/>
          </a:solidFill>
          <a:ln w="12700">
            <a:solidFill>
              <a:srgbClr val="7C3AED"/>
            </a:solidFill>
            <a:prstDash val="solid"/>
          </a:ln>
        </p:spPr>
        <p:txBody>
          <a:bodyPr/>
          <a:lstStyle/>
          <a:p>
            <a:endParaRPr lang="en-US"/>
          </a:p>
        </p:txBody>
      </p:sp>
      <p:sp>
        <p:nvSpPr>
          <p:cNvPr id="80" name="Text 78"/>
          <p:cNvSpPr/>
          <p:nvPr/>
        </p:nvSpPr>
        <p:spPr>
          <a:xfrm>
            <a:off x="9313164" y="5038344"/>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Comparaison inter-utilisateurs</a:t>
            </a:r>
            <a:endParaRPr lang="en-US" sz="1000" dirty="0"/>
          </a:p>
        </p:txBody>
      </p:sp>
      <p:sp>
        <p:nvSpPr>
          <p:cNvPr id="81" name="Shape 79"/>
          <p:cNvSpPr/>
          <p:nvPr/>
        </p:nvSpPr>
        <p:spPr>
          <a:xfrm>
            <a:off x="9166860" y="5550408"/>
            <a:ext cx="91440" cy="91440"/>
          </a:xfrm>
          <a:prstGeom prst="ellipse">
            <a:avLst/>
          </a:prstGeom>
          <a:solidFill>
            <a:srgbClr val="7C3AED"/>
          </a:solidFill>
          <a:ln w="12700">
            <a:solidFill>
              <a:srgbClr val="7C3AED"/>
            </a:solidFill>
            <a:prstDash val="solid"/>
          </a:ln>
        </p:spPr>
        <p:txBody>
          <a:bodyPr/>
          <a:lstStyle/>
          <a:p>
            <a:endParaRPr lang="en-US"/>
          </a:p>
        </p:txBody>
      </p:sp>
      <p:sp>
        <p:nvSpPr>
          <p:cNvPr id="82" name="Text 80"/>
          <p:cNvSpPr/>
          <p:nvPr/>
        </p:nvSpPr>
        <p:spPr>
          <a:xfrm>
            <a:off x="9313164" y="5458968"/>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Statistiques communautaires</a:t>
            </a:r>
            <a:endParaRPr lang="en-US" sz="1000" dirty="0"/>
          </a:p>
        </p:txBody>
      </p:sp>
      <p:sp>
        <p:nvSpPr>
          <p:cNvPr id="83" name="Shape 81"/>
          <p:cNvSpPr/>
          <p:nvPr/>
        </p:nvSpPr>
        <p:spPr>
          <a:xfrm>
            <a:off x="9166860" y="5971032"/>
            <a:ext cx="91440" cy="91440"/>
          </a:xfrm>
          <a:prstGeom prst="ellipse">
            <a:avLst/>
          </a:prstGeom>
          <a:solidFill>
            <a:srgbClr val="7C3AED"/>
          </a:solidFill>
          <a:ln w="12700">
            <a:solidFill>
              <a:srgbClr val="7C3AED"/>
            </a:solidFill>
            <a:prstDash val="solid"/>
          </a:ln>
        </p:spPr>
        <p:txBody>
          <a:bodyPr/>
          <a:lstStyle/>
          <a:p>
            <a:endParaRPr lang="en-US"/>
          </a:p>
        </p:txBody>
      </p:sp>
      <p:sp>
        <p:nvSpPr>
          <p:cNvPr id="84" name="Text 82"/>
          <p:cNvSpPr/>
          <p:nvPr/>
        </p:nvSpPr>
        <p:spPr>
          <a:xfrm>
            <a:off x="9313164" y="5879592"/>
            <a:ext cx="2519172" cy="38404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Partage des performances (à définir)</a:t>
            </a:r>
            <a:endParaRPr lang="en-US" sz="1000" dirty="0"/>
          </a:p>
        </p:txBody>
      </p:sp>
      <p:sp>
        <p:nvSpPr>
          <p:cNvPr id="85" name="Shape 83"/>
          <p:cNvSpPr/>
          <p:nvPr/>
        </p:nvSpPr>
        <p:spPr>
          <a:xfrm>
            <a:off x="109728" y="6464808"/>
            <a:ext cx="12051792" cy="347472"/>
          </a:xfrm>
          <a:prstGeom prst="rect">
            <a:avLst/>
          </a:prstGeom>
          <a:solidFill>
            <a:srgbClr val="0B1A30"/>
          </a:solidFill>
          <a:ln w="12700">
            <a:solidFill>
              <a:srgbClr val="0B1A30"/>
            </a:solidFill>
            <a:prstDash val="solid"/>
          </a:ln>
        </p:spPr>
        <p:txBody>
          <a:bodyPr/>
          <a:lstStyle/>
          <a:p>
            <a:endParaRPr lang="en-US"/>
          </a:p>
        </p:txBody>
      </p:sp>
      <p:sp>
        <p:nvSpPr>
          <p:cNvPr id="86" name="Text 84"/>
          <p:cNvSpPr/>
          <p:nvPr/>
        </p:nvSpPr>
        <p:spPr>
          <a:xfrm>
            <a:off x="274320" y="6464808"/>
            <a:ext cx="11887200" cy="347472"/>
          </a:xfrm>
          <a:prstGeom prst="rect">
            <a:avLst/>
          </a:prstGeom>
          <a:noFill/>
          <a:ln/>
        </p:spPr>
        <p:txBody>
          <a:bodyPr wrap="square" lIns="0" tIns="0" rIns="0" bIns="0" rtlCol="0" anchor="ctr"/>
          <a:lstStyle/>
          <a:p>
            <a:pPr marL="0" indent="0" algn="ctr">
              <a:buNone/>
            </a:pPr>
            <a:r>
              <a:rPr lang="en-US" sz="950" i="1" dirty="0">
                <a:solidFill>
                  <a:srgbClr val="00B4CC"/>
                </a:solidFill>
                <a:latin typeface="Calibri" pitchFamily="34" charset="0"/>
                <a:ea typeface="Calibri" pitchFamily="34" charset="-122"/>
                <a:cs typeface="Calibri" pitchFamily="34" charset="-120"/>
              </a:rPr>
              <a:t>⚠  Architecture en cours de définition — vue globale des principaux modules · Les contours précis de chaque module seront affinés lors des sprints suivants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8851255" y="2825353"/>
            <a:ext cx="390079" cy="473125"/>
          </a:xfrm>
          <a:prstGeom prst="rect">
            <a:avLst/>
          </a:prstGeom>
        </p:spPr>
      </p:pic>
      <p:pic>
        <p:nvPicPr>
          <p:cNvPr id="4" name="Image 2" descr="preencoded.png"/>
          <p:cNvPicPr>
            <a:picLocks noChangeAspect="1"/>
          </p:cNvPicPr>
          <p:nvPr/>
        </p:nvPicPr>
        <p:blipFill>
          <a:blip r:embed="rId5"/>
          <a:stretch>
            <a:fillRect/>
          </a:stretch>
        </p:blipFill>
        <p:spPr>
          <a:xfrm>
            <a:off x="938659" y="5232648"/>
            <a:ext cx="402282" cy="329059"/>
          </a:xfrm>
          <a:prstGeom prst="rect">
            <a:avLst/>
          </a:prstGeom>
        </p:spPr>
      </p:pic>
      <p:pic>
        <p:nvPicPr>
          <p:cNvPr id="5" name="Image 3" descr="preencoded.png"/>
          <p:cNvPicPr>
            <a:picLocks noChangeAspect="1"/>
          </p:cNvPicPr>
          <p:nvPr/>
        </p:nvPicPr>
        <p:blipFill>
          <a:blip r:embed="rId6"/>
          <a:stretch>
            <a:fillRect/>
          </a:stretch>
        </p:blipFill>
        <p:spPr>
          <a:xfrm>
            <a:off x="938659" y="4265563"/>
            <a:ext cx="402282" cy="383977"/>
          </a:xfrm>
          <a:prstGeom prst="rect">
            <a:avLst/>
          </a:prstGeom>
        </p:spPr>
      </p:pic>
      <p:pic>
        <p:nvPicPr>
          <p:cNvPr id="6" name="Image 4" descr="preencoded.png"/>
          <p:cNvPicPr>
            <a:picLocks noChangeAspect="1"/>
          </p:cNvPicPr>
          <p:nvPr/>
        </p:nvPicPr>
        <p:blipFill>
          <a:blip r:embed="rId7"/>
          <a:stretch>
            <a:fillRect/>
          </a:stretch>
        </p:blipFill>
        <p:spPr>
          <a:xfrm>
            <a:off x="938659" y="3079105"/>
            <a:ext cx="402282" cy="383977"/>
          </a:xfrm>
          <a:prstGeom prst="rect">
            <a:avLst/>
          </a:prstGeom>
        </p:spPr>
      </p:pic>
      <p:pic>
        <p:nvPicPr>
          <p:cNvPr id="7" name="Image 5" descr="preencoded.png"/>
          <p:cNvPicPr>
            <a:picLocks noChangeAspect="1"/>
          </p:cNvPicPr>
          <p:nvPr/>
        </p:nvPicPr>
        <p:blipFill>
          <a:blip r:embed="rId8"/>
          <a:stretch>
            <a:fillRect/>
          </a:stretch>
        </p:blipFill>
        <p:spPr>
          <a:xfrm>
            <a:off x="914400" y="1885950"/>
            <a:ext cx="438894" cy="370284"/>
          </a:xfrm>
          <a:prstGeom prst="rect">
            <a:avLst/>
          </a:prstGeom>
        </p:spPr>
      </p:pic>
      <p:sp>
        <p:nvSpPr>
          <p:cNvPr id="8" name="Text 0"/>
          <p:cNvSpPr/>
          <p:nvPr/>
        </p:nvSpPr>
        <p:spPr>
          <a:xfrm>
            <a:off x="676275" y="647700"/>
            <a:ext cx="5829300" cy="582960"/>
          </a:xfrm>
          <a:prstGeom prst="rect">
            <a:avLst/>
          </a:prstGeom>
          <a:noFill/>
          <a:ln/>
        </p:spPr>
        <p:txBody>
          <a:bodyPr vert="horz" wrap="square" lIns="0" tIns="0" rIns="0" bIns="0" rtlCol="0" anchor="ctr"/>
          <a:lstStyle/>
          <a:p>
            <a:pPr marL="0" indent="0">
              <a:lnSpc>
                <a:spcPts val="4590"/>
              </a:lnSpc>
              <a:buNone/>
            </a:pPr>
            <a:r>
              <a:rPr lang="en-US" sz="3825" b="1" dirty="0">
                <a:solidFill>
                  <a:srgbClr val="FFFFFF"/>
                </a:solidFill>
                <a:latin typeface="Montserrat" pitchFamily="34" charset="0"/>
                <a:ea typeface="Montserrat" pitchFamily="34" charset="-122"/>
                <a:cs typeface="Montserrat" pitchFamily="34" charset="-120"/>
              </a:rPr>
              <a:t>Conclusion</a:t>
            </a:r>
            <a:endParaRPr lang="en-US" sz="3825" dirty="0"/>
          </a:p>
        </p:txBody>
      </p:sp>
      <p:sp>
        <p:nvSpPr>
          <p:cNvPr id="9" name="Text 1"/>
          <p:cNvSpPr/>
          <p:nvPr/>
        </p:nvSpPr>
        <p:spPr>
          <a:xfrm>
            <a:off x="8839200" y="3381375"/>
            <a:ext cx="4114800" cy="342900"/>
          </a:xfrm>
          <a:prstGeom prst="rect">
            <a:avLst/>
          </a:prstGeom>
          <a:noFill/>
          <a:ln/>
        </p:spPr>
        <p:txBody>
          <a:bodyPr vert="horz" wrap="square" lIns="0" tIns="0" rIns="0" bIns="0" rtlCol="0" anchor="ctr"/>
          <a:lstStyle/>
          <a:p>
            <a:pPr marL="0" indent="0">
              <a:lnSpc>
                <a:spcPts val="2700"/>
              </a:lnSpc>
              <a:buNone/>
            </a:pPr>
            <a:r>
              <a:rPr lang="en-US" sz="2250" b="1" dirty="0">
                <a:solidFill>
                  <a:srgbClr val="FFFFFF"/>
                </a:solidFill>
                <a:latin typeface="Montserrat" pitchFamily="34" charset="0"/>
                <a:ea typeface="Montserrat" pitchFamily="34" charset="-122"/>
                <a:cs typeface="Montserrat" pitchFamily="34" charset="-120"/>
              </a:rPr>
              <a:t>Burn the Map</a:t>
            </a:r>
            <a:endParaRPr lang="en-US" sz="2250" dirty="0"/>
          </a:p>
        </p:txBody>
      </p:sp>
      <p:sp>
        <p:nvSpPr>
          <p:cNvPr id="10" name="Text 2"/>
          <p:cNvSpPr/>
          <p:nvPr/>
        </p:nvSpPr>
        <p:spPr>
          <a:xfrm>
            <a:off x="1447800" y="1905000"/>
            <a:ext cx="10287000" cy="309563"/>
          </a:xfrm>
          <a:prstGeom prst="rect">
            <a:avLst/>
          </a:prstGeom>
          <a:noFill/>
          <a:ln/>
        </p:spPr>
        <p:txBody>
          <a:bodyPr vert="horz" wrap="square" lIns="0" tIns="0" rIns="0" bIns="0" rtlCol="0" anchor="ctr"/>
          <a:lstStyle/>
          <a:p>
            <a:pPr marL="0" indent="0">
              <a:lnSpc>
                <a:spcPts val="2438"/>
              </a:lnSpc>
              <a:buNone/>
            </a:pPr>
            <a:r>
              <a:rPr lang="en-US" sz="1875" b="1" dirty="0">
                <a:solidFill>
                  <a:srgbClr val="3A86FF"/>
                </a:solidFill>
                <a:latin typeface="Montserrat" pitchFamily="34" charset="0"/>
                <a:ea typeface="Montserrat" pitchFamily="34" charset="-122"/>
                <a:cs typeface="Montserrat" pitchFamily="34" charset="-120"/>
              </a:rPr>
              <a:t>Matérialisation de l'effort physique</a:t>
            </a:r>
            <a:endParaRPr lang="en-US" sz="1875" dirty="0"/>
          </a:p>
        </p:txBody>
      </p:sp>
      <p:sp>
        <p:nvSpPr>
          <p:cNvPr id="11" name="Text 3"/>
          <p:cNvSpPr/>
          <p:nvPr/>
        </p:nvSpPr>
        <p:spPr>
          <a:xfrm>
            <a:off x="1447800" y="3067050"/>
            <a:ext cx="9326880" cy="297210"/>
          </a:xfrm>
          <a:prstGeom prst="rect">
            <a:avLst/>
          </a:prstGeom>
          <a:noFill/>
          <a:ln/>
        </p:spPr>
        <p:txBody>
          <a:bodyPr vert="horz" wrap="square" lIns="0" tIns="0" rIns="0" bIns="0" rtlCol="0" anchor="ctr"/>
          <a:lstStyle/>
          <a:p>
            <a:pPr marL="0" indent="0">
              <a:lnSpc>
                <a:spcPts val="2340"/>
              </a:lnSpc>
              <a:buNone/>
            </a:pPr>
            <a:r>
              <a:rPr lang="en-US" sz="1800" b="1" dirty="0">
                <a:solidFill>
                  <a:srgbClr val="3A86FF"/>
                </a:solidFill>
                <a:latin typeface="Montserrat" pitchFamily="34" charset="0"/>
                <a:ea typeface="Montserrat" pitchFamily="34" charset="-122"/>
                <a:cs typeface="Montserrat" pitchFamily="34" charset="-120"/>
              </a:rPr>
              <a:t>Expérience immersive et engageante</a:t>
            </a:r>
            <a:endParaRPr lang="en-US" sz="1800" dirty="0"/>
          </a:p>
        </p:txBody>
      </p:sp>
      <p:sp>
        <p:nvSpPr>
          <p:cNvPr id="12" name="Text 4"/>
          <p:cNvSpPr/>
          <p:nvPr/>
        </p:nvSpPr>
        <p:spPr>
          <a:xfrm>
            <a:off x="1447800" y="4286250"/>
            <a:ext cx="8778240" cy="297210"/>
          </a:xfrm>
          <a:prstGeom prst="rect">
            <a:avLst/>
          </a:prstGeom>
          <a:noFill/>
          <a:ln/>
        </p:spPr>
        <p:txBody>
          <a:bodyPr vert="horz" wrap="square" lIns="0" tIns="0" rIns="0" bIns="0" rtlCol="0" anchor="ctr"/>
          <a:lstStyle/>
          <a:p>
            <a:pPr marL="0" indent="0">
              <a:lnSpc>
                <a:spcPts val="2340"/>
              </a:lnSpc>
              <a:buNone/>
            </a:pPr>
            <a:r>
              <a:rPr lang="en-US" sz="1800" b="1" dirty="0">
                <a:solidFill>
                  <a:srgbClr val="3A86FF"/>
                </a:solidFill>
                <a:latin typeface="Montserrat" pitchFamily="34" charset="0"/>
                <a:ea typeface="Montserrat" pitchFamily="34" charset="-122"/>
                <a:cs typeface="Montserrat" pitchFamily="34" charset="-120"/>
              </a:rPr>
              <a:t>Nouvelle dimension de motivation</a:t>
            </a:r>
            <a:endParaRPr lang="en-US" sz="1800" dirty="0"/>
          </a:p>
        </p:txBody>
      </p:sp>
      <p:sp>
        <p:nvSpPr>
          <p:cNvPr id="13" name="Text 5"/>
          <p:cNvSpPr/>
          <p:nvPr/>
        </p:nvSpPr>
        <p:spPr>
          <a:xfrm>
            <a:off x="1447800" y="5248275"/>
            <a:ext cx="9144000" cy="309563"/>
          </a:xfrm>
          <a:prstGeom prst="rect">
            <a:avLst/>
          </a:prstGeom>
          <a:noFill/>
          <a:ln/>
        </p:spPr>
        <p:txBody>
          <a:bodyPr vert="horz" wrap="square" lIns="0" tIns="0" rIns="0" bIns="0" rtlCol="0" anchor="ctr"/>
          <a:lstStyle/>
          <a:p>
            <a:pPr marL="0" indent="0">
              <a:lnSpc>
                <a:spcPts val="2438"/>
              </a:lnSpc>
              <a:buNone/>
            </a:pPr>
            <a:r>
              <a:rPr lang="en-US" sz="1875" b="1" dirty="0">
                <a:solidFill>
                  <a:srgbClr val="3A86FF"/>
                </a:solidFill>
                <a:latin typeface="Montserrat" pitchFamily="34" charset="0"/>
                <a:ea typeface="Montserrat" pitchFamily="34" charset="-122"/>
                <a:cs typeface="Montserrat" pitchFamily="34" charset="-120"/>
              </a:rPr>
              <a:t>Innovation dans le suivi sportif</a:t>
            </a:r>
            <a:endParaRPr lang="en-US" sz="1875" dirty="0"/>
          </a:p>
        </p:txBody>
      </p:sp>
      <p:sp>
        <p:nvSpPr>
          <p:cNvPr id="14" name="Text 6"/>
          <p:cNvSpPr/>
          <p:nvPr/>
        </p:nvSpPr>
        <p:spPr>
          <a:xfrm>
            <a:off x="8839200" y="3886200"/>
            <a:ext cx="2608808" cy="1040011"/>
          </a:xfrm>
          <a:prstGeom prst="rect">
            <a:avLst/>
          </a:prstGeom>
          <a:noFill/>
          <a:ln/>
        </p:spPr>
        <p:txBody>
          <a:bodyPr vert="horz" wrap="square" lIns="0" tIns="0" rIns="0" bIns="0" rtlCol="0" anchor="ctr"/>
          <a:lstStyle/>
          <a:p>
            <a:pPr marL="0" indent="0">
              <a:lnSpc>
                <a:spcPts val="2048"/>
              </a:lnSpc>
              <a:buNone/>
            </a:pPr>
            <a:r>
              <a:rPr lang="en-US" sz="1575" dirty="0">
                <a:solidFill>
                  <a:srgbClr val="FFFFFF"/>
                </a:solidFill>
                <a:latin typeface="Roboto-Regular" pitchFamily="34" charset="0"/>
                <a:ea typeface="Roboto-Regular" pitchFamily="34" charset="-122"/>
                <a:cs typeface="Roboto-Regular" pitchFamily="34" charset="-120"/>
              </a:rPr>
              <a:t>Notre slogan incarne la
fusion entre effort
physique et
conquête territoriale</a:t>
            </a:r>
            <a:endParaRPr lang="en-US" sz="1575" dirty="0"/>
          </a:p>
        </p:txBody>
      </p:sp>
      <p:sp>
        <p:nvSpPr>
          <p:cNvPr id="15" name="Text 7"/>
          <p:cNvSpPr/>
          <p:nvPr/>
        </p:nvSpPr>
        <p:spPr>
          <a:xfrm>
            <a:off x="1447800" y="2314575"/>
            <a:ext cx="6726436" cy="495300"/>
          </a:xfrm>
          <a:prstGeom prst="rect">
            <a:avLst/>
          </a:prstGeom>
          <a:noFill/>
          <a:ln/>
        </p:spPr>
        <p:txBody>
          <a:bodyPr vert="horz" wrap="square" lIns="0" tIns="0" rIns="0" bIns="0" rtlCol="0" anchor="ctr"/>
          <a:lstStyle/>
          <a:p>
            <a:pPr marL="0" indent="0">
              <a:lnSpc>
                <a:spcPts val="1950"/>
              </a:lnSpc>
              <a:buNone/>
            </a:pPr>
            <a:r>
              <a:rPr lang="en-US" sz="1500" dirty="0">
                <a:solidFill>
                  <a:srgbClr val="FFFFFF"/>
                </a:solidFill>
                <a:latin typeface="Roboto-Regular" pitchFamily="34" charset="0"/>
                <a:ea typeface="Roboto-Regular" pitchFamily="34" charset="-122"/>
                <a:cs typeface="Roboto-Regular" pitchFamily="34" charset="-120"/>
              </a:rPr>
              <a:t>Heatmap transforme l'activité sportive en conquête territoriale
visible</a:t>
            </a:r>
            <a:endParaRPr lang="en-US" sz="1500" dirty="0"/>
          </a:p>
        </p:txBody>
      </p:sp>
      <p:sp>
        <p:nvSpPr>
          <p:cNvPr id="16" name="Text 8"/>
          <p:cNvSpPr/>
          <p:nvPr/>
        </p:nvSpPr>
        <p:spPr>
          <a:xfrm>
            <a:off x="1447800" y="3514725"/>
            <a:ext cx="6454080" cy="520005"/>
          </a:xfrm>
          <a:prstGeom prst="rect">
            <a:avLst/>
          </a:prstGeom>
          <a:noFill/>
          <a:ln/>
        </p:spPr>
        <p:txBody>
          <a:bodyPr vert="horz" wrap="square" lIns="0" tIns="0" rIns="0" bIns="0" rtlCol="0" anchor="ctr"/>
          <a:lstStyle/>
          <a:p>
            <a:pPr marL="0" indent="0">
              <a:lnSpc>
                <a:spcPts val="2048"/>
              </a:lnSpc>
              <a:buNone/>
            </a:pPr>
            <a:r>
              <a:rPr lang="en-US" sz="1575" dirty="0">
                <a:solidFill>
                  <a:srgbClr val="FFFFFF"/>
                </a:solidFill>
                <a:latin typeface="Roboto-Regular" pitchFamily="34" charset="0"/>
                <a:ea typeface="Roboto-Regular" pitchFamily="34" charset="-122"/>
                <a:cs typeface="Roboto-Regular" pitchFamily="34" charset="-120"/>
              </a:rPr>
              <a:t>La visualisation cartographique crée un lien tangible avec
l'environnement</a:t>
            </a:r>
            <a:endParaRPr lang="en-US" sz="1575" dirty="0"/>
          </a:p>
        </p:txBody>
      </p:sp>
      <p:sp>
        <p:nvSpPr>
          <p:cNvPr id="17" name="Text 9"/>
          <p:cNvSpPr/>
          <p:nvPr/>
        </p:nvSpPr>
        <p:spPr>
          <a:xfrm>
            <a:off x="1447800" y="4686300"/>
            <a:ext cx="15544800" cy="262830"/>
          </a:xfrm>
          <a:prstGeom prst="rect">
            <a:avLst/>
          </a:prstGeom>
          <a:noFill/>
          <a:ln/>
        </p:spPr>
        <p:txBody>
          <a:bodyPr vert="horz" wrap="square" lIns="0" tIns="0" rIns="0" bIns="0" rtlCol="0" anchor="ctr"/>
          <a:lstStyle/>
          <a:p>
            <a:pPr marL="0" indent="0">
              <a:lnSpc>
                <a:spcPts val="2070"/>
              </a:lnSpc>
              <a:buNone/>
            </a:pPr>
            <a:r>
              <a:rPr lang="en-US" sz="1500" dirty="0">
                <a:solidFill>
                  <a:srgbClr val="FFFFFF"/>
                </a:solidFill>
                <a:latin typeface="Roboto-Regular" pitchFamily="34" charset="0"/>
                <a:ea typeface="Roboto-Regular" pitchFamily="34" charset="-122"/>
                <a:cs typeface="Roboto-Regular" pitchFamily="34" charset="-120"/>
              </a:rPr>
              <a:t>La conquête de territoire offre une gratification visuelle immédiate</a:t>
            </a:r>
            <a:endParaRPr lang="en-US" sz="1500" dirty="0"/>
          </a:p>
        </p:txBody>
      </p:sp>
      <p:sp>
        <p:nvSpPr>
          <p:cNvPr id="18" name="Text 10"/>
          <p:cNvSpPr/>
          <p:nvPr/>
        </p:nvSpPr>
        <p:spPr>
          <a:xfrm>
            <a:off x="1447800" y="5667375"/>
            <a:ext cx="15316200" cy="262830"/>
          </a:xfrm>
          <a:prstGeom prst="rect">
            <a:avLst/>
          </a:prstGeom>
          <a:noFill/>
          <a:ln/>
        </p:spPr>
        <p:txBody>
          <a:bodyPr vert="horz" wrap="square" lIns="0" tIns="0" rIns="0" bIns="0" rtlCol="0" anchor="ctr"/>
          <a:lstStyle/>
          <a:p>
            <a:pPr marL="0" indent="0">
              <a:lnSpc>
                <a:spcPts val="2070"/>
              </a:lnSpc>
              <a:buNone/>
            </a:pPr>
            <a:r>
              <a:rPr lang="en-US" sz="1500" dirty="0">
                <a:solidFill>
                  <a:srgbClr val="FFFFFF"/>
                </a:solidFill>
                <a:latin typeface="Roboto-Regular" pitchFamily="34" charset="0"/>
                <a:ea typeface="Roboto-Regular" pitchFamily="34" charset="-122"/>
                <a:cs typeface="Roboto-Regular" pitchFamily="34" charset="-120"/>
              </a:rPr>
              <a:t>Au-delà des métriques traditionnelles, une approche spatiale unique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2046</Words>
  <Application>Microsoft Office PowerPoint</Application>
  <PresentationFormat>Widescreen</PresentationFormat>
  <Paragraphs>251</Paragraphs>
  <Slides>16</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Arial</vt:lpstr>
      <vt:lpstr>Calibri</vt:lpstr>
      <vt:lpstr>Hubot Sans</vt:lpstr>
      <vt:lpstr>Inter</vt:lpstr>
      <vt:lpstr>Montserrat</vt:lpstr>
      <vt:lpstr>Montserrat Extra</vt:lpstr>
      <vt:lpstr>Noto Sans</vt:lpstr>
      <vt:lpstr>Plus Jakarta Sans</vt:lpstr>
      <vt:lpstr>Poppins</vt:lpstr>
      <vt:lpstr>Red Hat Display Variable</vt:lpstr>
      <vt:lpstr>Roboto-Regular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Moemen Super</cp:lastModifiedBy>
  <cp:revision>4</cp:revision>
  <dcterms:created xsi:type="dcterms:W3CDTF">2026-02-24T01:00:50Z</dcterms:created>
  <dcterms:modified xsi:type="dcterms:W3CDTF">2026-02-24T19:08:23Z</dcterms:modified>
</cp:coreProperties>
</file>